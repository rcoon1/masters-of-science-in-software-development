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Hello everyone, and welcome to my presentation on the Byte Bazaar project. In this presentation, I will walk through all major aspects of the project, including the economic analysis, team leadership considerations, planning and control phase of the SDLC, functional and technical specifications, and the analysis, design, and management of the system development process. I will also explain the SDLC methods, testing models, and development practices that are most appropriate for this 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Byte Bazaar is a computing-based e-commerce system designed to provide users with an efficient and secure online marketplace experience. The system supports essential online shopping features such as product browsing, account management, cart functionality, and secure checkout. The main project goal is to create a system that is user-friendly, scalable, reliable, and aligned with both customer expectations and business objectives.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primary goals of Byte Bazaar are to improve the online shopping experience, ensure secure transactions, and provide the business with effective tools for managing products and orders. The system must also be scalable so it can grow as demand increases. In addition, the development process must address realistic constraints such as budget, timeline, technical resources, and operational needs.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economic analysis examined whether Byte Bazaar would be financially worthwhile. Costs included development labor, software tools, infrastructure, hosting, and maintenance. Benefits included increased sales opportunities, reduced manual processing, better customer retention, and improved operational efficiency. From a business perspective, the project offers long-term value because the investment in a structured e-commerce platform can support both immediate functionality and future growth.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Leading the project team requires clear communication, organization, and accountability. Each team member should understand their responsibilities, project deadlines, and deliverables. Strong leadership helps ensure that development activities remain aligned with project goals. Collaboration and regular feedback are also essential, especially in an SDLC environment where planning, analysis, design, and implementation are interconnected.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planning phase is one of the most important stages in the SDLC because it establishes the project foundation. During this phase, the scope of Byte Bazaar was defined, stakeholders were identified, and key requirements were gathered. Feasibility was assessed in terms of cost, technical capability, and scheduling. Risks were also identified early so they could be managed before they became major issues during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control aspect of the SDLC ensures that the project stays on track. This includes monitoring progress, managing changes, tracking deadlines, and controlling costs. For Byte Bazaar, control activities help maintain alignment between the original project goals and the work completed at each milestone. Effective control reduces the chance of scope creep, missed deadlines, and quality problems.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functional specifications define what Byte Bazaar must accomplish from the user and business perspective. These specifications include customer account creation, secure login, product browsing, shopping cart functions, checkout, payment handling, and order tracking. Administrative functions such as managing product listings, updating inventory, and processing orders are also part of the functional requirements. These specifications serve as a guide for ensuring the system meets user needs.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Technical specifications explain how Byte Bazaar will be developed and implemented. These include the system architecture, database structure, backend processes, APIs, authentication controls, and hosting environment. Security is especially important in e-commerce, so encryption, secure login, and protected transactions are key elements. Technical specifications ensure the development team has a clear blueprint for building a system that is reliable, scalable, and secure.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System analysis focused on understanding the business problem and translating it into system requirements. For Byte Bazaar, this included reviewing how users interact with the system, what data needs to be processed, and what outputs are required. The analysis also identified constraints such as time, budget, and technology limitations. This stage ensured that the project requirements aligned with the desired outcomes of the business and users.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design phase translated requirements into a practical system plan. This included designing the user interface, organizing workflows, creating the database structure, and mapping how information moves through the system. For Byte Bazaar, design decisions focused on usability, efficient navigation, secure transactions, and scalable architecture. The design phase provides the framework developers will use during implementation.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Managing the development of Byte Bazaar involves coordinating activities across all phases of the SDLC. This includes tracking milestones, ensuring tasks are completed on schedule, and balancing project constraints such as cost, quality, and time. Communication with stakeholders remains essential throughout development to ensure the project continues to meet expectations and adapt to changes when necessary.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For Byte Bazaar, Agile is an appropriate SDLC approach because it supports incremental development, regular feedback, and continuous improvement. The project can be divided into smaller parts, allowing features such as login, product browsing, and checkout to be developed and reviewed in stages. This helps reduce risk, improve adaptability, and ensure that the final system stays aligned with project requirements.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Testing is critical to software quality and reliability. Unit testing ensures that individual functions work correctly. Integration testing confirms that system components interact properly. System testing evaluates the entire application, while user acceptance testing verifies that the system meets business and user requirements. Because Byte Bazaar is an e-commerce platform, security testing and performance testing are especially important to protect data and ensure smooth operation.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conclusion, Byte Bazaar is a project that benefits greatly from a structured SDLC approach. The planning and control phase establishes direction and accountability, while the functional and technical specifications provide a clear roadmap for development. System analysis and design ensure that the platform meets user and business needs within realistic constraints. Finally, Agile development practices and strong testing models help produce a secure, reliable, and effective e-commerce solution. Thank you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deck-title">
            <a:extLst>
              <a:ext uri="{FF2B5EF4-FFF2-40B4-BE49-F238E27FC236}">
                <a16:creationId xmlns:a16="http://schemas.microsoft.com/office/drawing/2014/main" id="{0C6AE4F9-31F2-43E8-BF23-B3768AFCC43C}"/>
              </a:ext>
            </a:extLst>
          </p:cNvPr>
          <p:cNvSpPr>
            <a:spLocks noGrp="1"/>
          </p:cNvSpPr>
          <p:nvPr/>
        </p:nvSpPr>
        <p:spPr>
          <a:xfrm>
            <a:off x="457200" y="2238375"/>
            <a:ext cx="8191500" cy="1619250"/>
          </a:xfrm>
          <a:prstGeom prst="rect">
            <a:avLst/>
          </a:prstGeom>
          <a:noFill/>
          <a:ln w="0">
            <a:noFill/>
            <a:prstDash val="solid"/>
          </a:ln>
        </p:spPr>
        <p:txBody>
          <a:bodyPr anchor="t"/>
          <a:lstStyle/>
          <a:p>
            <a:pPr algn="l">
              <a:defRPr sz="4650" b="1">
                <a:solidFill>
                  <a:srgbClr val="111318"/>
                </a:solidFill>
                <a:latin typeface="Arial"/>
                <a:ea typeface="Arial"/>
                <a:cs typeface="Arial"/>
              </a:defRPr>
            </a:pPr>
            <a:r>
              <a:rPr sz="4650" b="1">
                <a:solidFill>
                  <a:srgbClr val="111318"/>
                </a:solidFill>
                <a:latin typeface="Arial"/>
                <a:ea typeface="Arial"/>
                <a:cs typeface="Arial"/>
              </a:rPr>
              <a:t>Byte Bazaar Project</a:t>
            </a:r>
          </a:p>
          <a:p>
            <a:pPr algn="l">
              <a:defRPr sz="4650" b="1">
                <a:solidFill>
                  <a:srgbClr val="111318"/>
                </a:solidFill>
                <a:latin typeface="Arial"/>
                <a:ea typeface="Arial"/>
                <a:cs typeface="Arial"/>
              </a:defRPr>
            </a:pPr>
            <a:r>
              <a:rPr sz="4650" b="1">
                <a:solidFill>
                  <a:srgbClr val="111318"/>
                </a:solidFill>
                <a:latin typeface="Arial"/>
                <a:ea typeface="Arial"/>
                <a:cs typeface="Arial"/>
              </a:rPr>
              <a:t>Presentation</a:t>
            </a:r>
          </a:p>
        </p:txBody>
      </p:sp>
      <p:sp>
        <p:nvSpPr>
          <p:cNvPr id="4" name="text">
            <a:extLst>
              <a:ext uri="{FF2B5EF4-FFF2-40B4-BE49-F238E27FC236}">
                <a16:creationId xmlns:a16="http://schemas.microsoft.com/office/drawing/2014/main" id="{1C2985DA-0D68-4C07-9EA7-078AC587AF2E}"/>
              </a:ext>
            </a:extLst>
          </p:cNvPr>
          <p:cNvSpPr>
            <a:spLocks noGrp="1"/>
          </p:cNvSpPr>
          <p:nvPr/>
        </p:nvSpPr>
        <p:spPr>
          <a:xfrm>
            <a:off x="476250" y="4095750"/>
            <a:ext cx="7810500" cy="552450"/>
          </a:xfrm>
          <a:prstGeom prst="rect">
            <a:avLst/>
          </a:prstGeom>
          <a:noFill/>
          <a:ln w="0">
            <a:noFill/>
            <a:prstDash val="solid"/>
          </a:ln>
        </p:spPr>
        <p:txBody>
          <a:bodyPr anchor="t"/>
          <a:lstStyle/>
          <a:p>
            <a:pPr algn="l">
              <a:defRPr sz="1875" b="0">
                <a:solidFill>
                  <a:srgbClr val="626A75"/>
                </a:solidFill>
                <a:latin typeface="Arial"/>
                <a:ea typeface="Arial"/>
                <a:cs typeface="Arial"/>
              </a:defRPr>
            </a:pPr>
            <a:r>
              <a:rPr sz="1875" b="0">
                <a:solidFill>
                  <a:srgbClr val="626A75"/>
                </a:solidFill>
                <a:latin typeface="Arial"/>
                <a:ea typeface="Arial"/>
                <a:cs typeface="Arial"/>
              </a:rPr>
              <a:t>From Economic Analysis to Functional and Technical Specifications</a:t>
            </a:r>
          </a:p>
        </p:txBody>
      </p:sp>
      <p:sp>
        <p:nvSpPr>
          <p:cNvPr id="5" name="accent-bar">
            <a:extLst>
              <a:ext uri="{FF2B5EF4-FFF2-40B4-BE49-F238E27FC236}">
                <a16:creationId xmlns:a16="http://schemas.microsoft.com/office/drawing/2014/main" id="{DE8BC6F9-323E-4653-8853-1E9CEBC6660C}"/>
              </a:ext>
            </a:extLst>
          </p:cNvPr>
          <p:cNvSpPr>
            <a:spLocks noGrp="1"/>
          </p:cNvSpPr>
          <p:nvPr/>
        </p:nvSpPr>
        <p:spPr>
          <a:xfrm>
            <a:off x="9144000" y="2171700"/>
            <a:ext cx="133350" cy="2762250"/>
          </a:xfrm>
          <a:prstGeom prst="rect">
            <a:avLst/>
          </a:prstGeom>
          <a:solidFill>
            <a:srgbClr val="2583FF"/>
          </a:solidFill>
          <a:ln w="0">
            <a:noFill/>
            <a:prstDash val="solid"/>
          </a:ln>
        </p:spPr>
        <p:txBody>
          <a:bodyPr/>
          <a:lstStyle/>
          <a:p>
            <a:endParaRPr lang="en-US"/>
          </a:p>
        </p:txBody>
      </p:sp>
      <p:sp>
        <p:nvSpPr>
          <p:cNvPr id="6" name="author-course">
            <a:extLst>
              <a:ext uri="{FF2B5EF4-FFF2-40B4-BE49-F238E27FC236}">
                <a16:creationId xmlns:a16="http://schemas.microsoft.com/office/drawing/2014/main" id="{119C55EE-48C4-4225-8DB3-0EDED7A9AAFC}"/>
              </a:ext>
            </a:extLst>
          </p:cNvPr>
          <p:cNvSpPr>
            <a:spLocks noGrp="1"/>
          </p:cNvSpPr>
          <p:nvPr/>
        </p:nvSpPr>
        <p:spPr>
          <a:xfrm>
            <a:off x="9601200" y="4000500"/>
            <a:ext cx="2133600" cy="952500"/>
          </a:xfrm>
          <a:prstGeom prst="rect">
            <a:avLst/>
          </a:prstGeom>
          <a:noFill/>
          <a:ln w="0">
            <a:noFill/>
            <a:prstDash val="solid"/>
          </a:ln>
        </p:spPr>
        <p:txBody>
          <a:bodyPr anchor="t"/>
          <a:lstStyle/>
          <a:p>
            <a:pPr algn="l">
              <a:defRPr sz="1650" b="0">
                <a:solidFill>
                  <a:srgbClr val="111318"/>
                </a:solidFill>
                <a:latin typeface="Arial"/>
                <a:ea typeface="Arial"/>
                <a:cs typeface="Arial"/>
              </a:defRPr>
            </a:pPr>
            <a:r>
              <a:rPr lang="en-US" sz="1650" b="0" dirty="0">
                <a:solidFill>
                  <a:srgbClr val="111318"/>
                </a:solidFill>
                <a:latin typeface="Arial"/>
                <a:ea typeface="Arial"/>
                <a:cs typeface="Arial"/>
              </a:rPr>
              <a:t>Ryan Coon</a:t>
            </a:r>
            <a:endParaRPr sz="1650" b="0" dirty="0">
              <a:solidFill>
                <a:srgbClr val="111318"/>
              </a:solidFill>
              <a:latin typeface="Arial"/>
              <a:ea typeface="Arial"/>
              <a:cs typeface="Arial"/>
            </a:endParaRPr>
          </a:p>
          <a:p>
            <a:pPr algn="l">
              <a:defRPr sz="1650" b="0">
                <a:solidFill>
                  <a:srgbClr val="111318"/>
                </a:solidFill>
                <a:latin typeface="Arial"/>
                <a:ea typeface="Arial"/>
                <a:cs typeface="Arial"/>
              </a:defRPr>
            </a:pPr>
            <a:r>
              <a:rPr lang="en-US" sz="1650" dirty="0">
                <a:solidFill>
                  <a:srgbClr val="111318"/>
                </a:solidFill>
                <a:latin typeface="Arial"/>
                <a:ea typeface="Arial"/>
                <a:cs typeface="Arial"/>
              </a:rPr>
              <a:t>SWE-540</a:t>
            </a:r>
          </a:p>
          <a:p>
            <a:pPr algn="l">
              <a:defRPr sz="1650" b="0">
                <a:solidFill>
                  <a:srgbClr val="111318"/>
                </a:solidFill>
                <a:latin typeface="Arial"/>
                <a:ea typeface="Arial"/>
                <a:cs typeface="Arial"/>
              </a:defRPr>
            </a:pPr>
            <a:r>
              <a:rPr lang="en-US" sz="1650" b="0" dirty="0">
                <a:solidFill>
                  <a:srgbClr val="111318"/>
                </a:solidFill>
                <a:latin typeface="Arial"/>
                <a:ea typeface="Arial"/>
                <a:cs typeface="Arial"/>
              </a:rPr>
              <a:t>Professor Ali Wahid</a:t>
            </a:r>
          </a:p>
          <a:p>
            <a:pPr>
              <a:defRPr sz="1650" b="0">
                <a:solidFill>
                  <a:srgbClr val="111318"/>
                </a:solidFill>
                <a:latin typeface="Arial"/>
                <a:ea typeface="Arial"/>
                <a:cs typeface="Arial"/>
              </a:defRPr>
            </a:pPr>
            <a:r>
              <a:rPr lang="en-US" dirty="0">
                <a:latin typeface="Arial"/>
                <a:ea typeface="Arial"/>
                <a:cs typeface="Arial"/>
              </a:rPr>
              <a:t>August 5, 2026</a:t>
            </a:r>
          </a:p>
          <a:p>
            <a:pPr algn="l">
              <a:defRPr sz="1650" b="0">
                <a:solidFill>
                  <a:srgbClr val="111318"/>
                </a:solidFill>
                <a:latin typeface="Arial"/>
                <a:ea typeface="Arial"/>
                <a:cs typeface="Arial"/>
              </a:defRPr>
            </a:pPr>
            <a:endParaRPr sz="1650" b="0" dirty="0">
              <a:solidFill>
                <a:srgbClr val="111318"/>
              </a:solidFill>
              <a:latin typeface="Arial"/>
              <a:ea typeface="Arial"/>
              <a:cs typeface="Arial"/>
            </a:endParaRPr>
          </a:p>
        </p:txBody>
      </p:sp>
      <p:pic>
        <p:nvPicPr>
          <p:cNvPr id="11" name="Picture 10">
            <a:extLst>
              <a:ext uri="{FF2B5EF4-FFF2-40B4-BE49-F238E27FC236}">
                <a16:creationId xmlns:a16="http://schemas.microsoft.com/office/drawing/2014/main" id="{2365892D-ED21-7D34-92D6-F24C10147A5E}"/>
              </a:ext>
            </a:extLst>
          </p:cNvPr>
          <p:cNvPicPr>
            <a:picLocks noChangeAspect="1"/>
          </p:cNvPicPr>
          <p:nvPr/>
        </p:nvPicPr>
        <p:blipFill>
          <a:blip r:embed="rId3"/>
          <a:stretch>
            <a:fillRect/>
          </a:stretch>
        </p:blipFill>
        <p:spPr>
          <a:xfrm>
            <a:off x="266701" y="273050"/>
            <a:ext cx="3067050" cy="2044700"/>
          </a:xfrm>
          <a:prstGeom prst="rect">
            <a:avLst/>
          </a:prstGeom>
        </p:spPr>
      </p:pic>
    </p:spTree>
    <p:extLst>
      <p:ext uri="{BB962C8B-B14F-4D97-AF65-F5344CB8AC3E}">
        <p14:creationId xmlns:p14="http://schemas.microsoft.com/office/powerpoint/2010/main" val="1937095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3C3A783-93D9-438E-81DB-1D846C9D912F}"/>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What is Byte Bazaar?</a:t>
            </a:r>
          </a:p>
        </p:txBody>
      </p:sp>
      <p:sp>
        <p:nvSpPr>
          <p:cNvPr id="3" name="title-rule">
            <a:extLst>
              <a:ext uri="{FF2B5EF4-FFF2-40B4-BE49-F238E27FC236}">
                <a16:creationId xmlns:a16="http://schemas.microsoft.com/office/drawing/2014/main" id="{5917B13D-C399-44F0-93A5-1705B5B26838}"/>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FCC9F69C-F5FF-4E8F-8A0E-8E329C1E263E}"/>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02</a:t>
            </a:r>
          </a:p>
        </p:txBody>
      </p:sp>
      <p:sp>
        <p:nvSpPr>
          <p:cNvPr id="5" name="text">
            <a:extLst>
              <a:ext uri="{FF2B5EF4-FFF2-40B4-BE49-F238E27FC236}">
                <a16:creationId xmlns:a16="http://schemas.microsoft.com/office/drawing/2014/main" id="{917BF01A-D893-4DA8-BE05-36DEF2573E3D}"/>
              </a:ext>
            </a:extLst>
          </p:cNvPr>
          <p:cNvSpPr>
            <a:spLocks noGrp="1"/>
          </p:cNvSpPr>
          <p:nvPr/>
        </p:nvSpPr>
        <p:spPr>
          <a:xfrm>
            <a:off x="457200" y="1562100"/>
            <a:ext cx="8382000" cy="400050"/>
          </a:xfrm>
          <a:prstGeom prst="rect">
            <a:avLst/>
          </a:prstGeom>
          <a:noFill/>
          <a:ln w="0">
            <a:noFill/>
            <a:prstDash val="solid"/>
          </a:ln>
        </p:spPr>
        <p:txBody>
          <a:bodyPr anchor="t"/>
          <a:lstStyle/>
          <a:p>
            <a:pPr algn="l">
              <a:defRPr sz="1875" b="0">
                <a:solidFill>
                  <a:srgbClr val="626A75"/>
                </a:solidFill>
                <a:latin typeface="Arial"/>
                <a:ea typeface="Arial"/>
                <a:cs typeface="Arial"/>
              </a:defRPr>
            </a:pPr>
            <a:r>
              <a:rPr sz="1875" b="0" dirty="0">
                <a:solidFill>
                  <a:srgbClr val="626A75"/>
                </a:solidFill>
                <a:latin typeface="Arial"/>
                <a:ea typeface="Arial"/>
                <a:cs typeface="Arial"/>
              </a:rPr>
              <a:t>A computing-based e-commerce system built around four priorities.</a:t>
            </a:r>
          </a:p>
        </p:txBody>
      </p:sp>
      <p:sp>
        <p:nvSpPr>
          <p:cNvPr id="6" name="metric-1">
            <a:extLst>
              <a:ext uri="{FF2B5EF4-FFF2-40B4-BE49-F238E27FC236}">
                <a16:creationId xmlns:a16="http://schemas.microsoft.com/office/drawing/2014/main" id="{EA4A7E33-5467-47AE-97BD-EAEE29573472}"/>
              </a:ext>
            </a:extLst>
          </p:cNvPr>
          <p:cNvSpPr>
            <a:spLocks noGrp="1"/>
          </p:cNvSpPr>
          <p:nvPr/>
        </p:nvSpPr>
        <p:spPr>
          <a:xfrm>
            <a:off x="609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01</a:t>
            </a:r>
          </a:p>
        </p:txBody>
      </p:sp>
      <p:sp>
        <p:nvSpPr>
          <p:cNvPr id="7" name="metric-label-1">
            <a:extLst>
              <a:ext uri="{FF2B5EF4-FFF2-40B4-BE49-F238E27FC236}">
                <a16:creationId xmlns:a16="http://schemas.microsoft.com/office/drawing/2014/main" id="{1FE02374-0EA6-4741-9191-C1D702171C81}"/>
              </a:ext>
            </a:extLst>
          </p:cNvPr>
          <p:cNvSpPr>
            <a:spLocks noGrp="1"/>
          </p:cNvSpPr>
          <p:nvPr/>
        </p:nvSpPr>
        <p:spPr>
          <a:xfrm>
            <a:off x="609600" y="2590800"/>
            <a:ext cx="24193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Online buying &amp; selling</a:t>
            </a:r>
          </a:p>
        </p:txBody>
      </p:sp>
      <p:sp>
        <p:nvSpPr>
          <p:cNvPr id="8" name="metric-2">
            <a:extLst>
              <a:ext uri="{FF2B5EF4-FFF2-40B4-BE49-F238E27FC236}">
                <a16:creationId xmlns:a16="http://schemas.microsoft.com/office/drawing/2014/main" id="{61952408-AEB9-4157-9E04-2AB3B370F417}"/>
              </a:ext>
            </a:extLst>
          </p:cNvPr>
          <p:cNvSpPr>
            <a:spLocks noGrp="1"/>
          </p:cNvSpPr>
          <p:nvPr/>
        </p:nvSpPr>
        <p:spPr>
          <a:xfrm>
            <a:off x="3276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02</a:t>
            </a:r>
          </a:p>
        </p:txBody>
      </p:sp>
      <p:sp>
        <p:nvSpPr>
          <p:cNvPr id="9" name="metric-label-2">
            <a:extLst>
              <a:ext uri="{FF2B5EF4-FFF2-40B4-BE49-F238E27FC236}">
                <a16:creationId xmlns:a16="http://schemas.microsoft.com/office/drawing/2014/main" id="{28187ECE-D7A4-4717-81E9-A32C4D5BAEB7}"/>
              </a:ext>
            </a:extLst>
          </p:cNvPr>
          <p:cNvSpPr>
            <a:spLocks noGrp="1"/>
          </p:cNvSpPr>
          <p:nvPr/>
        </p:nvSpPr>
        <p:spPr>
          <a:xfrm>
            <a:off x="3276600" y="2590800"/>
            <a:ext cx="24193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Usability</a:t>
            </a:r>
          </a:p>
        </p:txBody>
      </p:sp>
      <p:sp>
        <p:nvSpPr>
          <p:cNvPr id="10" name="metric-3">
            <a:extLst>
              <a:ext uri="{FF2B5EF4-FFF2-40B4-BE49-F238E27FC236}">
                <a16:creationId xmlns:a16="http://schemas.microsoft.com/office/drawing/2014/main" id="{B5F9D8E5-2877-4B4D-8C43-68B569F2614F}"/>
              </a:ext>
            </a:extLst>
          </p:cNvPr>
          <p:cNvSpPr>
            <a:spLocks noGrp="1"/>
          </p:cNvSpPr>
          <p:nvPr/>
        </p:nvSpPr>
        <p:spPr>
          <a:xfrm>
            <a:off x="5943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03</a:t>
            </a:r>
          </a:p>
        </p:txBody>
      </p:sp>
      <p:sp>
        <p:nvSpPr>
          <p:cNvPr id="11" name="metric-label-3">
            <a:extLst>
              <a:ext uri="{FF2B5EF4-FFF2-40B4-BE49-F238E27FC236}">
                <a16:creationId xmlns:a16="http://schemas.microsoft.com/office/drawing/2014/main" id="{A174A3DE-3255-48BE-A0D7-DFABB4809B65}"/>
              </a:ext>
            </a:extLst>
          </p:cNvPr>
          <p:cNvSpPr>
            <a:spLocks noGrp="1"/>
          </p:cNvSpPr>
          <p:nvPr/>
        </p:nvSpPr>
        <p:spPr>
          <a:xfrm>
            <a:off x="5943600" y="2590800"/>
            <a:ext cx="24193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Security</a:t>
            </a:r>
          </a:p>
        </p:txBody>
      </p:sp>
      <p:sp>
        <p:nvSpPr>
          <p:cNvPr id="12" name="metric-4">
            <a:extLst>
              <a:ext uri="{FF2B5EF4-FFF2-40B4-BE49-F238E27FC236}">
                <a16:creationId xmlns:a16="http://schemas.microsoft.com/office/drawing/2014/main" id="{AEB80B45-7314-4758-8FC5-471892382C84}"/>
              </a:ext>
            </a:extLst>
          </p:cNvPr>
          <p:cNvSpPr>
            <a:spLocks noGrp="1"/>
          </p:cNvSpPr>
          <p:nvPr/>
        </p:nvSpPr>
        <p:spPr>
          <a:xfrm>
            <a:off x="8610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04</a:t>
            </a:r>
          </a:p>
        </p:txBody>
      </p:sp>
      <p:sp>
        <p:nvSpPr>
          <p:cNvPr id="13" name="metric-label-4">
            <a:extLst>
              <a:ext uri="{FF2B5EF4-FFF2-40B4-BE49-F238E27FC236}">
                <a16:creationId xmlns:a16="http://schemas.microsoft.com/office/drawing/2014/main" id="{15CF0E6A-8CE6-4177-9A36-38E43342D211}"/>
              </a:ext>
            </a:extLst>
          </p:cNvPr>
          <p:cNvSpPr>
            <a:spLocks noGrp="1"/>
          </p:cNvSpPr>
          <p:nvPr/>
        </p:nvSpPr>
        <p:spPr>
          <a:xfrm>
            <a:off x="8610600" y="2590800"/>
            <a:ext cx="24193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Scalability</a:t>
            </a:r>
          </a:p>
        </p:txBody>
      </p:sp>
      <p:sp>
        <p:nvSpPr>
          <p:cNvPr id="14" name="summary-band">
            <a:extLst>
              <a:ext uri="{FF2B5EF4-FFF2-40B4-BE49-F238E27FC236}">
                <a16:creationId xmlns:a16="http://schemas.microsoft.com/office/drawing/2014/main" id="{29B953DA-2CEF-4C72-89FB-3E683AB05495}"/>
              </a:ext>
            </a:extLst>
          </p:cNvPr>
          <p:cNvSpPr>
            <a:spLocks noGrp="1"/>
          </p:cNvSpPr>
          <p:nvPr/>
        </p:nvSpPr>
        <p:spPr>
          <a:xfrm>
            <a:off x="609600" y="4038600"/>
            <a:ext cx="10668000" cy="1123950"/>
          </a:xfrm>
          <a:prstGeom prst="rect">
            <a:avLst/>
          </a:prstGeom>
          <a:solidFill>
            <a:srgbClr val="EDF5FF"/>
          </a:solidFill>
          <a:ln w="0">
            <a:noFill/>
            <a:prstDash val="solid"/>
          </a:ln>
        </p:spPr>
        <p:txBody>
          <a:bodyPr/>
          <a:lstStyle/>
          <a:p>
            <a:endParaRPr lang="en-US"/>
          </a:p>
        </p:txBody>
      </p:sp>
      <p:sp>
        <p:nvSpPr>
          <p:cNvPr id="15" name="text">
            <a:extLst>
              <a:ext uri="{FF2B5EF4-FFF2-40B4-BE49-F238E27FC236}">
                <a16:creationId xmlns:a16="http://schemas.microsoft.com/office/drawing/2014/main" id="{CFBB4451-99B0-40CC-BE50-B233BF16AABB}"/>
              </a:ext>
            </a:extLst>
          </p:cNvPr>
          <p:cNvSpPr>
            <a:spLocks noGrp="1"/>
          </p:cNvSpPr>
          <p:nvPr/>
        </p:nvSpPr>
        <p:spPr>
          <a:xfrm>
            <a:off x="838200" y="4114800"/>
            <a:ext cx="1333500" cy="32385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Purpose</a:t>
            </a:r>
          </a:p>
        </p:txBody>
      </p:sp>
      <p:sp>
        <p:nvSpPr>
          <p:cNvPr id="16" name="text">
            <a:extLst>
              <a:ext uri="{FF2B5EF4-FFF2-40B4-BE49-F238E27FC236}">
                <a16:creationId xmlns:a16="http://schemas.microsoft.com/office/drawing/2014/main" id="{F04A99FD-3C2B-47F1-82AC-3A557254FFED}"/>
              </a:ext>
            </a:extLst>
          </p:cNvPr>
          <p:cNvSpPr>
            <a:spLocks noGrp="1"/>
          </p:cNvSpPr>
          <p:nvPr/>
        </p:nvSpPr>
        <p:spPr>
          <a:xfrm>
            <a:off x="838200" y="4467225"/>
            <a:ext cx="9620250" cy="40005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Meet customer and business needs efficiently through a reliable online marketplace.</a:t>
            </a:r>
          </a:p>
        </p:txBody>
      </p:sp>
    </p:spTree>
    <p:extLst>
      <p:ext uri="{BB962C8B-B14F-4D97-AF65-F5344CB8AC3E}">
        <p14:creationId xmlns:p14="http://schemas.microsoft.com/office/powerpoint/2010/main" val="194365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9B98F689-1417-4980-B580-E153B58D353C}"/>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Project Goals and Business Needs</a:t>
            </a:r>
          </a:p>
        </p:txBody>
      </p:sp>
      <p:sp>
        <p:nvSpPr>
          <p:cNvPr id="3" name="title-rule">
            <a:extLst>
              <a:ext uri="{FF2B5EF4-FFF2-40B4-BE49-F238E27FC236}">
                <a16:creationId xmlns:a16="http://schemas.microsoft.com/office/drawing/2014/main" id="{9095DB73-9A11-4BB2-89B9-752F7B8D9045}"/>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50AA17A2-C729-46A7-900B-ED4F7FC3BADE}"/>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03</a:t>
            </a:r>
          </a:p>
        </p:txBody>
      </p:sp>
      <p:sp>
        <p:nvSpPr>
          <p:cNvPr id="5" name="bullet-1">
            <a:extLst>
              <a:ext uri="{FF2B5EF4-FFF2-40B4-BE49-F238E27FC236}">
                <a16:creationId xmlns:a16="http://schemas.microsoft.com/office/drawing/2014/main" id="{66931230-DE54-4BF9-B672-49A4A9DE25F9}"/>
              </a:ext>
            </a:extLst>
          </p:cNvPr>
          <p:cNvSpPr>
            <a:spLocks noGrp="1"/>
          </p:cNvSpPr>
          <p:nvPr/>
        </p:nvSpPr>
        <p:spPr>
          <a:xfrm>
            <a:off x="666750" y="2076450"/>
            <a:ext cx="95250" cy="95250"/>
          </a:xfrm>
          <a:prstGeom prst="rect">
            <a:avLst/>
          </a:prstGeom>
          <a:solidFill>
            <a:srgbClr val="2583FF"/>
          </a:solidFill>
          <a:ln w="0">
            <a:noFill/>
            <a:prstDash val="solid"/>
          </a:ln>
        </p:spPr>
        <p:txBody>
          <a:bodyPr/>
          <a:lstStyle/>
          <a:p>
            <a:endParaRPr lang="en-US"/>
          </a:p>
        </p:txBody>
      </p:sp>
      <p:sp>
        <p:nvSpPr>
          <p:cNvPr id="6" name="bullet-text-1">
            <a:extLst>
              <a:ext uri="{FF2B5EF4-FFF2-40B4-BE49-F238E27FC236}">
                <a16:creationId xmlns:a16="http://schemas.microsoft.com/office/drawing/2014/main" id="{C854C1AC-D344-47E3-B90B-02F61CA1A832}"/>
              </a:ext>
            </a:extLst>
          </p:cNvPr>
          <p:cNvSpPr>
            <a:spLocks noGrp="1"/>
          </p:cNvSpPr>
          <p:nvPr/>
        </p:nvSpPr>
        <p:spPr>
          <a:xfrm>
            <a:off x="933450" y="19812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Improve customer shopping experience</a:t>
            </a:r>
          </a:p>
        </p:txBody>
      </p:sp>
      <p:sp>
        <p:nvSpPr>
          <p:cNvPr id="7" name="bullet-2">
            <a:extLst>
              <a:ext uri="{FF2B5EF4-FFF2-40B4-BE49-F238E27FC236}">
                <a16:creationId xmlns:a16="http://schemas.microsoft.com/office/drawing/2014/main" id="{1CBD907C-182D-44C9-83E3-5080FA04B698}"/>
              </a:ext>
            </a:extLst>
          </p:cNvPr>
          <p:cNvSpPr>
            <a:spLocks noGrp="1"/>
          </p:cNvSpPr>
          <p:nvPr/>
        </p:nvSpPr>
        <p:spPr>
          <a:xfrm>
            <a:off x="666750" y="2819400"/>
            <a:ext cx="95250" cy="95250"/>
          </a:xfrm>
          <a:prstGeom prst="rect">
            <a:avLst/>
          </a:prstGeom>
          <a:solidFill>
            <a:srgbClr val="2583FF"/>
          </a:solidFill>
          <a:ln w="0">
            <a:noFill/>
            <a:prstDash val="solid"/>
          </a:ln>
        </p:spPr>
        <p:txBody>
          <a:bodyPr/>
          <a:lstStyle/>
          <a:p>
            <a:endParaRPr lang="en-US"/>
          </a:p>
        </p:txBody>
      </p:sp>
      <p:sp>
        <p:nvSpPr>
          <p:cNvPr id="8" name="bullet-text-2">
            <a:extLst>
              <a:ext uri="{FF2B5EF4-FFF2-40B4-BE49-F238E27FC236}">
                <a16:creationId xmlns:a16="http://schemas.microsoft.com/office/drawing/2014/main" id="{77CB0F51-8867-4095-B8DB-9E7607AB594A}"/>
              </a:ext>
            </a:extLst>
          </p:cNvPr>
          <p:cNvSpPr>
            <a:spLocks noGrp="1"/>
          </p:cNvSpPr>
          <p:nvPr/>
        </p:nvSpPr>
        <p:spPr>
          <a:xfrm>
            <a:off x="933450" y="272415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Provide secure transactions</a:t>
            </a:r>
          </a:p>
        </p:txBody>
      </p:sp>
      <p:sp>
        <p:nvSpPr>
          <p:cNvPr id="9" name="bullet-3">
            <a:extLst>
              <a:ext uri="{FF2B5EF4-FFF2-40B4-BE49-F238E27FC236}">
                <a16:creationId xmlns:a16="http://schemas.microsoft.com/office/drawing/2014/main" id="{D333AB30-D19A-414C-86F9-CE6390892866}"/>
              </a:ext>
            </a:extLst>
          </p:cNvPr>
          <p:cNvSpPr>
            <a:spLocks noGrp="1"/>
          </p:cNvSpPr>
          <p:nvPr/>
        </p:nvSpPr>
        <p:spPr>
          <a:xfrm>
            <a:off x="666750" y="3562350"/>
            <a:ext cx="95250" cy="95250"/>
          </a:xfrm>
          <a:prstGeom prst="rect">
            <a:avLst/>
          </a:prstGeom>
          <a:solidFill>
            <a:srgbClr val="2583FF"/>
          </a:solidFill>
          <a:ln w="0">
            <a:noFill/>
            <a:prstDash val="solid"/>
          </a:ln>
        </p:spPr>
        <p:txBody>
          <a:bodyPr/>
          <a:lstStyle/>
          <a:p>
            <a:endParaRPr lang="en-US"/>
          </a:p>
        </p:txBody>
      </p:sp>
      <p:sp>
        <p:nvSpPr>
          <p:cNvPr id="10" name="bullet-text-3">
            <a:extLst>
              <a:ext uri="{FF2B5EF4-FFF2-40B4-BE49-F238E27FC236}">
                <a16:creationId xmlns:a16="http://schemas.microsoft.com/office/drawing/2014/main" id="{8C525594-085C-450B-A1D6-34A3A498D295}"/>
              </a:ext>
            </a:extLst>
          </p:cNvPr>
          <p:cNvSpPr>
            <a:spLocks noGrp="1"/>
          </p:cNvSpPr>
          <p:nvPr/>
        </p:nvSpPr>
        <p:spPr>
          <a:xfrm>
            <a:off x="933450" y="34671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Support efficient product and order management</a:t>
            </a:r>
          </a:p>
        </p:txBody>
      </p:sp>
      <p:sp>
        <p:nvSpPr>
          <p:cNvPr id="11" name="column-rule">
            <a:extLst>
              <a:ext uri="{FF2B5EF4-FFF2-40B4-BE49-F238E27FC236}">
                <a16:creationId xmlns:a16="http://schemas.microsoft.com/office/drawing/2014/main" id="{5E93FEDC-B804-414C-96A9-F66768A9B485}"/>
              </a:ext>
            </a:extLst>
          </p:cNvPr>
          <p:cNvSpPr>
            <a:spLocks noGrp="1"/>
          </p:cNvSpPr>
          <p:nvPr/>
        </p:nvSpPr>
        <p:spPr>
          <a:xfrm>
            <a:off x="6076950" y="1866900"/>
            <a:ext cx="19050" cy="3429000"/>
          </a:xfrm>
          <a:prstGeom prst="rect">
            <a:avLst/>
          </a:prstGeom>
          <a:solidFill>
            <a:srgbClr val="C9CED6"/>
          </a:solidFill>
          <a:ln w="0">
            <a:noFill/>
            <a:prstDash val="solid"/>
          </a:ln>
        </p:spPr>
        <p:txBody>
          <a:bodyPr/>
          <a:lstStyle/>
          <a:p>
            <a:endParaRPr lang="en-US"/>
          </a:p>
        </p:txBody>
      </p:sp>
      <p:sp>
        <p:nvSpPr>
          <p:cNvPr id="12" name="bullet-1">
            <a:extLst>
              <a:ext uri="{FF2B5EF4-FFF2-40B4-BE49-F238E27FC236}">
                <a16:creationId xmlns:a16="http://schemas.microsoft.com/office/drawing/2014/main" id="{ED2C6E65-F8A9-4519-A597-D2495FE94499}"/>
              </a:ext>
            </a:extLst>
          </p:cNvPr>
          <p:cNvSpPr>
            <a:spLocks noGrp="1"/>
          </p:cNvSpPr>
          <p:nvPr/>
        </p:nvSpPr>
        <p:spPr>
          <a:xfrm>
            <a:off x="6591300" y="2076450"/>
            <a:ext cx="95250" cy="95250"/>
          </a:xfrm>
          <a:prstGeom prst="rect">
            <a:avLst/>
          </a:prstGeom>
          <a:solidFill>
            <a:srgbClr val="2583FF"/>
          </a:solidFill>
          <a:ln w="0">
            <a:noFill/>
            <a:prstDash val="solid"/>
          </a:ln>
        </p:spPr>
        <p:txBody>
          <a:bodyPr/>
          <a:lstStyle/>
          <a:p>
            <a:endParaRPr lang="en-US"/>
          </a:p>
        </p:txBody>
      </p:sp>
      <p:sp>
        <p:nvSpPr>
          <p:cNvPr id="13" name="bullet-text-1">
            <a:extLst>
              <a:ext uri="{FF2B5EF4-FFF2-40B4-BE49-F238E27FC236}">
                <a16:creationId xmlns:a16="http://schemas.microsoft.com/office/drawing/2014/main" id="{3CC61360-3A47-4B6F-906C-E4C7836BE24D}"/>
              </a:ext>
            </a:extLst>
          </p:cNvPr>
          <p:cNvSpPr>
            <a:spLocks noGrp="1"/>
          </p:cNvSpPr>
          <p:nvPr/>
        </p:nvSpPr>
        <p:spPr>
          <a:xfrm>
            <a:off x="6858000" y="198120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Create a scalable system for future growth</a:t>
            </a:r>
          </a:p>
        </p:txBody>
      </p:sp>
      <p:sp>
        <p:nvSpPr>
          <p:cNvPr id="14" name="bullet-2">
            <a:extLst>
              <a:ext uri="{FF2B5EF4-FFF2-40B4-BE49-F238E27FC236}">
                <a16:creationId xmlns:a16="http://schemas.microsoft.com/office/drawing/2014/main" id="{A292D892-DF67-4663-9171-428BE57502DB}"/>
              </a:ext>
            </a:extLst>
          </p:cNvPr>
          <p:cNvSpPr>
            <a:spLocks noGrp="1"/>
          </p:cNvSpPr>
          <p:nvPr/>
        </p:nvSpPr>
        <p:spPr>
          <a:xfrm>
            <a:off x="6591300" y="2819400"/>
            <a:ext cx="95250" cy="95250"/>
          </a:xfrm>
          <a:prstGeom prst="rect">
            <a:avLst/>
          </a:prstGeom>
          <a:solidFill>
            <a:srgbClr val="2583FF"/>
          </a:solidFill>
          <a:ln w="0">
            <a:noFill/>
            <a:prstDash val="solid"/>
          </a:ln>
        </p:spPr>
        <p:txBody>
          <a:bodyPr/>
          <a:lstStyle/>
          <a:p>
            <a:endParaRPr lang="en-US"/>
          </a:p>
        </p:txBody>
      </p:sp>
      <p:sp>
        <p:nvSpPr>
          <p:cNvPr id="15" name="bullet-text-2">
            <a:extLst>
              <a:ext uri="{FF2B5EF4-FFF2-40B4-BE49-F238E27FC236}">
                <a16:creationId xmlns:a16="http://schemas.microsoft.com/office/drawing/2014/main" id="{3390383B-B30F-4564-8ECC-1F01F774E187}"/>
              </a:ext>
            </a:extLst>
          </p:cNvPr>
          <p:cNvSpPr>
            <a:spLocks noGrp="1"/>
          </p:cNvSpPr>
          <p:nvPr/>
        </p:nvSpPr>
        <p:spPr>
          <a:xfrm>
            <a:off x="6858000" y="272415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Ensure reliable performance under realistic constraints</a:t>
            </a:r>
          </a:p>
        </p:txBody>
      </p:sp>
    </p:spTree>
    <p:extLst>
      <p:ext uri="{BB962C8B-B14F-4D97-AF65-F5344CB8AC3E}">
        <p14:creationId xmlns:p14="http://schemas.microsoft.com/office/powerpoint/2010/main" val="1648801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847F133B-7933-4A03-9D30-E49D7D056979}"/>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Economic Analysis of Byte Bazaar</a:t>
            </a:r>
          </a:p>
        </p:txBody>
      </p:sp>
      <p:sp>
        <p:nvSpPr>
          <p:cNvPr id="3" name="title-rule">
            <a:extLst>
              <a:ext uri="{FF2B5EF4-FFF2-40B4-BE49-F238E27FC236}">
                <a16:creationId xmlns:a16="http://schemas.microsoft.com/office/drawing/2014/main" id="{A6953437-C8E5-47B2-9AE9-3BA618F64EE9}"/>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5523C33A-A362-4F0A-8A6B-C3C103A03CCA}"/>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04</a:t>
            </a:r>
          </a:p>
        </p:txBody>
      </p:sp>
      <p:sp>
        <p:nvSpPr>
          <p:cNvPr id="5" name="text">
            <a:extLst>
              <a:ext uri="{FF2B5EF4-FFF2-40B4-BE49-F238E27FC236}">
                <a16:creationId xmlns:a16="http://schemas.microsoft.com/office/drawing/2014/main" id="{0AAFDC7A-61B0-467A-B6B7-8AC38C03D319}"/>
              </a:ext>
            </a:extLst>
          </p:cNvPr>
          <p:cNvSpPr>
            <a:spLocks noGrp="1"/>
          </p:cNvSpPr>
          <p:nvPr/>
        </p:nvSpPr>
        <p:spPr>
          <a:xfrm>
            <a:off x="609600" y="1905000"/>
            <a:ext cx="2857500" cy="28575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INVESTMENT</a:t>
            </a:r>
          </a:p>
        </p:txBody>
      </p:sp>
      <p:sp>
        <p:nvSpPr>
          <p:cNvPr id="6" name="bullet-1">
            <a:extLst>
              <a:ext uri="{FF2B5EF4-FFF2-40B4-BE49-F238E27FC236}">
                <a16:creationId xmlns:a16="http://schemas.microsoft.com/office/drawing/2014/main" id="{8A2A31E4-BB31-406F-9C38-3B7644E75F1C}"/>
              </a:ext>
            </a:extLst>
          </p:cNvPr>
          <p:cNvSpPr>
            <a:spLocks noGrp="1"/>
          </p:cNvSpPr>
          <p:nvPr/>
        </p:nvSpPr>
        <p:spPr>
          <a:xfrm>
            <a:off x="609600" y="2457450"/>
            <a:ext cx="95250" cy="95250"/>
          </a:xfrm>
          <a:prstGeom prst="rect">
            <a:avLst/>
          </a:prstGeom>
          <a:solidFill>
            <a:srgbClr val="2583FF"/>
          </a:solidFill>
          <a:ln w="0">
            <a:noFill/>
            <a:prstDash val="solid"/>
          </a:ln>
        </p:spPr>
        <p:txBody>
          <a:bodyPr/>
          <a:lstStyle/>
          <a:p>
            <a:endParaRPr lang="en-US"/>
          </a:p>
        </p:txBody>
      </p:sp>
      <p:sp>
        <p:nvSpPr>
          <p:cNvPr id="7" name="bullet-text-1">
            <a:extLst>
              <a:ext uri="{FF2B5EF4-FFF2-40B4-BE49-F238E27FC236}">
                <a16:creationId xmlns:a16="http://schemas.microsoft.com/office/drawing/2014/main" id="{A455523C-2B84-4E99-86C8-8B3407929894}"/>
              </a:ext>
            </a:extLst>
          </p:cNvPr>
          <p:cNvSpPr>
            <a:spLocks noGrp="1"/>
          </p:cNvSpPr>
          <p:nvPr/>
        </p:nvSpPr>
        <p:spPr>
          <a:xfrm>
            <a:off x="876300" y="23622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Development labor</a:t>
            </a:r>
          </a:p>
        </p:txBody>
      </p:sp>
      <p:sp>
        <p:nvSpPr>
          <p:cNvPr id="8" name="bullet-2">
            <a:extLst>
              <a:ext uri="{FF2B5EF4-FFF2-40B4-BE49-F238E27FC236}">
                <a16:creationId xmlns:a16="http://schemas.microsoft.com/office/drawing/2014/main" id="{B7C46BED-8F3D-40AD-A421-7358385021DB}"/>
              </a:ext>
            </a:extLst>
          </p:cNvPr>
          <p:cNvSpPr>
            <a:spLocks noGrp="1"/>
          </p:cNvSpPr>
          <p:nvPr/>
        </p:nvSpPr>
        <p:spPr>
          <a:xfrm>
            <a:off x="609600" y="3143250"/>
            <a:ext cx="95250" cy="95250"/>
          </a:xfrm>
          <a:prstGeom prst="rect">
            <a:avLst/>
          </a:prstGeom>
          <a:solidFill>
            <a:srgbClr val="2583FF"/>
          </a:solidFill>
          <a:ln w="0">
            <a:noFill/>
            <a:prstDash val="solid"/>
          </a:ln>
        </p:spPr>
        <p:txBody>
          <a:bodyPr/>
          <a:lstStyle/>
          <a:p>
            <a:endParaRPr lang="en-US"/>
          </a:p>
        </p:txBody>
      </p:sp>
      <p:sp>
        <p:nvSpPr>
          <p:cNvPr id="9" name="bullet-text-2">
            <a:extLst>
              <a:ext uri="{FF2B5EF4-FFF2-40B4-BE49-F238E27FC236}">
                <a16:creationId xmlns:a16="http://schemas.microsoft.com/office/drawing/2014/main" id="{2D26AFEF-4478-4FC8-948E-A5622B61193F}"/>
              </a:ext>
            </a:extLst>
          </p:cNvPr>
          <p:cNvSpPr>
            <a:spLocks noGrp="1"/>
          </p:cNvSpPr>
          <p:nvPr/>
        </p:nvSpPr>
        <p:spPr>
          <a:xfrm>
            <a:off x="876300" y="30480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Software &amp; hardware</a:t>
            </a:r>
          </a:p>
        </p:txBody>
      </p:sp>
      <p:sp>
        <p:nvSpPr>
          <p:cNvPr id="10" name="bullet-3">
            <a:extLst>
              <a:ext uri="{FF2B5EF4-FFF2-40B4-BE49-F238E27FC236}">
                <a16:creationId xmlns:a16="http://schemas.microsoft.com/office/drawing/2014/main" id="{62BC8B4F-D5BA-47DA-8038-5D208161ADFD}"/>
              </a:ext>
            </a:extLst>
          </p:cNvPr>
          <p:cNvSpPr>
            <a:spLocks noGrp="1"/>
          </p:cNvSpPr>
          <p:nvPr/>
        </p:nvSpPr>
        <p:spPr>
          <a:xfrm>
            <a:off x="609600" y="3829050"/>
            <a:ext cx="95250" cy="95250"/>
          </a:xfrm>
          <a:prstGeom prst="rect">
            <a:avLst/>
          </a:prstGeom>
          <a:solidFill>
            <a:srgbClr val="2583FF"/>
          </a:solidFill>
          <a:ln w="0">
            <a:noFill/>
            <a:prstDash val="solid"/>
          </a:ln>
        </p:spPr>
        <p:txBody>
          <a:bodyPr/>
          <a:lstStyle/>
          <a:p>
            <a:endParaRPr lang="en-US"/>
          </a:p>
        </p:txBody>
      </p:sp>
      <p:sp>
        <p:nvSpPr>
          <p:cNvPr id="11" name="bullet-text-3">
            <a:extLst>
              <a:ext uri="{FF2B5EF4-FFF2-40B4-BE49-F238E27FC236}">
                <a16:creationId xmlns:a16="http://schemas.microsoft.com/office/drawing/2014/main" id="{958432BA-E3A6-4732-B8EE-7CD52A6D66A2}"/>
              </a:ext>
            </a:extLst>
          </p:cNvPr>
          <p:cNvSpPr>
            <a:spLocks noGrp="1"/>
          </p:cNvSpPr>
          <p:nvPr/>
        </p:nvSpPr>
        <p:spPr>
          <a:xfrm>
            <a:off x="876300" y="37338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Infrastructure, hosting &amp; maintenance</a:t>
            </a:r>
          </a:p>
        </p:txBody>
      </p:sp>
      <p:sp>
        <p:nvSpPr>
          <p:cNvPr id="12" name="text">
            <a:extLst>
              <a:ext uri="{FF2B5EF4-FFF2-40B4-BE49-F238E27FC236}">
                <a16:creationId xmlns:a16="http://schemas.microsoft.com/office/drawing/2014/main" id="{3DBDFFD8-93BE-49FF-B69C-4A4583D2530F}"/>
              </a:ext>
            </a:extLst>
          </p:cNvPr>
          <p:cNvSpPr>
            <a:spLocks noGrp="1"/>
          </p:cNvSpPr>
          <p:nvPr/>
        </p:nvSpPr>
        <p:spPr>
          <a:xfrm>
            <a:off x="6477000" y="1905000"/>
            <a:ext cx="3143250" cy="28575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EXPECTED VALUE</a:t>
            </a:r>
          </a:p>
        </p:txBody>
      </p:sp>
      <p:sp>
        <p:nvSpPr>
          <p:cNvPr id="13" name="bullet-1">
            <a:extLst>
              <a:ext uri="{FF2B5EF4-FFF2-40B4-BE49-F238E27FC236}">
                <a16:creationId xmlns:a16="http://schemas.microsoft.com/office/drawing/2014/main" id="{CF0DC76E-B86F-436D-AB0A-07A0EE6F341E}"/>
              </a:ext>
            </a:extLst>
          </p:cNvPr>
          <p:cNvSpPr>
            <a:spLocks noGrp="1"/>
          </p:cNvSpPr>
          <p:nvPr/>
        </p:nvSpPr>
        <p:spPr>
          <a:xfrm>
            <a:off x="6477000" y="2457450"/>
            <a:ext cx="95250" cy="95250"/>
          </a:xfrm>
          <a:prstGeom prst="rect">
            <a:avLst/>
          </a:prstGeom>
          <a:solidFill>
            <a:srgbClr val="2583FF"/>
          </a:solidFill>
          <a:ln w="0">
            <a:noFill/>
            <a:prstDash val="solid"/>
          </a:ln>
        </p:spPr>
        <p:txBody>
          <a:bodyPr/>
          <a:lstStyle/>
          <a:p>
            <a:endParaRPr lang="en-US"/>
          </a:p>
        </p:txBody>
      </p:sp>
      <p:sp>
        <p:nvSpPr>
          <p:cNvPr id="14" name="bullet-text-1">
            <a:extLst>
              <a:ext uri="{FF2B5EF4-FFF2-40B4-BE49-F238E27FC236}">
                <a16:creationId xmlns:a16="http://schemas.microsoft.com/office/drawing/2014/main" id="{77087120-D64E-4C3B-BA1C-E29E54C1632F}"/>
              </a:ext>
            </a:extLst>
          </p:cNvPr>
          <p:cNvSpPr>
            <a:spLocks noGrp="1"/>
          </p:cNvSpPr>
          <p:nvPr/>
        </p:nvSpPr>
        <p:spPr>
          <a:xfrm>
            <a:off x="6743700" y="23622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Improved sales opportunities</a:t>
            </a:r>
          </a:p>
        </p:txBody>
      </p:sp>
      <p:sp>
        <p:nvSpPr>
          <p:cNvPr id="15" name="bullet-2">
            <a:extLst>
              <a:ext uri="{FF2B5EF4-FFF2-40B4-BE49-F238E27FC236}">
                <a16:creationId xmlns:a16="http://schemas.microsoft.com/office/drawing/2014/main" id="{949B024F-5F93-48BF-A64E-F317C6628918}"/>
              </a:ext>
            </a:extLst>
          </p:cNvPr>
          <p:cNvSpPr>
            <a:spLocks noGrp="1"/>
          </p:cNvSpPr>
          <p:nvPr/>
        </p:nvSpPr>
        <p:spPr>
          <a:xfrm>
            <a:off x="6477000" y="3143250"/>
            <a:ext cx="95250" cy="95250"/>
          </a:xfrm>
          <a:prstGeom prst="rect">
            <a:avLst/>
          </a:prstGeom>
          <a:solidFill>
            <a:srgbClr val="2583FF"/>
          </a:solidFill>
          <a:ln w="0">
            <a:noFill/>
            <a:prstDash val="solid"/>
          </a:ln>
        </p:spPr>
        <p:txBody>
          <a:bodyPr/>
          <a:lstStyle/>
          <a:p>
            <a:endParaRPr lang="en-US"/>
          </a:p>
        </p:txBody>
      </p:sp>
      <p:sp>
        <p:nvSpPr>
          <p:cNvPr id="16" name="bullet-text-2">
            <a:extLst>
              <a:ext uri="{FF2B5EF4-FFF2-40B4-BE49-F238E27FC236}">
                <a16:creationId xmlns:a16="http://schemas.microsoft.com/office/drawing/2014/main" id="{C80C351F-636F-469B-A5B9-DF920FB23E7F}"/>
              </a:ext>
            </a:extLst>
          </p:cNvPr>
          <p:cNvSpPr>
            <a:spLocks noGrp="1"/>
          </p:cNvSpPr>
          <p:nvPr/>
        </p:nvSpPr>
        <p:spPr>
          <a:xfrm>
            <a:off x="6743700" y="30480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Reduced manual processes</a:t>
            </a:r>
          </a:p>
        </p:txBody>
      </p:sp>
      <p:sp>
        <p:nvSpPr>
          <p:cNvPr id="17" name="bullet-3">
            <a:extLst>
              <a:ext uri="{FF2B5EF4-FFF2-40B4-BE49-F238E27FC236}">
                <a16:creationId xmlns:a16="http://schemas.microsoft.com/office/drawing/2014/main" id="{024298DB-063F-47F7-83E8-5B75B1F3A712}"/>
              </a:ext>
            </a:extLst>
          </p:cNvPr>
          <p:cNvSpPr>
            <a:spLocks noGrp="1"/>
          </p:cNvSpPr>
          <p:nvPr/>
        </p:nvSpPr>
        <p:spPr>
          <a:xfrm>
            <a:off x="6477000" y="3829050"/>
            <a:ext cx="95250" cy="95250"/>
          </a:xfrm>
          <a:prstGeom prst="rect">
            <a:avLst/>
          </a:prstGeom>
          <a:solidFill>
            <a:srgbClr val="2583FF"/>
          </a:solidFill>
          <a:ln w="0">
            <a:noFill/>
            <a:prstDash val="solid"/>
          </a:ln>
        </p:spPr>
        <p:txBody>
          <a:bodyPr/>
          <a:lstStyle/>
          <a:p>
            <a:endParaRPr lang="en-US"/>
          </a:p>
        </p:txBody>
      </p:sp>
      <p:sp>
        <p:nvSpPr>
          <p:cNvPr id="18" name="bullet-text-3">
            <a:extLst>
              <a:ext uri="{FF2B5EF4-FFF2-40B4-BE49-F238E27FC236}">
                <a16:creationId xmlns:a16="http://schemas.microsoft.com/office/drawing/2014/main" id="{2297ACE2-02B8-4966-BBC2-86562EB44D16}"/>
              </a:ext>
            </a:extLst>
          </p:cNvPr>
          <p:cNvSpPr>
            <a:spLocks noGrp="1"/>
          </p:cNvSpPr>
          <p:nvPr/>
        </p:nvSpPr>
        <p:spPr>
          <a:xfrm>
            <a:off x="6743700" y="3733800"/>
            <a:ext cx="4305300" cy="647700"/>
          </a:xfrm>
          <a:prstGeom prst="rect">
            <a:avLst/>
          </a:prstGeom>
          <a:noFill/>
          <a:ln w="0">
            <a:noFill/>
            <a:prstDash val="solid"/>
          </a:ln>
        </p:spPr>
        <p:txBody>
          <a:bodyPr anchor="t"/>
          <a:lstStyle/>
          <a:p>
            <a:pPr algn="l">
              <a:defRPr sz="1725" b="0">
                <a:solidFill>
                  <a:srgbClr val="111318"/>
                </a:solidFill>
                <a:latin typeface="Arial"/>
                <a:ea typeface="Arial"/>
                <a:cs typeface="Arial"/>
              </a:defRPr>
            </a:pPr>
            <a:r>
              <a:rPr sz="1725" b="0">
                <a:solidFill>
                  <a:srgbClr val="111318"/>
                </a:solidFill>
                <a:latin typeface="Arial"/>
                <a:ea typeface="Arial"/>
                <a:cs typeface="Arial"/>
              </a:rPr>
              <a:t>Long-term return on investment</a:t>
            </a:r>
          </a:p>
        </p:txBody>
      </p:sp>
      <p:sp>
        <p:nvSpPr>
          <p:cNvPr id="19" name="balance-rule">
            <a:extLst>
              <a:ext uri="{FF2B5EF4-FFF2-40B4-BE49-F238E27FC236}">
                <a16:creationId xmlns:a16="http://schemas.microsoft.com/office/drawing/2014/main" id="{E1DF10F1-48F4-4F06-89F6-96AA8462F1C0}"/>
              </a:ext>
            </a:extLst>
          </p:cNvPr>
          <p:cNvSpPr>
            <a:spLocks noGrp="1"/>
          </p:cNvSpPr>
          <p:nvPr/>
        </p:nvSpPr>
        <p:spPr>
          <a:xfrm>
            <a:off x="609600" y="4953000"/>
            <a:ext cx="10439400" cy="19050"/>
          </a:xfrm>
          <a:prstGeom prst="rect">
            <a:avLst/>
          </a:prstGeom>
          <a:solidFill>
            <a:srgbClr val="C9CED6"/>
          </a:solidFill>
          <a:ln w="0">
            <a:noFill/>
            <a:prstDash val="solid"/>
          </a:ln>
        </p:spPr>
        <p:txBody>
          <a:bodyPr/>
          <a:lstStyle/>
          <a:p>
            <a:endParaRPr lang="en-US"/>
          </a:p>
        </p:txBody>
      </p:sp>
      <p:sp>
        <p:nvSpPr>
          <p:cNvPr id="20" name="text">
            <a:extLst>
              <a:ext uri="{FF2B5EF4-FFF2-40B4-BE49-F238E27FC236}">
                <a16:creationId xmlns:a16="http://schemas.microsoft.com/office/drawing/2014/main" id="{7E300792-C390-4CC2-9A2F-69CB1F865D3C}"/>
              </a:ext>
            </a:extLst>
          </p:cNvPr>
          <p:cNvSpPr>
            <a:spLocks noGrp="1"/>
          </p:cNvSpPr>
          <p:nvPr/>
        </p:nvSpPr>
        <p:spPr>
          <a:xfrm>
            <a:off x="609600" y="5219700"/>
            <a:ext cx="10001250" cy="476250"/>
          </a:xfrm>
          <a:prstGeom prst="rect">
            <a:avLst/>
          </a:prstGeom>
          <a:noFill/>
          <a:ln w="0">
            <a:noFill/>
            <a:prstDash val="solid"/>
          </a:ln>
        </p:spPr>
        <p:txBody>
          <a:bodyPr anchor="t"/>
          <a:lstStyle/>
          <a:p>
            <a:pPr algn="l">
              <a:defRPr sz="1950" b="1">
                <a:solidFill>
                  <a:srgbClr val="111318"/>
                </a:solidFill>
                <a:latin typeface="Arial"/>
                <a:ea typeface="Arial"/>
                <a:cs typeface="Arial"/>
              </a:defRPr>
            </a:pPr>
            <a:r>
              <a:rPr sz="1950" b="1">
                <a:solidFill>
                  <a:srgbClr val="111318"/>
                </a:solidFill>
                <a:latin typeface="Arial"/>
                <a:ea typeface="Arial"/>
                <a:cs typeface="Arial"/>
              </a:rPr>
              <a:t>Economic question: Do the expected business benefits justify total development and operating costs?</a:t>
            </a:r>
          </a:p>
        </p:txBody>
      </p:sp>
    </p:spTree>
    <p:extLst>
      <p:ext uri="{BB962C8B-B14F-4D97-AF65-F5344CB8AC3E}">
        <p14:creationId xmlns:p14="http://schemas.microsoft.com/office/powerpoint/2010/main" val="21306268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6F30ADAB-71C4-4312-B272-561018C01480}"/>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Team Leadership and Collaboration</a:t>
            </a:r>
          </a:p>
        </p:txBody>
      </p:sp>
      <p:sp>
        <p:nvSpPr>
          <p:cNvPr id="3" name="title-rule">
            <a:extLst>
              <a:ext uri="{FF2B5EF4-FFF2-40B4-BE49-F238E27FC236}">
                <a16:creationId xmlns:a16="http://schemas.microsoft.com/office/drawing/2014/main" id="{411B3056-8000-4C42-A596-15416C3D61F8}"/>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987A43DB-8A12-4146-9E83-E81B7FEC91BC}"/>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05</a:t>
            </a:r>
          </a:p>
        </p:txBody>
      </p:sp>
      <p:sp>
        <p:nvSpPr>
          <p:cNvPr id="5" name="metric-1">
            <a:extLst>
              <a:ext uri="{FF2B5EF4-FFF2-40B4-BE49-F238E27FC236}">
                <a16:creationId xmlns:a16="http://schemas.microsoft.com/office/drawing/2014/main" id="{FC2452CE-0B15-4FCB-AC1C-365A58BB1954}"/>
              </a:ext>
            </a:extLst>
          </p:cNvPr>
          <p:cNvSpPr>
            <a:spLocks noGrp="1"/>
          </p:cNvSpPr>
          <p:nvPr/>
        </p:nvSpPr>
        <p:spPr>
          <a:xfrm>
            <a:off x="609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01</a:t>
            </a:r>
          </a:p>
        </p:txBody>
      </p:sp>
      <p:sp>
        <p:nvSpPr>
          <p:cNvPr id="6" name="metric-label-1">
            <a:extLst>
              <a:ext uri="{FF2B5EF4-FFF2-40B4-BE49-F238E27FC236}">
                <a16:creationId xmlns:a16="http://schemas.microsoft.com/office/drawing/2014/main" id="{017C01B5-DB3B-42AE-A0C7-04C7AE274365}"/>
              </a:ext>
            </a:extLst>
          </p:cNvPr>
          <p:cNvSpPr>
            <a:spLocks noGrp="1"/>
          </p:cNvSpPr>
          <p:nvPr/>
        </p:nvSpPr>
        <p:spPr>
          <a:xfrm>
            <a:off x="6096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Communicate clearly</a:t>
            </a:r>
          </a:p>
        </p:txBody>
      </p:sp>
      <p:sp>
        <p:nvSpPr>
          <p:cNvPr id="7" name="metric-2">
            <a:extLst>
              <a:ext uri="{FF2B5EF4-FFF2-40B4-BE49-F238E27FC236}">
                <a16:creationId xmlns:a16="http://schemas.microsoft.com/office/drawing/2014/main" id="{0D16F551-2B4C-4CDA-94DD-93247C950126}"/>
              </a:ext>
            </a:extLst>
          </p:cNvPr>
          <p:cNvSpPr>
            <a:spLocks noGrp="1"/>
          </p:cNvSpPr>
          <p:nvPr/>
        </p:nvSpPr>
        <p:spPr>
          <a:xfrm>
            <a:off x="27432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02</a:t>
            </a:r>
          </a:p>
        </p:txBody>
      </p:sp>
      <p:sp>
        <p:nvSpPr>
          <p:cNvPr id="8" name="metric-label-2">
            <a:extLst>
              <a:ext uri="{FF2B5EF4-FFF2-40B4-BE49-F238E27FC236}">
                <a16:creationId xmlns:a16="http://schemas.microsoft.com/office/drawing/2014/main" id="{6BD5104B-00D3-451F-BCFC-DDA9BE0DA9A1}"/>
              </a:ext>
            </a:extLst>
          </p:cNvPr>
          <p:cNvSpPr>
            <a:spLocks noGrp="1"/>
          </p:cNvSpPr>
          <p:nvPr/>
        </p:nvSpPr>
        <p:spPr>
          <a:xfrm>
            <a:off x="27432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Define ownership</a:t>
            </a:r>
          </a:p>
        </p:txBody>
      </p:sp>
      <p:sp>
        <p:nvSpPr>
          <p:cNvPr id="9" name="metric-3">
            <a:extLst>
              <a:ext uri="{FF2B5EF4-FFF2-40B4-BE49-F238E27FC236}">
                <a16:creationId xmlns:a16="http://schemas.microsoft.com/office/drawing/2014/main" id="{01BF2BF8-B510-4121-BCE7-CF8F11DC9921}"/>
              </a:ext>
            </a:extLst>
          </p:cNvPr>
          <p:cNvSpPr>
            <a:spLocks noGrp="1"/>
          </p:cNvSpPr>
          <p:nvPr/>
        </p:nvSpPr>
        <p:spPr>
          <a:xfrm>
            <a:off x="48768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03</a:t>
            </a:r>
          </a:p>
        </p:txBody>
      </p:sp>
      <p:sp>
        <p:nvSpPr>
          <p:cNvPr id="10" name="metric-label-3">
            <a:extLst>
              <a:ext uri="{FF2B5EF4-FFF2-40B4-BE49-F238E27FC236}">
                <a16:creationId xmlns:a16="http://schemas.microsoft.com/office/drawing/2014/main" id="{F4B4A8AC-D63C-4E68-95EC-D41E0625B81A}"/>
              </a:ext>
            </a:extLst>
          </p:cNvPr>
          <p:cNvSpPr>
            <a:spLocks noGrp="1"/>
          </p:cNvSpPr>
          <p:nvPr/>
        </p:nvSpPr>
        <p:spPr>
          <a:xfrm>
            <a:off x="48768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Collaborate &amp; give feedback</a:t>
            </a:r>
          </a:p>
        </p:txBody>
      </p:sp>
      <p:sp>
        <p:nvSpPr>
          <p:cNvPr id="11" name="metric-4">
            <a:extLst>
              <a:ext uri="{FF2B5EF4-FFF2-40B4-BE49-F238E27FC236}">
                <a16:creationId xmlns:a16="http://schemas.microsoft.com/office/drawing/2014/main" id="{49ABD33C-2B70-4B5D-9079-D0A0E0E76BB5}"/>
              </a:ext>
            </a:extLst>
          </p:cNvPr>
          <p:cNvSpPr>
            <a:spLocks noGrp="1"/>
          </p:cNvSpPr>
          <p:nvPr/>
        </p:nvSpPr>
        <p:spPr>
          <a:xfrm>
            <a:off x="70104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04</a:t>
            </a:r>
          </a:p>
        </p:txBody>
      </p:sp>
      <p:sp>
        <p:nvSpPr>
          <p:cNvPr id="12" name="metric-label-4">
            <a:extLst>
              <a:ext uri="{FF2B5EF4-FFF2-40B4-BE49-F238E27FC236}">
                <a16:creationId xmlns:a16="http://schemas.microsoft.com/office/drawing/2014/main" id="{7DC03B3E-1B65-417D-BA42-55F5A317DDF4}"/>
              </a:ext>
            </a:extLst>
          </p:cNvPr>
          <p:cNvSpPr>
            <a:spLocks noGrp="1"/>
          </p:cNvSpPr>
          <p:nvPr/>
        </p:nvSpPr>
        <p:spPr>
          <a:xfrm>
            <a:off x="70104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Manage tasks &amp; deadlines</a:t>
            </a:r>
          </a:p>
        </p:txBody>
      </p:sp>
      <p:sp>
        <p:nvSpPr>
          <p:cNvPr id="13" name="metric-5">
            <a:extLst>
              <a:ext uri="{FF2B5EF4-FFF2-40B4-BE49-F238E27FC236}">
                <a16:creationId xmlns:a16="http://schemas.microsoft.com/office/drawing/2014/main" id="{12B9EE3C-A7CE-4AF0-94FC-176DF9134160}"/>
              </a:ext>
            </a:extLst>
          </p:cNvPr>
          <p:cNvSpPr>
            <a:spLocks noGrp="1"/>
          </p:cNvSpPr>
          <p:nvPr/>
        </p:nvSpPr>
        <p:spPr>
          <a:xfrm>
            <a:off x="91440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05</a:t>
            </a:r>
          </a:p>
        </p:txBody>
      </p:sp>
      <p:sp>
        <p:nvSpPr>
          <p:cNvPr id="14" name="metric-label-5">
            <a:extLst>
              <a:ext uri="{FF2B5EF4-FFF2-40B4-BE49-F238E27FC236}">
                <a16:creationId xmlns:a16="http://schemas.microsoft.com/office/drawing/2014/main" id="{40E4B61C-7C85-4304-B1C0-FD8EB9E682FD}"/>
              </a:ext>
            </a:extLst>
          </p:cNvPr>
          <p:cNvSpPr>
            <a:spLocks noGrp="1"/>
          </p:cNvSpPr>
          <p:nvPr/>
        </p:nvSpPr>
        <p:spPr>
          <a:xfrm>
            <a:off x="91440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Track milestones</a:t>
            </a:r>
          </a:p>
        </p:txBody>
      </p:sp>
      <p:sp>
        <p:nvSpPr>
          <p:cNvPr id="15" name="text">
            <a:extLst>
              <a:ext uri="{FF2B5EF4-FFF2-40B4-BE49-F238E27FC236}">
                <a16:creationId xmlns:a16="http://schemas.microsoft.com/office/drawing/2014/main" id="{96858623-346F-4A60-ABDE-AFBCA6630083}"/>
              </a:ext>
            </a:extLst>
          </p:cNvPr>
          <p:cNvSpPr>
            <a:spLocks noGrp="1"/>
          </p:cNvSpPr>
          <p:nvPr/>
        </p:nvSpPr>
        <p:spPr>
          <a:xfrm>
            <a:off x="609600" y="4457700"/>
            <a:ext cx="10572750" cy="762000"/>
          </a:xfrm>
          <a:prstGeom prst="rect">
            <a:avLst/>
          </a:prstGeom>
          <a:noFill/>
          <a:ln w="0">
            <a:noFill/>
            <a:prstDash val="solid"/>
          </a:ln>
        </p:spPr>
        <p:txBody>
          <a:bodyPr anchor="t"/>
          <a:lstStyle/>
          <a:p>
            <a:pPr algn="l">
              <a:defRPr sz="2175" b="1">
                <a:solidFill>
                  <a:srgbClr val="111318"/>
                </a:solidFill>
                <a:latin typeface="Arial"/>
                <a:ea typeface="Arial"/>
                <a:cs typeface="Arial"/>
              </a:defRPr>
            </a:pPr>
            <a:r>
              <a:rPr sz="2175" b="1">
                <a:solidFill>
                  <a:srgbClr val="111318"/>
                </a:solidFill>
                <a:latin typeface="Arial"/>
                <a:ea typeface="Arial"/>
                <a:cs typeface="Arial"/>
              </a:rPr>
              <a:t>Strong leadership keeps planning, analysis, design, and implementation aligned to the same project goals.</a:t>
            </a:r>
          </a:p>
        </p:txBody>
      </p:sp>
    </p:spTree>
    <p:extLst>
      <p:ext uri="{BB962C8B-B14F-4D97-AF65-F5344CB8AC3E}">
        <p14:creationId xmlns:p14="http://schemas.microsoft.com/office/powerpoint/2010/main" val="2076164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D3FAC5-2E1D-48AD-BC32-1E0F80658C0F}"/>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Planning Phase in the SDLC</a:t>
            </a:r>
          </a:p>
        </p:txBody>
      </p:sp>
      <p:sp>
        <p:nvSpPr>
          <p:cNvPr id="3" name="title-rule">
            <a:extLst>
              <a:ext uri="{FF2B5EF4-FFF2-40B4-BE49-F238E27FC236}">
                <a16:creationId xmlns:a16="http://schemas.microsoft.com/office/drawing/2014/main" id="{27CE2782-0CC3-4780-B607-2A4017351464}"/>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1D65AD06-FD70-4EB4-8B8E-510C7DA31864}"/>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06</a:t>
            </a:r>
          </a:p>
        </p:txBody>
      </p:sp>
      <p:sp>
        <p:nvSpPr>
          <p:cNvPr id="5" name="metric-1">
            <a:extLst>
              <a:ext uri="{FF2B5EF4-FFF2-40B4-BE49-F238E27FC236}">
                <a16:creationId xmlns:a16="http://schemas.microsoft.com/office/drawing/2014/main" id="{6D608243-9749-4C1A-A665-2DBDF4A7DD1B}"/>
              </a:ext>
            </a:extLst>
          </p:cNvPr>
          <p:cNvSpPr>
            <a:spLocks noGrp="1"/>
          </p:cNvSpPr>
          <p:nvPr/>
        </p:nvSpPr>
        <p:spPr>
          <a:xfrm>
            <a:off x="609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01</a:t>
            </a:r>
          </a:p>
        </p:txBody>
      </p:sp>
      <p:sp>
        <p:nvSpPr>
          <p:cNvPr id="6" name="metric-label-1">
            <a:extLst>
              <a:ext uri="{FF2B5EF4-FFF2-40B4-BE49-F238E27FC236}">
                <a16:creationId xmlns:a16="http://schemas.microsoft.com/office/drawing/2014/main" id="{A454B3DD-3E77-473C-9171-EF6AD52A8179}"/>
              </a:ext>
            </a:extLst>
          </p:cNvPr>
          <p:cNvSpPr>
            <a:spLocks noGrp="1"/>
          </p:cNvSpPr>
          <p:nvPr/>
        </p:nvSpPr>
        <p:spPr>
          <a:xfrm>
            <a:off x="6096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Define scope</a:t>
            </a:r>
          </a:p>
        </p:txBody>
      </p:sp>
      <p:sp>
        <p:nvSpPr>
          <p:cNvPr id="7" name="metric-2">
            <a:extLst>
              <a:ext uri="{FF2B5EF4-FFF2-40B4-BE49-F238E27FC236}">
                <a16:creationId xmlns:a16="http://schemas.microsoft.com/office/drawing/2014/main" id="{B012D985-5563-43FD-9A15-D08920784C3A}"/>
              </a:ext>
            </a:extLst>
          </p:cNvPr>
          <p:cNvSpPr>
            <a:spLocks noGrp="1"/>
          </p:cNvSpPr>
          <p:nvPr/>
        </p:nvSpPr>
        <p:spPr>
          <a:xfrm>
            <a:off x="27432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02</a:t>
            </a:r>
          </a:p>
        </p:txBody>
      </p:sp>
      <p:sp>
        <p:nvSpPr>
          <p:cNvPr id="8" name="metric-label-2">
            <a:extLst>
              <a:ext uri="{FF2B5EF4-FFF2-40B4-BE49-F238E27FC236}">
                <a16:creationId xmlns:a16="http://schemas.microsoft.com/office/drawing/2014/main" id="{F13E7949-9117-4B40-A11F-3EADA8D1AB46}"/>
              </a:ext>
            </a:extLst>
          </p:cNvPr>
          <p:cNvSpPr>
            <a:spLocks noGrp="1"/>
          </p:cNvSpPr>
          <p:nvPr/>
        </p:nvSpPr>
        <p:spPr>
          <a:xfrm>
            <a:off x="27432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Identify stakeholders &amp; requirements</a:t>
            </a:r>
          </a:p>
        </p:txBody>
      </p:sp>
      <p:sp>
        <p:nvSpPr>
          <p:cNvPr id="9" name="metric-3">
            <a:extLst>
              <a:ext uri="{FF2B5EF4-FFF2-40B4-BE49-F238E27FC236}">
                <a16:creationId xmlns:a16="http://schemas.microsoft.com/office/drawing/2014/main" id="{799E9773-6D32-4B06-A278-A7055BBD49D5}"/>
              </a:ext>
            </a:extLst>
          </p:cNvPr>
          <p:cNvSpPr>
            <a:spLocks noGrp="1"/>
          </p:cNvSpPr>
          <p:nvPr/>
        </p:nvSpPr>
        <p:spPr>
          <a:xfrm>
            <a:off x="48768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03</a:t>
            </a:r>
          </a:p>
        </p:txBody>
      </p:sp>
      <p:sp>
        <p:nvSpPr>
          <p:cNvPr id="10" name="metric-label-3">
            <a:extLst>
              <a:ext uri="{FF2B5EF4-FFF2-40B4-BE49-F238E27FC236}">
                <a16:creationId xmlns:a16="http://schemas.microsoft.com/office/drawing/2014/main" id="{DE7A50E3-270D-426F-AB05-8F6934AD3951}"/>
              </a:ext>
            </a:extLst>
          </p:cNvPr>
          <p:cNvSpPr>
            <a:spLocks noGrp="1"/>
          </p:cNvSpPr>
          <p:nvPr/>
        </p:nvSpPr>
        <p:spPr>
          <a:xfrm>
            <a:off x="48768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Evaluate feasibility</a:t>
            </a:r>
          </a:p>
        </p:txBody>
      </p:sp>
      <p:sp>
        <p:nvSpPr>
          <p:cNvPr id="11" name="metric-4">
            <a:extLst>
              <a:ext uri="{FF2B5EF4-FFF2-40B4-BE49-F238E27FC236}">
                <a16:creationId xmlns:a16="http://schemas.microsoft.com/office/drawing/2014/main" id="{F977775D-94E8-4650-8378-34C0BFED6957}"/>
              </a:ext>
            </a:extLst>
          </p:cNvPr>
          <p:cNvSpPr>
            <a:spLocks noGrp="1"/>
          </p:cNvSpPr>
          <p:nvPr/>
        </p:nvSpPr>
        <p:spPr>
          <a:xfrm>
            <a:off x="70104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04</a:t>
            </a:r>
          </a:p>
        </p:txBody>
      </p:sp>
      <p:sp>
        <p:nvSpPr>
          <p:cNvPr id="12" name="metric-label-4">
            <a:extLst>
              <a:ext uri="{FF2B5EF4-FFF2-40B4-BE49-F238E27FC236}">
                <a16:creationId xmlns:a16="http://schemas.microsoft.com/office/drawing/2014/main" id="{46A24154-4CF8-416A-B55A-5A56E4EC26ED}"/>
              </a:ext>
            </a:extLst>
          </p:cNvPr>
          <p:cNvSpPr>
            <a:spLocks noGrp="1"/>
          </p:cNvSpPr>
          <p:nvPr/>
        </p:nvSpPr>
        <p:spPr>
          <a:xfrm>
            <a:off x="70104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Create schedule &amp; milestones</a:t>
            </a:r>
          </a:p>
        </p:txBody>
      </p:sp>
      <p:sp>
        <p:nvSpPr>
          <p:cNvPr id="13" name="metric-5">
            <a:extLst>
              <a:ext uri="{FF2B5EF4-FFF2-40B4-BE49-F238E27FC236}">
                <a16:creationId xmlns:a16="http://schemas.microsoft.com/office/drawing/2014/main" id="{AC1E43D4-57AD-4653-A300-A519759646EA}"/>
              </a:ext>
            </a:extLst>
          </p:cNvPr>
          <p:cNvSpPr>
            <a:spLocks noGrp="1"/>
          </p:cNvSpPr>
          <p:nvPr/>
        </p:nvSpPr>
        <p:spPr>
          <a:xfrm>
            <a:off x="91440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05</a:t>
            </a:r>
          </a:p>
        </p:txBody>
      </p:sp>
      <p:sp>
        <p:nvSpPr>
          <p:cNvPr id="14" name="metric-label-5">
            <a:extLst>
              <a:ext uri="{FF2B5EF4-FFF2-40B4-BE49-F238E27FC236}">
                <a16:creationId xmlns:a16="http://schemas.microsoft.com/office/drawing/2014/main" id="{7A29E345-9256-4DBE-A5EE-7DA66FCCC80E}"/>
              </a:ext>
            </a:extLst>
          </p:cNvPr>
          <p:cNvSpPr>
            <a:spLocks noGrp="1"/>
          </p:cNvSpPr>
          <p:nvPr/>
        </p:nvSpPr>
        <p:spPr>
          <a:xfrm>
            <a:off x="91440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Assess risks &amp; resources</a:t>
            </a:r>
          </a:p>
        </p:txBody>
      </p:sp>
      <p:sp>
        <p:nvSpPr>
          <p:cNvPr id="15" name="planning-summary">
            <a:extLst>
              <a:ext uri="{FF2B5EF4-FFF2-40B4-BE49-F238E27FC236}">
                <a16:creationId xmlns:a16="http://schemas.microsoft.com/office/drawing/2014/main" id="{AC9EA9EA-3895-4CE9-99C4-48DEC09F9286}"/>
              </a:ext>
            </a:extLst>
          </p:cNvPr>
          <p:cNvSpPr>
            <a:spLocks noGrp="1"/>
          </p:cNvSpPr>
          <p:nvPr/>
        </p:nvSpPr>
        <p:spPr>
          <a:xfrm>
            <a:off x="600075" y="4101846"/>
            <a:ext cx="10429875" cy="1162050"/>
          </a:xfrm>
          <a:prstGeom prst="rect">
            <a:avLst/>
          </a:prstGeom>
          <a:solidFill>
            <a:srgbClr val="EDF5FF"/>
          </a:solidFill>
          <a:ln w="0">
            <a:noFill/>
            <a:prstDash val="solid"/>
          </a:ln>
        </p:spPr>
        <p:txBody>
          <a:bodyPr/>
          <a:lstStyle/>
          <a:p>
            <a:endParaRPr lang="en-US"/>
          </a:p>
        </p:txBody>
      </p:sp>
      <p:sp>
        <p:nvSpPr>
          <p:cNvPr id="16" name="text">
            <a:extLst>
              <a:ext uri="{FF2B5EF4-FFF2-40B4-BE49-F238E27FC236}">
                <a16:creationId xmlns:a16="http://schemas.microsoft.com/office/drawing/2014/main" id="{2B49AC3D-6D56-4801-BF40-D736A040E3FB}"/>
              </a:ext>
            </a:extLst>
          </p:cNvPr>
          <p:cNvSpPr>
            <a:spLocks noGrp="1"/>
          </p:cNvSpPr>
          <p:nvPr/>
        </p:nvSpPr>
        <p:spPr>
          <a:xfrm>
            <a:off x="838200" y="4210050"/>
            <a:ext cx="2190750" cy="333375"/>
          </a:xfrm>
          <a:prstGeom prst="rect">
            <a:avLst/>
          </a:prstGeom>
          <a:noFill/>
          <a:ln w="0">
            <a:noFill/>
            <a:prstDash val="solid"/>
          </a:ln>
        </p:spPr>
        <p:txBody>
          <a:bodyPr anchor="t"/>
          <a:lstStyle/>
          <a:p>
            <a:pPr algn="l">
              <a:defRPr sz="1425" b="1">
                <a:solidFill>
                  <a:srgbClr val="2583FF"/>
                </a:solidFill>
                <a:latin typeface="Arial"/>
                <a:ea typeface="Arial"/>
                <a:cs typeface="Arial"/>
              </a:defRPr>
            </a:pPr>
            <a:r>
              <a:rPr sz="1425" b="1">
                <a:solidFill>
                  <a:srgbClr val="2583FF"/>
                </a:solidFill>
                <a:latin typeface="Arial"/>
                <a:ea typeface="Arial"/>
                <a:cs typeface="Arial"/>
              </a:rPr>
              <a:t>Foundation first</a:t>
            </a:r>
          </a:p>
        </p:txBody>
      </p:sp>
      <p:sp>
        <p:nvSpPr>
          <p:cNvPr id="17" name="text">
            <a:extLst>
              <a:ext uri="{FF2B5EF4-FFF2-40B4-BE49-F238E27FC236}">
                <a16:creationId xmlns:a16="http://schemas.microsoft.com/office/drawing/2014/main" id="{E8476857-308C-48B3-9BDD-99B730BCC2D3}"/>
              </a:ext>
            </a:extLst>
          </p:cNvPr>
          <p:cNvSpPr>
            <a:spLocks noGrp="1"/>
          </p:cNvSpPr>
          <p:nvPr/>
        </p:nvSpPr>
        <p:spPr>
          <a:xfrm>
            <a:off x="838200" y="4572000"/>
            <a:ext cx="9715500" cy="40005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Early planning makes cost, capability, schedule, and risk visible before development accelerates.</a:t>
            </a:r>
          </a:p>
        </p:txBody>
      </p:sp>
    </p:spTree>
    <p:extLst>
      <p:ext uri="{BB962C8B-B14F-4D97-AF65-F5344CB8AC3E}">
        <p14:creationId xmlns:p14="http://schemas.microsoft.com/office/powerpoint/2010/main" val="1668839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54A099FA-1EAB-4081-8E6B-AA131C6150B4}"/>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Planning and Control in the SDLC</a:t>
            </a:r>
          </a:p>
        </p:txBody>
      </p:sp>
      <p:sp>
        <p:nvSpPr>
          <p:cNvPr id="3" name="title-rule">
            <a:extLst>
              <a:ext uri="{FF2B5EF4-FFF2-40B4-BE49-F238E27FC236}">
                <a16:creationId xmlns:a16="http://schemas.microsoft.com/office/drawing/2014/main" id="{875D9D22-6FC4-46B7-A44F-F2713082F06F}"/>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C7F5FD4B-9B8F-479B-98E7-BC5B3144A3F9}"/>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07</a:t>
            </a:r>
          </a:p>
        </p:txBody>
      </p:sp>
      <p:sp>
        <p:nvSpPr>
          <p:cNvPr id="5" name="bullet-1">
            <a:extLst>
              <a:ext uri="{FF2B5EF4-FFF2-40B4-BE49-F238E27FC236}">
                <a16:creationId xmlns:a16="http://schemas.microsoft.com/office/drawing/2014/main" id="{53CE22DB-3BCE-477D-90F0-64A5D51FD5A5}"/>
              </a:ext>
            </a:extLst>
          </p:cNvPr>
          <p:cNvSpPr>
            <a:spLocks noGrp="1"/>
          </p:cNvSpPr>
          <p:nvPr/>
        </p:nvSpPr>
        <p:spPr>
          <a:xfrm>
            <a:off x="666750" y="2076450"/>
            <a:ext cx="95250" cy="95250"/>
          </a:xfrm>
          <a:prstGeom prst="rect">
            <a:avLst/>
          </a:prstGeom>
          <a:solidFill>
            <a:srgbClr val="2583FF"/>
          </a:solidFill>
          <a:ln w="0">
            <a:noFill/>
            <a:prstDash val="solid"/>
          </a:ln>
        </p:spPr>
        <p:txBody>
          <a:bodyPr/>
          <a:lstStyle/>
          <a:p>
            <a:endParaRPr lang="en-US"/>
          </a:p>
        </p:txBody>
      </p:sp>
      <p:sp>
        <p:nvSpPr>
          <p:cNvPr id="6" name="bullet-text-1">
            <a:extLst>
              <a:ext uri="{FF2B5EF4-FFF2-40B4-BE49-F238E27FC236}">
                <a16:creationId xmlns:a16="http://schemas.microsoft.com/office/drawing/2014/main" id="{5B83173D-D956-44C8-9DDF-DF5640E41C6B}"/>
              </a:ext>
            </a:extLst>
          </p:cNvPr>
          <p:cNvSpPr>
            <a:spLocks noGrp="1"/>
          </p:cNvSpPr>
          <p:nvPr/>
        </p:nvSpPr>
        <p:spPr>
          <a:xfrm>
            <a:off x="933450" y="19812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Monitor project progress</a:t>
            </a:r>
          </a:p>
        </p:txBody>
      </p:sp>
      <p:sp>
        <p:nvSpPr>
          <p:cNvPr id="7" name="bullet-2">
            <a:extLst>
              <a:ext uri="{FF2B5EF4-FFF2-40B4-BE49-F238E27FC236}">
                <a16:creationId xmlns:a16="http://schemas.microsoft.com/office/drawing/2014/main" id="{752139A8-8589-43B7-9F9E-4A583A2FB859}"/>
              </a:ext>
            </a:extLst>
          </p:cNvPr>
          <p:cNvSpPr>
            <a:spLocks noGrp="1"/>
          </p:cNvSpPr>
          <p:nvPr/>
        </p:nvSpPr>
        <p:spPr>
          <a:xfrm>
            <a:off x="666750" y="2819400"/>
            <a:ext cx="95250" cy="95250"/>
          </a:xfrm>
          <a:prstGeom prst="rect">
            <a:avLst/>
          </a:prstGeom>
          <a:solidFill>
            <a:srgbClr val="2583FF"/>
          </a:solidFill>
          <a:ln w="0">
            <a:noFill/>
            <a:prstDash val="solid"/>
          </a:ln>
        </p:spPr>
        <p:txBody>
          <a:bodyPr/>
          <a:lstStyle/>
          <a:p>
            <a:endParaRPr lang="en-US"/>
          </a:p>
        </p:txBody>
      </p:sp>
      <p:sp>
        <p:nvSpPr>
          <p:cNvPr id="8" name="bullet-text-2">
            <a:extLst>
              <a:ext uri="{FF2B5EF4-FFF2-40B4-BE49-F238E27FC236}">
                <a16:creationId xmlns:a16="http://schemas.microsoft.com/office/drawing/2014/main" id="{417C5C1E-0C11-4CFD-85EA-2B6AEDD3CA2B}"/>
              </a:ext>
            </a:extLst>
          </p:cNvPr>
          <p:cNvSpPr>
            <a:spLocks noGrp="1"/>
          </p:cNvSpPr>
          <p:nvPr/>
        </p:nvSpPr>
        <p:spPr>
          <a:xfrm>
            <a:off x="933450" y="272415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Manage scope, cost, and schedule</a:t>
            </a:r>
          </a:p>
        </p:txBody>
      </p:sp>
      <p:sp>
        <p:nvSpPr>
          <p:cNvPr id="9" name="bullet-3">
            <a:extLst>
              <a:ext uri="{FF2B5EF4-FFF2-40B4-BE49-F238E27FC236}">
                <a16:creationId xmlns:a16="http://schemas.microsoft.com/office/drawing/2014/main" id="{118D58FF-743A-4B45-8803-752C11609C85}"/>
              </a:ext>
            </a:extLst>
          </p:cNvPr>
          <p:cNvSpPr>
            <a:spLocks noGrp="1"/>
          </p:cNvSpPr>
          <p:nvPr/>
        </p:nvSpPr>
        <p:spPr>
          <a:xfrm>
            <a:off x="666750" y="3562350"/>
            <a:ext cx="95250" cy="95250"/>
          </a:xfrm>
          <a:prstGeom prst="rect">
            <a:avLst/>
          </a:prstGeom>
          <a:solidFill>
            <a:srgbClr val="2583FF"/>
          </a:solidFill>
          <a:ln w="0">
            <a:noFill/>
            <a:prstDash val="solid"/>
          </a:ln>
        </p:spPr>
        <p:txBody>
          <a:bodyPr/>
          <a:lstStyle/>
          <a:p>
            <a:endParaRPr lang="en-US"/>
          </a:p>
        </p:txBody>
      </p:sp>
      <p:sp>
        <p:nvSpPr>
          <p:cNvPr id="10" name="bullet-text-3">
            <a:extLst>
              <a:ext uri="{FF2B5EF4-FFF2-40B4-BE49-F238E27FC236}">
                <a16:creationId xmlns:a16="http://schemas.microsoft.com/office/drawing/2014/main" id="{5C808476-7FC2-439A-9E22-50489687BBDD}"/>
              </a:ext>
            </a:extLst>
          </p:cNvPr>
          <p:cNvSpPr>
            <a:spLocks noGrp="1"/>
          </p:cNvSpPr>
          <p:nvPr/>
        </p:nvSpPr>
        <p:spPr>
          <a:xfrm>
            <a:off x="933450" y="34671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Address risks and changes</a:t>
            </a:r>
          </a:p>
        </p:txBody>
      </p:sp>
      <p:sp>
        <p:nvSpPr>
          <p:cNvPr id="11" name="column-rule">
            <a:extLst>
              <a:ext uri="{FF2B5EF4-FFF2-40B4-BE49-F238E27FC236}">
                <a16:creationId xmlns:a16="http://schemas.microsoft.com/office/drawing/2014/main" id="{C1B989B5-385E-4954-8A87-5DA8DF4DED96}"/>
              </a:ext>
            </a:extLst>
          </p:cNvPr>
          <p:cNvSpPr>
            <a:spLocks noGrp="1"/>
          </p:cNvSpPr>
          <p:nvPr/>
        </p:nvSpPr>
        <p:spPr>
          <a:xfrm>
            <a:off x="6076950" y="1866900"/>
            <a:ext cx="19050" cy="3429000"/>
          </a:xfrm>
          <a:prstGeom prst="rect">
            <a:avLst/>
          </a:prstGeom>
          <a:solidFill>
            <a:srgbClr val="C9CED6"/>
          </a:solidFill>
          <a:ln w="0">
            <a:noFill/>
            <a:prstDash val="solid"/>
          </a:ln>
        </p:spPr>
        <p:txBody>
          <a:bodyPr/>
          <a:lstStyle/>
          <a:p>
            <a:endParaRPr lang="en-US"/>
          </a:p>
        </p:txBody>
      </p:sp>
      <p:sp>
        <p:nvSpPr>
          <p:cNvPr id="12" name="bullet-1">
            <a:extLst>
              <a:ext uri="{FF2B5EF4-FFF2-40B4-BE49-F238E27FC236}">
                <a16:creationId xmlns:a16="http://schemas.microsoft.com/office/drawing/2014/main" id="{02144220-0EFF-4CB3-BB51-AFFBFACCD5D3}"/>
              </a:ext>
            </a:extLst>
          </p:cNvPr>
          <p:cNvSpPr>
            <a:spLocks noGrp="1"/>
          </p:cNvSpPr>
          <p:nvPr/>
        </p:nvSpPr>
        <p:spPr>
          <a:xfrm>
            <a:off x="6591300" y="2076450"/>
            <a:ext cx="95250" cy="95250"/>
          </a:xfrm>
          <a:prstGeom prst="rect">
            <a:avLst/>
          </a:prstGeom>
          <a:solidFill>
            <a:srgbClr val="2583FF"/>
          </a:solidFill>
          <a:ln w="0">
            <a:noFill/>
            <a:prstDash val="solid"/>
          </a:ln>
        </p:spPr>
        <p:txBody>
          <a:bodyPr/>
          <a:lstStyle/>
          <a:p>
            <a:endParaRPr lang="en-US"/>
          </a:p>
        </p:txBody>
      </p:sp>
      <p:sp>
        <p:nvSpPr>
          <p:cNvPr id="13" name="bullet-text-1">
            <a:extLst>
              <a:ext uri="{FF2B5EF4-FFF2-40B4-BE49-F238E27FC236}">
                <a16:creationId xmlns:a16="http://schemas.microsoft.com/office/drawing/2014/main" id="{F74B923C-F954-4A3D-9EF2-B362C04756C7}"/>
              </a:ext>
            </a:extLst>
          </p:cNvPr>
          <p:cNvSpPr>
            <a:spLocks noGrp="1"/>
          </p:cNvSpPr>
          <p:nvPr/>
        </p:nvSpPr>
        <p:spPr>
          <a:xfrm>
            <a:off x="6858000" y="198120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Ensure quality and accountability</a:t>
            </a:r>
          </a:p>
        </p:txBody>
      </p:sp>
      <p:sp>
        <p:nvSpPr>
          <p:cNvPr id="14" name="bullet-2">
            <a:extLst>
              <a:ext uri="{FF2B5EF4-FFF2-40B4-BE49-F238E27FC236}">
                <a16:creationId xmlns:a16="http://schemas.microsoft.com/office/drawing/2014/main" id="{36DE99B3-0DFB-47C2-822A-5DDD46A2B609}"/>
              </a:ext>
            </a:extLst>
          </p:cNvPr>
          <p:cNvSpPr>
            <a:spLocks noGrp="1"/>
          </p:cNvSpPr>
          <p:nvPr/>
        </p:nvSpPr>
        <p:spPr>
          <a:xfrm>
            <a:off x="6591300" y="2819400"/>
            <a:ext cx="95250" cy="95250"/>
          </a:xfrm>
          <a:prstGeom prst="rect">
            <a:avLst/>
          </a:prstGeom>
          <a:solidFill>
            <a:srgbClr val="2583FF"/>
          </a:solidFill>
          <a:ln w="0">
            <a:noFill/>
            <a:prstDash val="solid"/>
          </a:ln>
        </p:spPr>
        <p:txBody>
          <a:bodyPr/>
          <a:lstStyle/>
          <a:p>
            <a:endParaRPr lang="en-US"/>
          </a:p>
        </p:txBody>
      </p:sp>
      <p:sp>
        <p:nvSpPr>
          <p:cNvPr id="15" name="bullet-text-2">
            <a:extLst>
              <a:ext uri="{FF2B5EF4-FFF2-40B4-BE49-F238E27FC236}">
                <a16:creationId xmlns:a16="http://schemas.microsoft.com/office/drawing/2014/main" id="{F5A6D939-B4CD-4F6A-86F5-27F9D7C57641}"/>
              </a:ext>
            </a:extLst>
          </p:cNvPr>
          <p:cNvSpPr>
            <a:spLocks noGrp="1"/>
          </p:cNvSpPr>
          <p:nvPr/>
        </p:nvSpPr>
        <p:spPr>
          <a:xfrm>
            <a:off x="6858000" y="272415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Keep deliverables aligned with goals</a:t>
            </a:r>
          </a:p>
        </p:txBody>
      </p:sp>
    </p:spTree>
    <p:extLst>
      <p:ext uri="{BB962C8B-B14F-4D97-AF65-F5344CB8AC3E}">
        <p14:creationId xmlns:p14="http://schemas.microsoft.com/office/powerpoint/2010/main" val="1966196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eyebrow">
            <a:extLst>
              <a:ext uri="{FF2B5EF4-FFF2-40B4-BE49-F238E27FC236}">
                <a16:creationId xmlns:a16="http://schemas.microsoft.com/office/drawing/2014/main" id="{F62CB9EA-E4B1-47B8-88EF-538563785D62}"/>
              </a:ext>
            </a:extLst>
          </p:cNvPr>
          <p:cNvSpPr>
            <a:spLocks noGrp="1"/>
          </p:cNvSpPr>
          <p:nvPr/>
        </p:nvSpPr>
        <p:spPr>
          <a:xfrm>
            <a:off x="457200" y="323850"/>
            <a:ext cx="3238500" cy="285750"/>
          </a:xfrm>
          <a:prstGeom prst="rect">
            <a:avLst/>
          </a:prstGeom>
          <a:noFill/>
          <a:ln w="0">
            <a:noFill/>
            <a:prstDash val="solid"/>
          </a:ln>
        </p:spPr>
        <p:txBody>
          <a:bodyPr anchor="t"/>
          <a:lstStyle/>
          <a:p>
            <a:pPr algn="l">
              <a:defRPr sz="1200" b="1">
                <a:solidFill>
                  <a:srgbClr val="2583FF"/>
                </a:solidFill>
                <a:latin typeface="Arial"/>
                <a:ea typeface="Arial"/>
                <a:cs typeface="Arial"/>
              </a:defRPr>
            </a:pPr>
            <a:r>
              <a:rPr sz="1200" b="1">
                <a:solidFill>
                  <a:srgbClr val="2583FF"/>
                </a:solidFill>
                <a:latin typeface="Arial"/>
                <a:ea typeface="Arial"/>
                <a:cs typeface="Arial"/>
              </a:rPr>
              <a:t>WHAT THE SYSTEM SHOULD DO</a:t>
            </a:r>
          </a:p>
        </p:txBody>
      </p:sp>
      <p:sp>
        <p:nvSpPr>
          <p:cNvPr id="2" name="slide-title">
            <a:extLst>
              <a:ext uri="{FF2B5EF4-FFF2-40B4-BE49-F238E27FC236}">
                <a16:creationId xmlns:a16="http://schemas.microsoft.com/office/drawing/2014/main" id="{8E35C7AF-3DE3-4E73-85D7-7F7416F263C6}"/>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Functional Specifications</a:t>
            </a:r>
          </a:p>
        </p:txBody>
      </p:sp>
      <p:sp>
        <p:nvSpPr>
          <p:cNvPr id="3" name="title-rule">
            <a:extLst>
              <a:ext uri="{FF2B5EF4-FFF2-40B4-BE49-F238E27FC236}">
                <a16:creationId xmlns:a16="http://schemas.microsoft.com/office/drawing/2014/main" id="{1CEA4B9F-294F-4388-B9F9-0472C1BB6EC7}"/>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FE7C898B-94C7-407E-BF47-6E906C884DA7}"/>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08</a:t>
            </a:r>
          </a:p>
        </p:txBody>
      </p:sp>
      <p:sp>
        <p:nvSpPr>
          <p:cNvPr id="5" name="bullet-1">
            <a:extLst>
              <a:ext uri="{FF2B5EF4-FFF2-40B4-BE49-F238E27FC236}">
                <a16:creationId xmlns:a16="http://schemas.microsoft.com/office/drawing/2014/main" id="{2EF509E2-384A-4E12-B273-DFCF9019C3D6}"/>
              </a:ext>
            </a:extLst>
          </p:cNvPr>
          <p:cNvSpPr>
            <a:spLocks noGrp="1"/>
          </p:cNvSpPr>
          <p:nvPr/>
        </p:nvSpPr>
        <p:spPr>
          <a:xfrm>
            <a:off x="666750" y="2076450"/>
            <a:ext cx="95250" cy="95250"/>
          </a:xfrm>
          <a:prstGeom prst="rect">
            <a:avLst/>
          </a:prstGeom>
          <a:solidFill>
            <a:srgbClr val="2583FF"/>
          </a:solidFill>
          <a:ln w="0">
            <a:noFill/>
            <a:prstDash val="solid"/>
          </a:ln>
        </p:spPr>
        <p:txBody>
          <a:bodyPr/>
          <a:lstStyle/>
          <a:p>
            <a:endParaRPr lang="en-US"/>
          </a:p>
        </p:txBody>
      </p:sp>
      <p:sp>
        <p:nvSpPr>
          <p:cNvPr id="6" name="bullet-text-1">
            <a:extLst>
              <a:ext uri="{FF2B5EF4-FFF2-40B4-BE49-F238E27FC236}">
                <a16:creationId xmlns:a16="http://schemas.microsoft.com/office/drawing/2014/main" id="{6C50AF2A-056F-47C1-BE5B-98A8200A15DE}"/>
              </a:ext>
            </a:extLst>
          </p:cNvPr>
          <p:cNvSpPr>
            <a:spLocks noGrp="1"/>
          </p:cNvSpPr>
          <p:nvPr/>
        </p:nvSpPr>
        <p:spPr>
          <a:xfrm>
            <a:off x="933450" y="19812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User registration and login</a:t>
            </a:r>
          </a:p>
        </p:txBody>
      </p:sp>
      <p:sp>
        <p:nvSpPr>
          <p:cNvPr id="7" name="bullet-2">
            <a:extLst>
              <a:ext uri="{FF2B5EF4-FFF2-40B4-BE49-F238E27FC236}">
                <a16:creationId xmlns:a16="http://schemas.microsoft.com/office/drawing/2014/main" id="{DBF4BC27-79BF-4F75-8AA0-51F3D694BD80}"/>
              </a:ext>
            </a:extLst>
          </p:cNvPr>
          <p:cNvSpPr>
            <a:spLocks noGrp="1"/>
          </p:cNvSpPr>
          <p:nvPr/>
        </p:nvSpPr>
        <p:spPr>
          <a:xfrm>
            <a:off x="666750" y="2819400"/>
            <a:ext cx="95250" cy="95250"/>
          </a:xfrm>
          <a:prstGeom prst="rect">
            <a:avLst/>
          </a:prstGeom>
          <a:solidFill>
            <a:srgbClr val="2583FF"/>
          </a:solidFill>
          <a:ln w="0">
            <a:noFill/>
            <a:prstDash val="solid"/>
          </a:ln>
        </p:spPr>
        <p:txBody>
          <a:bodyPr/>
          <a:lstStyle/>
          <a:p>
            <a:endParaRPr lang="en-US"/>
          </a:p>
        </p:txBody>
      </p:sp>
      <p:sp>
        <p:nvSpPr>
          <p:cNvPr id="8" name="bullet-text-2">
            <a:extLst>
              <a:ext uri="{FF2B5EF4-FFF2-40B4-BE49-F238E27FC236}">
                <a16:creationId xmlns:a16="http://schemas.microsoft.com/office/drawing/2014/main" id="{2ACE9C0A-9565-4A80-BEC9-B54C83FDF7EF}"/>
              </a:ext>
            </a:extLst>
          </p:cNvPr>
          <p:cNvSpPr>
            <a:spLocks noGrp="1"/>
          </p:cNvSpPr>
          <p:nvPr/>
        </p:nvSpPr>
        <p:spPr>
          <a:xfrm>
            <a:off x="933450" y="272415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Product search and browsing</a:t>
            </a:r>
          </a:p>
        </p:txBody>
      </p:sp>
      <p:sp>
        <p:nvSpPr>
          <p:cNvPr id="9" name="bullet-3">
            <a:extLst>
              <a:ext uri="{FF2B5EF4-FFF2-40B4-BE49-F238E27FC236}">
                <a16:creationId xmlns:a16="http://schemas.microsoft.com/office/drawing/2014/main" id="{60558DFD-7240-4D5D-9C15-6F794EFB499B}"/>
              </a:ext>
            </a:extLst>
          </p:cNvPr>
          <p:cNvSpPr>
            <a:spLocks noGrp="1"/>
          </p:cNvSpPr>
          <p:nvPr/>
        </p:nvSpPr>
        <p:spPr>
          <a:xfrm>
            <a:off x="666750" y="3562350"/>
            <a:ext cx="95250" cy="95250"/>
          </a:xfrm>
          <a:prstGeom prst="rect">
            <a:avLst/>
          </a:prstGeom>
          <a:solidFill>
            <a:srgbClr val="2583FF"/>
          </a:solidFill>
          <a:ln w="0">
            <a:noFill/>
            <a:prstDash val="solid"/>
          </a:ln>
        </p:spPr>
        <p:txBody>
          <a:bodyPr/>
          <a:lstStyle/>
          <a:p>
            <a:endParaRPr lang="en-US"/>
          </a:p>
        </p:txBody>
      </p:sp>
      <p:sp>
        <p:nvSpPr>
          <p:cNvPr id="10" name="bullet-text-3">
            <a:extLst>
              <a:ext uri="{FF2B5EF4-FFF2-40B4-BE49-F238E27FC236}">
                <a16:creationId xmlns:a16="http://schemas.microsoft.com/office/drawing/2014/main" id="{8D1301A1-0634-4E62-B10E-0CA73CCB1DFE}"/>
              </a:ext>
            </a:extLst>
          </p:cNvPr>
          <p:cNvSpPr>
            <a:spLocks noGrp="1"/>
          </p:cNvSpPr>
          <p:nvPr/>
        </p:nvSpPr>
        <p:spPr>
          <a:xfrm>
            <a:off x="933450" y="34671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Shopping cart and checkout</a:t>
            </a:r>
          </a:p>
        </p:txBody>
      </p:sp>
      <p:sp>
        <p:nvSpPr>
          <p:cNvPr id="11" name="column-rule">
            <a:extLst>
              <a:ext uri="{FF2B5EF4-FFF2-40B4-BE49-F238E27FC236}">
                <a16:creationId xmlns:a16="http://schemas.microsoft.com/office/drawing/2014/main" id="{A49F2155-41AB-4047-9010-0A83D9DBEE09}"/>
              </a:ext>
            </a:extLst>
          </p:cNvPr>
          <p:cNvSpPr>
            <a:spLocks noGrp="1"/>
          </p:cNvSpPr>
          <p:nvPr/>
        </p:nvSpPr>
        <p:spPr>
          <a:xfrm>
            <a:off x="6076950" y="1866900"/>
            <a:ext cx="19050" cy="3429000"/>
          </a:xfrm>
          <a:prstGeom prst="rect">
            <a:avLst/>
          </a:prstGeom>
          <a:solidFill>
            <a:srgbClr val="C9CED6"/>
          </a:solidFill>
          <a:ln w="0">
            <a:noFill/>
            <a:prstDash val="solid"/>
          </a:ln>
        </p:spPr>
        <p:txBody>
          <a:bodyPr/>
          <a:lstStyle/>
          <a:p>
            <a:endParaRPr lang="en-US"/>
          </a:p>
        </p:txBody>
      </p:sp>
      <p:sp>
        <p:nvSpPr>
          <p:cNvPr id="12" name="bullet-1">
            <a:extLst>
              <a:ext uri="{FF2B5EF4-FFF2-40B4-BE49-F238E27FC236}">
                <a16:creationId xmlns:a16="http://schemas.microsoft.com/office/drawing/2014/main" id="{2A71C0A0-5B9B-42F5-9CEA-A8B846BC3BB9}"/>
              </a:ext>
            </a:extLst>
          </p:cNvPr>
          <p:cNvSpPr>
            <a:spLocks noGrp="1"/>
          </p:cNvSpPr>
          <p:nvPr/>
        </p:nvSpPr>
        <p:spPr>
          <a:xfrm>
            <a:off x="6591300" y="2076450"/>
            <a:ext cx="95250" cy="95250"/>
          </a:xfrm>
          <a:prstGeom prst="rect">
            <a:avLst/>
          </a:prstGeom>
          <a:solidFill>
            <a:srgbClr val="2583FF"/>
          </a:solidFill>
          <a:ln w="0">
            <a:noFill/>
            <a:prstDash val="solid"/>
          </a:ln>
        </p:spPr>
        <p:txBody>
          <a:bodyPr/>
          <a:lstStyle/>
          <a:p>
            <a:endParaRPr lang="en-US"/>
          </a:p>
        </p:txBody>
      </p:sp>
      <p:sp>
        <p:nvSpPr>
          <p:cNvPr id="13" name="bullet-text-1">
            <a:extLst>
              <a:ext uri="{FF2B5EF4-FFF2-40B4-BE49-F238E27FC236}">
                <a16:creationId xmlns:a16="http://schemas.microsoft.com/office/drawing/2014/main" id="{316968CD-0F41-47FA-A04C-C6D78BF6DC61}"/>
              </a:ext>
            </a:extLst>
          </p:cNvPr>
          <p:cNvSpPr>
            <a:spLocks noGrp="1"/>
          </p:cNvSpPr>
          <p:nvPr/>
        </p:nvSpPr>
        <p:spPr>
          <a:xfrm>
            <a:off x="6858000" y="198120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Order tracking and account management</a:t>
            </a:r>
          </a:p>
        </p:txBody>
      </p:sp>
      <p:sp>
        <p:nvSpPr>
          <p:cNvPr id="14" name="bullet-2">
            <a:extLst>
              <a:ext uri="{FF2B5EF4-FFF2-40B4-BE49-F238E27FC236}">
                <a16:creationId xmlns:a16="http://schemas.microsoft.com/office/drawing/2014/main" id="{48D9189F-C327-48A3-B871-98A2ED72EE66}"/>
              </a:ext>
            </a:extLst>
          </p:cNvPr>
          <p:cNvSpPr>
            <a:spLocks noGrp="1"/>
          </p:cNvSpPr>
          <p:nvPr/>
        </p:nvSpPr>
        <p:spPr>
          <a:xfrm>
            <a:off x="6591300" y="2819400"/>
            <a:ext cx="95250" cy="95250"/>
          </a:xfrm>
          <a:prstGeom prst="rect">
            <a:avLst/>
          </a:prstGeom>
          <a:solidFill>
            <a:srgbClr val="2583FF"/>
          </a:solidFill>
          <a:ln w="0">
            <a:noFill/>
            <a:prstDash val="solid"/>
          </a:ln>
        </p:spPr>
        <p:txBody>
          <a:bodyPr/>
          <a:lstStyle/>
          <a:p>
            <a:endParaRPr lang="en-US"/>
          </a:p>
        </p:txBody>
      </p:sp>
      <p:sp>
        <p:nvSpPr>
          <p:cNvPr id="15" name="bullet-text-2">
            <a:extLst>
              <a:ext uri="{FF2B5EF4-FFF2-40B4-BE49-F238E27FC236}">
                <a16:creationId xmlns:a16="http://schemas.microsoft.com/office/drawing/2014/main" id="{0261ABC8-9D46-4124-A5BC-B35E02935F31}"/>
              </a:ext>
            </a:extLst>
          </p:cNvPr>
          <p:cNvSpPr>
            <a:spLocks noGrp="1"/>
          </p:cNvSpPr>
          <p:nvPr/>
        </p:nvSpPr>
        <p:spPr>
          <a:xfrm>
            <a:off x="6858000" y="272415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Admin product and inventory management</a:t>
            </a:r>
          </a:p>
        </p:txBody>
      </p:sp>
      <p:sp>
        <p:nvSpPr>
          <p:cNvPr id="16" name="functional-rule">
            <a:extLst>
              <a:ext uri="{FF2B5EF4-FFF2-40B4-BE49-F238E27FC236}">
                <a16:creationId xmlns:a16="http://schemas.microsoft.com/office/drawing/2014/main" id="{624FA9BF-C13D-4F39-ADD9-26646211FEF3}"/>
              </a:ext>
            </a:extLst>
          </p:cNvPr>
          <p:cNvSpPr>
            <a:spLocks noGrp="1"/>
          </p:cNvSpPr>
          <p:nvPr/>
        </p:nvSpPr>
        <p:spPr>
          <a:xfrm>
            <a:off x="666750" y="5562600"/>
            <a:ext cx="10668000" cy="19050"/>
          </a:xfrm>
          <a:prstGeom prst="rect">
            <a:avLst/>
          </a:prstGeom>
          <a:solidFill>
            <a:srgbClr val="C9CED6"/>
          </a:solidFill>
          <a:ln w="0">
            <a:noFill/>
            <a:prstDash val="solid"/>
          </a:ln>
        </p:spPr>
        <p:txBody>
          <a:bodyPr/>
          <a:lstStyle/>
          <a:p>
            <a:endParaRPr lang="en-US"/>
          </a:p>
        </p:txBody>
      </p:sp>
      <p:sp>
        <p:nvSpPr>
          <p:cNvPr id="17" name="text">
            <a:extLst>
              <a:ext uri="{FF2B5EF4-FFF2-40B4-BE49-F238E27FC236}">
                <a16:creationId xmlns:a16="http://schemas.microsoft.com/office/drawing/2014/main" id="{B53A1CD2-CF8E-4191-9F37-0C271AB586C4}"/>
              </a:ext>
            </a:extLst>
          </p:cNvPr>
          <p:cNvSpPr>
            <a:spLocks noGrp="1"/>
          </p:cNvSpPr>
          <p:nvPr/>
        </p:nvSpPr>
        <p:spPr>
          <a:xfrm>
            <a:off x="666750" y="5762625"/>
            <a:ext cx="10096500" cy="342900"/>
          </a:xfrm>
          <a:prstGeom prst="rect">
            <a:avLst/>
          </a:prstGeom>
          <a:noFill/>
          <a:ln w="0">
            <a:noFill/>
            <a:prstDash val="solid"/>
          </a:ln>
        </p:spPr>
        <p:txBody>
          <a:bodyPr anchor="t"/>
          <a:lstStyle/>
          <a:p>
            <a:pPr algn="l">
              <a:defRPr sz="1650" b="1">
                <a:solidFill>
                  <a:srgbClr val="626A75"/>
                </a:solidFill>
                <a:latin typeface="Arial"/>
                <a:ea typeface="Arial"/>
                <a:cs typeface="Arial"/>
              </a:defRPr>
            </a:pPr>
            <a:r>
              <a:rPr sz="1650" b="1">
                <a:solidFill>
                  <a:srgbClr val="626A75"/>
                </a:solidFill>
                <a:latin typeface="Arial"/>
                <a:ea typeface="Arial"/>
                <a:cs typeface="Arial"/>
              </a:rPr>
              <a:t>Functional requirements translate customer and business needs into observable system behaviors.</a:t>
            </a:r>
          </a:p>
        </p:txBody>
      </p:sp>
    </p:spTree>
    <p:extLst>
      <p:ext uri="{BB962C8B-B14F-4D97-AF65-F5344CB8AC3E}">
        <p14:creationId xmlns:p14="http://schemas.microsoft.com/office/powerpoint/2010/main" val="88295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eyebrow">
            <a:extLst>
              <a:ext uri="{FF2B5EF4-FFF2-40B4-BE49-F238E27FC236}">
                <a16:creationId xmlns:a16="http://schemas.microsoft.com/office/drawing/2014/main" id="{177375E7-89F8-4FB3-8386-1B9A500AFA66}"/>
              </a:ext>
            </a:extLst>
          </p:cNvPr>
          <p:cNvSpPr>
            <a:spLocks noGrp="1"/>
          </p:cNvSpPr>
          <p:nvPr/>
        </p:nvSpPr>
        <p:spPr>
          <a:xfrm>
            <a:off x="457200" y="323850"/>
            <a:ext cx="3238500" cy="285750"/>
          </a:xfrm>
          <a:prstGeom prst="rect">
            <a:avLst/>
          </a:prstGeom>
          <a:noFill/>
          <a:ln w="0">
            <a:noFill/>
            <a:prstDash val="solid"/>
          </a:ln>
        </p:spPr>
        <p:txBody>
          <a:bodyPr anchor="t"/>
          <a:lstStyle/>
          <a:p>
            <a:pPr algn="l">
              <a:defRPr sz="1200" b="1">
                <a:solidFill>
                  <a:srgbClr val="2583FF"/>
                </a:solidFill>
                <a:latin typeface="Arial"/>
                <a:ea typeface="Arial"/>
                <a:cs typeface="Arial"/>
              </a:defRPr>
            </a:pPr>
            <a:r>
              <a:rPr sz="1200" b="1">
                <a:solidFill>
                  <a:srgbClr val="2583FF"/>
                </a:solidFill>
                <a:latin typeface="Arial"/>
                <a:ea typeface="Arial"/>
                <a:cs typeface="Arial"/>
              </a:rPr>
              <a:t>HOW THE SYSTEM WILL BE BUILT</a:t>
            </a:r>
          </a:p>
        </p:txBody>
      </p:sp>
      <p:sp>
        <p:nvSpPr>
          <p:cNvPr id="2" name="slide-title">
            <a:extLst>
              <a:ext uri="{FF2B5EF4-FFF2-40B4-BE49-F238E27FC236}">
                <a16:creationId xmlns:a16="http://schemas.microsoft.com/office/drawing/2014/main" id="{61C1A9C2-2C9F-4090-8E61-E16FE3E1A394}"/>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Technical Specifications</a:t>
            </a:r>
          </a:p>
        </p:txBody>
      </p:sp>
      <p:sp>
        <p:nvSpPr>
          <p:cNvPr id="3" name="title-rule">
            <a:extLst>
              <a:ext uri="{FF2B5EF4-FFF2-40B4-BE49-F238E27FC236}">
                <a16:creationId xmlns:a16="http://schemas.microsoft.com/office/drawing/2014/main" id="{D1276988-D697-4AAB-AC06-D36E3709EE83}"/>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C8DE51A1-9E6E-4E42-A270-1C50435BBE2A}"/>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09</a:t>
            </a:r>
          </a:p>
        </p:txBody>
      </p:sp>
      <p:sp>
        <p:nvSpPr>
          <p:cNvPr id="5" name="bullet-1">
            <a:extLst>
              <a:ext uri="{FF2B5EF4-FFF2-40B4-BE49-F238E27FC236}">
                <a16:creationId xmlns:a16="http://schemas.microsoft.com/office/drawing/2014/main" id="{D712CF46-3186-4392-8647-EA7C6BECFF28}"/>
              </a:ext>
            </a:extLst>
          </p:cNvPr>
          <p:cNvSpPr>
            <a:spLocks noGrp="1"/>
          </p:cNvSpPr>
          <p:nvPr/>
        </p:nvSpPr>
        <p:spPr>
          <a:xfrm>
            <a:off x="666750" y="2076450"/>
            <a:ext cx="95250" cy="95250"/>
          </a:xfrm>
          <a:prstGeom prst="rect">
            <a:avLst/>
          </a:prstGeom>
          <a:solidFill>
            <a:srgbClr val="2583FF"/>
          </a:solidFill>
          <a:ln w="0">
            <a:noFill/>
            <a:prstDash val="solid"/>
          </a:ln>
        </p:spPr>
        <p:txBody>
          <a:bodyPr/>
          <a:lstStyle/>
          <a:p>
            <a:endParaRPr lang="en-US"/>
          </a:p>
        </p:txBody>
      </p:sp>
      <p:sp>
        <p:nvSpPr>
          <p:cNvPr id="6" name="bullet-text-1">
            <a:extLst>
              <a:ext uri="{FF2B5EF4-FFF2-40B4-BE49-F238E27FC236}">
                <a16:creationId xmlns:a16="http://schemas.microsoft.com/office/drawing/2014/main" id="{D65EA480-111F-405C-8954-77D1449CAC15}"/>
              </a:ext>
            </a:extLst>
          </p:cNvPr>
          <p:cNvSpPr>
            <a:spLocks noGrp="1"/>
          </p:cNvSpPr>
          <p:nvPr/>
        </p:nvSpPr>
        <p:spPr>
          <a:xfrm>
            <a:off x="933450" y="19812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System architecture and database design</a:t>
            </a:r>
          </a:p>
        </p:txBody>
      </p:sp>
      <p:sp>
        <p:nvSpPr>
          <p:cNvPr id="7" name="bullet-2">
            <a:extLst>
              <a:ext uri="{FF2B5EF4-FFF2-40B4-BE49-F238E27FC236}">
                <a16:creationId xmlns:a16="http://schemas.microsoft.com/office/drawing/2014/main" id="{57846A49-707B-43C1-9095-A0D778F8878C}"/>
              </a:ext>
            </a:extLst>
          </p:cNvPr>
          <p:cNvSpPr>
            <a:spLocks noGrp="1"/>
          </p:cNvSpPr>
          <p:nvPr/>
        </p:nvSpPr>
        <p:spPr>
          <a:xfrm>
            <a:off x="666750" y="2819400"/>
            <a:ext cx="95250" cy="95250"/>
          </a:xfrm>
          <a:prstGeom prst="rect">
            <a:avLst/>
          </a:prstGeom>
          <a:solidFill>
            <a:srgbClr val="2583FF"/>
          </a:solidFill>
          <a:ln w="0">
            <a:noFill/>
            <a:prstDash val="solid"/>
          </a:ln>
        </p:spPr>
        <p:txBody>
          <a:bodyPr/>
          <a:lstStyle/>
          <a:p>
            <a:endParaRPr lang="en-US"/>
          </a:p>
        </p:txBody>
      </p:sp>
      <p:sp>
        <p:nvSpPr>
          <p:cNvPr id="8" name="bullet-text-2">
            <a:extLst>
              <a:ext uri="{FF2B5EF4-FFF2-40B4-BE49-F238E27FC236}">
                <a16:creationId xmlns:a16="http://schemas.microsoft.com/office/drawing/2014/main" id="{69FC8766-2BD3-4CD1-ACEB-DFB23ACF4E18}"/>
              </a:ext>
            </a:extLst>
          </p:cNvPr>
          <p:cNvSpPr>
            <a:spLocks noGrp="1"/>
          </p:cNvSpPr>
          <p:nvPr/>
        </p:nvSpPr>
        <p:spPr>
          <a:xfrm>
            <a:off x="933450" y="272415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APIs and backend integration</a:t>
            </a:r>
          </a:p>
        </p:txBody>
      </p:sp>
      <p:sp>
        <p:nvSpPr>
          <p:cNvPr id="9" name="bullet-3">
            <a:extLst>
              <a:ext uri="{FF2B5EF4-FFF2-40B4-BE49-F238E27FC236}">
                <a16:creationId xmlns:a16="http://schemas.microsoft.com/office/drawing/2014/main" id="{5C51CEB3-C705-4E77-BF26-FC292E31A460}"/>
              </a:ext>
            </a:extLst>
          </p:cNvPr>
          <p:cNvSpPr>
            <a:spLocks noGrp="1"/>
          </p:cNvSpPr>
          <p:nvPr/>
        </p:nvSpPr>
        <p:spPr>
          <a:xfrm>
            <a:off x="666750" y="3562350"/>
            <a:ext cx="95250" cy="95250"/>
          </a:xfrm>
          <a:prstGeom prst="rect">
            <a:avLst/>
          </a:prstGeom>
          <a:solidFill>
            <a:srgbClr val="2583FF"/>
          </a:solidFill>
          <a:ln w="0">
            <a:noFill/>
            <a:prstDash val="solid"/>
          </a:ln>
        </p:spPr>
        <p:txBody>
          <a:bodyPr/>
          <a:lstStyle/>
          <a:p>
            <a:endParaRPr lang="en-US"/>
          </a:p>
        </p:txBody>
      </p:sp>
      <p:sp>
        <p:nvSpPr>
          <p:cNvPr id="10" name="bullet-text-3">
            <a:extLst>
              <a:ext uri="{FF2B5EF4-FFF2-40B4-BE49-F238E27FC236}">
                <a16:creationId xmlns:a16="http://schemas.microsoft.com/office/drawing/2014/main" id="{EAFA3041-5E55-4248-B001-910EB96C767B}"/>
              </a:ext>
            </a:extLst>
          </p:cNvPr>
          <p:cNvSpPr>
            <a:spLocks noGrp="1"/>
          </p:cNvSpPr>
          <p:nvPr/>
        </p:nvSpPr>
        <p:spPr>
          <a:xfrm>
            <a:off x="933450" y="34671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Security controls and authentication</a:t>
            </a:r>
          </a:p>
        </p:txBody>
      </p:sp>
      <p:sp>
        <p:nvSpPr>
          <p:cNvPr id="11" name="column-rule">
            <a:extLst>
              <a:ext uri="{FF2B5EF4-FFF2-40B4-BE49-F238E27FC236}">
                <a16:creationId xmlns:a16="http://schemas.microsoft.com/office/drawing/2014/main" id="{825470C2-4BE9-4239-B967-FD5ED2B964A8}"/>
              </a:ext>
            </a:extLst>
          </p:cNvPr>
          <p:cNvSpPr>
            <a:spLocks noGrp="1"/>
          </p:cNvSpPr>
          <p:nvPr/>
        </p:nvSpPr>
        <p:spPr>
          <a:xfrm>
            <a:off x="6076950" y="1866900"/>
            <a:ext cx="19050" cy="3429000"/>
          </a:xfrm>
          <a:prstGeom prst="rect">
            <a:avLst/>
          </a:prstGeom>
          <a:solidFill>
            <a:srgbClr val="C9CED6"/>
          </a:solidFill>
          <a:ln w="0">
            <a:noFill/>
            <a:prstDash val="solid"/>
          </a:ln>
        </p:spPr>
        <p:txBody>
          <a:bodyPr/>
          <a:lstStyle/>
          <a:p>
            <a:endParaRPr lang="en-US"/>
          </a:p>
        </p:txBody>
      </p:sp>
      <p:sp>
        <p:nvSpPr>
          <p:cNvPr id="12" name="bullet-1">
            <a:extLst>
              <a:ext uri="{FF2B5EF4-FFF2-40B4-BE49-F238E27FC236}">
                <a16:creationId xmlns:a16="http://schemas.microsoft.com/office/drawing/2014/main" id="{63C9AC1E-D457-4B86-A06D-2BE8BD3026FC}"/>
              </a:ext>
            </a:extLst>
          </p:cNvPr>
          <p:cNvSpPr>
            <a:spLocks noGrp="1"/>
          </p:cNvSpPr>
          <p:nvPr/>
        </p:nvSpPr>
        <p:spPr>
          <a:xfrm>
            <a:off x="6591300" y="2076450"/>
            <a:ext cx="95250" cy="95250"/>
          </a:xfrm>
          <a:prstGeom prst="rect">
            <a:avLst/>
          </a:prstGeom>
          <a:solidFill>
            <a:srgbClr val="2583FF"/>
          </a:solidFill>
          <a:ln w="0">
            <a:noFill/>
            <a:prstDash val="solid"/>
          </a:ln>
        </p:spPr>
        <p:txBody>
          <a:bodyPr/>
          <a:lstStyle/>
          <a:p>
            <a:endParaRPr lang="en-US"/>
          </a:p>
        </p:txBody>
      </p:sp>
      <p:sp>
        <p:nvSpPr>
          <p:cNvPr id="13" name="bullet-text-1">
            <a:extLst>
              <a:ext uri="{FF2B5EF4-FFF2-40B4-BE49-F238E27FC236}">
                <a16:creationId xmlns:a16="http://schemas.microsoft.com/office/drawing/2014/main" id="{1B120AC9-0764-4EE9-8596-DDDF820A493C}"/>
              </a:ext>
            </a:extLst>
          </p:cNvPr>
          <p:cNvSpPr>
            <a:spLocks noGrp="1"/>
          </p:cNvSpPr>
          <p:nvPr/>
        </p:nvSpPr>
        <p:spPr>
          <a:xfrm>
            <a:off x="6858000" y="198120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Performance and scalability requirements</a:t>
            </a:r>
          </a:p>
        </p:txBody>
      </p:sp>
      <p:sp>
        <p:nvSpPr>
          <p:cNvPr id="14" name="bullet-2">
            <a:extLst>
              <a:ext uri="{FF2B5EF4-FFF2-40B4-BE49-F238E27FC236}">
                <a16:creationId xmlns:a16="http://schemas.microsoft.com/office/drawing/2014/main" id="{7AB91AFB-8B82-4EEE-95CD-EF7E6339BCC5}"/>
              </a:ext>
            </a:extLst>
          </p:cNvPr>
          <p:cNvSpPr>
            <a:spLocks noGrp="1"/>
          </p:cNvSpPr>
          <p:nvPr/>
        </p:nvSpPr>
        <p:spPr>
          <a:xfrm>
            <a:off x="6591300" y="2819400"/>
            <a:ext cx="95250" cy="95250"/>
          </a:xfrm>
          <a:prstGeom prst="rect">
            <a:avLst/>
          </a:prstGeom>
          <a:solidFill>
            <a:srgbClr val="2583FF"/>
          </a:solidFill>
          <a:ln w="0">
            <a:noFill/>
            <a:prstDash val="solid"/>
          </a:ln>
        </p:spPr>
        <p:txBody>
          <a:bodyPr/>
          <a:lstStyle/>
          <a:p>
            <a:endParaRPr lang="en-US"/>
          </a:p>
        </p:txBody>
      </p:sp>
      <p:sp>
        <p:nvSpPr>
          <p:cNvPr id="15" name="bullet-text-2">
            <a:extLst>
              <a:ext uri="{FF2B5EF4-FFF2-40B4-BE49-F238E27FC236}">
                <a16:creationId xmlns:a16="http://schemas.microsoft.com/office/drawing/2014/main" id="{D3D3A640-9819-4697-A3A2-6C5DEED287B5}"/>
              </a:ext>
            </a:extLst>
          </p:cNvPr>
          <p:cNvSpPr>
            <a:spLocks noGrp="1"/>
          </p:cNvSpPr>
          <p:nvPr/>
        </p:nvSpPr>
        <p:spPr>
          <a:xfrm>
            <a:off x="6858000" y="272415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Hosting and deployment considerations</a:t>
            </a:r>
          </a:p>
        </p:txBody>
      </p:sp>
      <p:sp>
        <p:nvSpPr>
          <p:cNvPr id="16" name="technical-rule">
            <a:extLst>
              <a:ext uri="{FF2B5EF4-FFF2-40B4-BE49-F238E27FC236}">
                <a16:creationId xmlns:a16="http://schemas.microsoft.com/office/drawing/2014/main" id="{654513AE-CB71-4BB7-ACE7-6C5FBBDD58D9}"/>
              </a:ext>
            </a:extLst>
          </p:cNvPr>
          <p:cNvSpPr>
            <a:spLocks noGrp="1"/>
          </p:cNvSpPr>
          <p:nvPr/>
        </p:nvSpPr>
        <p:spPr>
          <a:xfrm>
            <a:off x="666750" y="5562600"/>
            <a:ext cx="10668000" cy="19050"/>
          </a:xfrm>
          <a:prstGeom prst="rect">
            <a:avLst/>
          </a:prstGeom>
          <a:solidFill>
            <a:srgbClr val="C9CED6"/>
          </a:solidFill>
          <a:ln w="0">
            <a:noFill/>
            <a:prstDash val="solid"/>
          </a:ln>
        </p:spPr>
        <p:txBody>
          <a:bodyPr/>
          <a:lstStyle/>
          <a:p>
            <a:endParaRPr lang="en-US"/>
          </a:p>
        </p:txBody>
      </p:sp>
      <p:sp>
        <p:nvSpPr>
          <p:cNvPr id="17" name="text">
            <a:extLst>
              <a:ext uri="{FF2B5EF4-FFF2-40B4-BE49-F238E27FC236}">
                <a16:creationId xmlns:a16="http://schemas.microsoft.com/office/drawing/2014/main" id="{3242952A-7A21-451B-BA82-C9C6C1B703AA}"/>
              </a:ext>
            </a:extLst>
          </p:cNvPr>
          <p:cNvSpPr>
            <a:spLocks noGrp="1"/>
          </p:cNvSpPr>
          <p:nvPr/>
        </p:nvSpPr>
        <p:spPr>
          <a:xfrm>
            <a:off x="666750" y="5762625"/>
            <a:ext cx="10287000" cy="361950"/>
          </a:xfrm>
          <a:prstGeom prst="rect">
            <a:avLst/>
          </a:prstGeom>
          <a:noFill/>
          <a:ln w="0">
            <a:noFill/>
            <a:prstDash val="solid"/>
          </a:ln>
        </p:spPr>
        <p:txBody>
          <a:bodyPr anchor="t"/>
          <a:lstStyle/>
          <a:p>
            <a:pPr algn="l">
              <a:defRPr sz="1650" b="1">
                <a:solidFill>
                  <a:srgbClr val="626A75"/>
                </a:solidFill>
                <a:latin typeface="Arial"/>
                <a:ea typeface="Arial"/>
                <a:cs typeface="Arial"/>
              </a:defRPr>
            </a:pPr>
            <a:r>
              <a:rPr sz="1650" b="1">
                <a:solidFill>
                  <a:srgbClr val="626A75"/>
                </a:solidFill>
                <a:latin typeface="Arial"/>
                <a:ea typeface="Arial"/>
                <a:cs typeface="Arial"/>
              </a:rPr>
              <a:t>Technical specifications give developers the blueprint for a reliable, scalable, and secure implementation.</a:t>
            </a:r>
          </a:p>
        </p:txBody>
      </p:sp>
    </p:spTree>
    <p:extLst>
      <p:ext uri="{BB962C8B-B14F-4D97-AF65-F5344CB8AC3E}">
        <p14:creationId xmlns:p14="http://schemas.microsoft.com/office/powerpoint/2010/main" val="20769259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5F55EFBB-273B-4DFA-95AA-B8C020494A72}"/>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System Analysis</a:t>
            </a:r>
          </a:p>
        </p:txBody>
      </p:sp>
      <p:sp>
        <p:nvSpPr>
          <p:cNvPr id="3" name="title-rule">
            <a:extLst>
              <a:ext uri="{FF2B5EF4-FFF2-40B4-BE49-F238E27FC236}">
                <a16:creationId xmlns:a16="http://schemas.microsoft.com/office/drawing/2014/main" id="{290FF304-DA61-4D14-BC85-9A9B0342396D}"/>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50E6F503-B187-43EC-B557-BCD41739194B}"/>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10</a:t>
            </a:r>
          </a:p>
        </p:txBody>
      </p:sp>
      <p:sp>
        <p:nvSpPr>
          <p:cNvPr id="5" name="metric-1">
            <a:extLst>
              <a:ext uri="{FF2B5EF4-FFF2-40B4-BE49-F238E27FC236}">
                <a16:creationId xmlns:a16="http://schemas.microsoft.com/office/drawing/2014/main" id="{F23D2790-675D-48C7-A929-D198EEEA0580}"/>
              </a:ext>
            </a:extLst>
          </p:cNvPr>
          <p:cNvSpPr>
            <a:spLocks noGrp="1"/>
          </p:cNvSpPr>
          <p:nvPr/>
        </p:nvSpPr>
        <p:spPr>
          <a:xfrm>
            <a:off x="6096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01</a:t>
            </a:r>
          </a:p>
        </p:txBody>
      </p:sp>
      <p:sp>
        <p:nvSpPr>
          <p:cNvPr id="6" name="metric-label-1">
            <a:extLst>
              <a:ext uri="{FF2B5EF4-FFF2-40B4-BE49-F238E27FC236}">
                <a16:creationId xmlns:a16="http://schemas.microsoft.com/office/drawing/2014/main" id="{FC6094CC-63EE-4C02-B9F1-E8CEB6EDF6A4}"/>
              </a:ext>
            </a:extLst>
          </p:cNvPr>
          <p:cNvSpPr>
            <a:spLocks noGrp="1"/>
          </p:cNvSpPr>
          <p:nvPr/>
        </p:nvSpPr>
        <p:spPr>
          <a:xfrm>
            <a:off x="6096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Business needs</a:t>
            </a:r>
          </a:p>
        </p:txBody>
      </p:sp>
      <p:sp>
        <p:nvSpPr>
          <p:cNvPr id="7" name="metric-2">
            <a:extLst>
              <a:ext uri="{FF2B5EF4-FFF2-40B4-BE49-F238E27FC236}">
                <a16:creationId xmlns:a16="http://schemas.microsoft.com/office/drawing/2014/main" id="{822A832A-D9B0-4F62-9200-222D1FE8661C}"/>
              </a:ext>
            </a:extLst>
          </p:cNvPr>
          <p:cNvSpPr>
            <a:spLocks noGrp="1"/>
          </p:cNvSpPr>
          <p:nvPr/>
        </p:nvSpPr>
        <p:spPr>
          <a:xfrm>
            <a:off x="27432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02</a:t>
            </a:r>
          </a:p>
        </p:txBody>
      </p:sp>
      <p:sp>
        <p:nvSpPr>
          <p:cNvPr id="8" name="metric-label-2">
            <a:extLst>
              <a:ext uri="{FF2B5EF4-FFF2-40B4-BE49-F238E27FC236}">
                <a16:creationId xmlns:a16="http://schemas.microsoft.com/office/drawing/2014/main" id="{481FAB4C-C03A-45B4-97BE-EA26BEE80E5D}"/>
              </a:ext>
            </a:extLst>
          </p:cNvPr>
          <p:cNvSpPr>
            <a:spLocks noGrp="1"/>
          </p:cNvSpPr>
          <p:nvPr/>
        </p:nvSpPr>
        <p:spPr>
          <a:xfrm>
            <a:off x="27432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Inputs, outputs &amp; workflows</a:t>
            </a:r>
          </a:p>
        </p:txBody>
      </p:sp>
      <p:sp>
        <p:nvSpPr>
          <p:cNvPr id="9" name="metric-3">
            <a:extLst>
              <a:ext uri="{FF2B5EF4-FFF2-40B4-BE49-F238E27FC236}">
                <a16:creationId xmlns:a16="http://schemas.microsoft.com/office/drawing/2014/main" id="{13AB3337-681C-486D-BCB5-3561054341A6}"/>
              </a:ext>
            </a:extLst>
          </p:cNvPr>
          <p:cNvSpPr>
            <a:spLocks noGrp="1"/>
          </p:cNvSpPr>
          <p:nvPr/>
        </p:nvSpPr>
        <p:spPr>
          <a:xfrm>
            <a:off x="48768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03</a:t>
            </a:r>
          </a:p>
        </p:txBody>
      </p:sp>
      <p:sp>
        <p:nvSpPr>
          <p:cNvPr id="10" name="metric-label-3">
            <a:extLst>
              <a:ext uri="{FF2B5EF4-FFF2-40B4-BE49-F238E27FC236}">
                <a16:creationId xmlns:a16="http://schemas.microsoft.com/office/drawing/2014/main" id="{4CB79C36-46C0-4345-8469-41B712CB8431}"/>
              </a:ext>
            </a:extLst>
          </p:cNvPr>
          <p:cNvSpPr>
            <a:spLocks noGrp="1"/>
          </p:cNvSpPr>
          <p:nvPr/>
        </p:nvSpPr>
        <p:spPr>
          <a:xfrm>
            <a:off x="48768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User interactions</a:t>
            </a:r>
          </a:p>
        </p:txBody>
      </p:sp>
      <p:sp>
        <p:nvSpPr>
          <p:cNvPr id="11" name="metric-4">
            <a:extLst>
              <a:ext uri="{FF2B5EF4-FFF2-40B4-BE49-F238E27FC236}">
                <a16:creationId xmlns:a16="http://schemas.microsoft.com/office/drawing/2014/main" id="{C91A2E5A-D088-411C-A566-095B8395095A}"/>
              </a:ext>
            </a:extLst>
          </p:cNvPr>
          <p:cNvSpPr>
            <a:spLocks noGrp="1"/>
          </p:cNvSpPr>
          <p:nvPr/>
        </p:nvSpPr>
        <p:spPr>
          <a:xfrm>
            <a:off x="70104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04</a:t>
            </a:r>
          </a:p>
        </p:txBody>
      </p:sp>
      <p:sp>
        <p:nvSpPr>
          <p:cNvPr id="12" name="metric-label-4">
            <a:extLst>
              <a:ext uri="{FF2B5EF4-FFF2-40B4-BE49-F238E27FC236}">
                <a16:creationId xmlns:a16="http://schemas.microsoft.com/office/drawing/2014/main" id="{BAD099E4-F594-4691-8473-2E23797476B1}"/>
              </a:ext>
            </a:extLst>
          </p:cNvPr>
          <p:cNvSpPr>
            <a:spLocks noGrp="1"/>
          </p:cNvSpPr>
          <p:nvPr/>
        </p:nvSpPr>
        <p:spPr>
          <a:xfrm>
            <a:off x="70104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Constraints &amp; risks</a:t>
            </a:r>
          </a:p>
        </p:txBody>
      </p:sp>
      <p:sp>
        <p:nvSpPr>
          <p:cNvPr id="13" name="metric-5">
            <a:extLst>
              <a:ext uri="{FF2B5EF4-FFF2-40B4-BE49-F238E27FC236}">
                <a16:creationId xmlns:a16="http://schemas.microsoft.com/office/drawing/2014/main" id="{5A5EDD17-356B-420F-88FD-3575737232A2}"/>
              </a:ext>
            </a:extLst>
          </p:cNvPr>
          <p:cNvSpPr>
            <a:spLocks noGrp="1"/>
          </p:cNvSpPr>
          <p:nvPr/>
        </p:nvSpPr>
        <p:spPr>
          <a:xfrm>
            <a:off x="9144000" y="1962150"/>
            <a:ext cx="666750" cy="533400"/>
          </a:xfrm>
          <a:prstGeom prst="rect">
            <a:avLst/>
          </a:prstGeom>
          <a:noFill/>
          <a:ln w="0">
            <a:noFill/>
            <a:prstDash val="solid"/>
          </a:ln>
        </p:spPr>
        <p:txBody>
          <a:bodyPr anchor="t"/>
          <a:lstStyle/>
          <a:p>
            <a:pPr algn="l">
              <a:defRPr sz="2550" b="1">
                <a:solidFill>
                  <a:srgbClr val="2583FF"/>
                </a:solidFill>
                <a:latin typeface="Arial"/>
                <a:ea typeface="Arial"/>
                <a:cs typeface="Arial"/>
              </a:defRPr>
            </a:pPr>
            <a:r>
              <a:rPr sz="2550" b="1">
                <a:solidFill>
                  <a:srgbClr val="2583FF"/>
                </a:solidFill>
                <a:latin typeface="Arial"/>
                <a:ea typeface="Arial"/>
                <a:cs typeface="Arial"/>
              </a:rPr>
              <a:t>05</a:t>
            </a:r>
          </a:p>
        </p:txBody>
      </p:sp>
      <p:sp>
        <p:nvSpPr>
          <p:cNvPr id="14" name="metric-label-5">
            <a:extLst>
              <a:ext uri="{FF2B5EF4-FFF2-40B4-BE49-F238E27FC236}">
                <a16:creationId xmlns:a16="http://schemas.microsoft.com/office/drawing/2014/main" id="{55A7943A-AD8C-4C8E-88A0-4011394995FA}"/>
              </a:ext>
            </a:extLst>
          </p:cNvPr>
          <p:cNvSpPr>
            <a:spLocks noGrp="1"/>
          </p:cNvSpPr>
          <p:nvPr/>
        </p:nvSpPr>
        <p:spPr>
          <a:xfrm>
            <a:off x="9144000" y="2590800"/>
            <a:ext cx="1885950" cy="904875"/>
          </a:xfrm>
          <a:prstGeom prst="rect">
            <a:avLst/>
          </a:prstGeom>
          <a:noFill/>
          <a:ln w="0">
            <a:noFill/>
            <a:prstDash val="solid"/>
          </a:ln>
        </p:spPr>
        <p:txBody>
          <a:bodyPr anchor="t"/>
          <a:lstStyle/>
          <a:p>
            <a:pPr algn="l">
              <a:defRPr sz="1725" b="1">
                <a:solidFill>
                  <a:srgbClr val="111318"/>
                </a:solidFill>
                <a:latin typeface="Arial"/>
                <a:ea typeface="Arial"/>
                <a:cs typeface="Arial"/>
              </a:defRPr>
            </a:pPr>
            <a:r>
              <a:rPr sz="1725" b="1">
                <a:solidFill>
                  <a:srgbClr val="111318"/>
                </a:solidFill>
                <a:latin typeface="Arial"/>
                <a:ea typeface="Arial"/>
                <a:cs typeface="Arial"/>
              </a:rPr>
              <a:t>Requirements vs. objectives</a:t>
            </a:r>
          </a:p>
        </p:txBody>
      </p:sp>
      <p:sp>
        <p:nvSpPr>
          <p:cNvPr id="15" name="text">
            <a:extLst>
              <a:ext uri="{FF2B5EF4-FFF2-40B4-BE49-F238E27FC236}">
                <a16:creationId xmlns:a16="http://schemas.microsoft.com/office/drawing/2014/main" id="{26CC10CF-E551-4CF7-800A-6D351867C461}"/>
              </a:ext>
            </a:extLst>
          </p:cNvPr>
          <p:cNvSpPr>
            <a:spLocks noGrp="1"/>
          </p:cNvSpPr>
          <p:nvPr/>
        </p:nvSpPr>
        <p:spPr>
          <a:xfrm>
            <a:off x="609600" y="4533900"/>
            <a:ext cx="10287000" cy="838200"/>
          </a:xfrm>
          <a:prstGeom prst="rect">
            <a:avLst/>
          </a:prstGeom>
          <a:noFill/>
          <a:ln w="0">
            <a:noFill/>
            <a:prstDash val="solid"/>
          </a:ln>
        </p:spPr>
        <p:txBody>
          <a:bodyPr anchor="t"/>
          <a:lstStyle/>
          <a:p>
            <a:pPr algn="l">
              <a:defRPr sz="2250" b="1">
                <a:solidFill>
                  <a:srgbClr val="111318"/>
                </a:solidFill>
                <a:latin typeface="Arial"/>
                <a:ea typeface="Arial"/>
                <a:cs typeface="Arial"/>
              </a:defRPr>
            </a:pPr>
            <a:r>
              <a:rPr sz="2250" b="1">
                <a:solidFill>
                  <a:srgbClr val="111318"/>
                </a:solidFill>
                <a:latin typeface="Arial"/>
                <a:ea typeface="Arial"/>
                <a:cs typeface="Arial"/>
              </a:rPr>
              <a:t>Analysis asks whether the proposed system solves the right problem before design commits to a solution.</a:t>
            </a:r>
          </a:p>
        </p:txBody>
      </p:sp>
    </p:spTree>
    <p:extLst>
      <p:ext uri="{BB962C8B-B14F-4D97-AF65-F5344CB8AC3E}">
        <p14:creationId xmlns:p14="http://schemas.microsoft.com/office/powerpoint/2010/main" val="1419371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CA22DCCB-6D8A-4AA1-A6FE-62F891727F28}"/>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System Design</a:t>
            </a:r>
          </a:p>
        </p:txBody>
      </p:sp>
      <p:sp>
        <p:nvSpPr>
          <p:cNvPr id="3" name="title-rule">
            <a:extLst>
              <a:ext uri="{FF2B5EF4-FFF2-40B4-BE49-F238E27FC236}">
                <a16:creationId xmlns:a16="http://schemas.microsoft.com/office/drawing/2014/main" id="{9F401924-31D7-4A1D-A0AB-EAE7C148E028}"/>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9A159C0C-78AF-445A-A250-F9573D2D0901}"/>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11</a:t>
            </a:r>
          </a:p>
        </p:txBody>
      </p:sp>
      <p:sp>
        <p:nvSpPr>
          <p:cNvPr id="5" name="bullet-1">
            <a:extLst>
              <a:ext uri="{FF2B5EF4-FFF2-40B4-BE49-F238E27FC236}">
                <a16:creationId xmlns:a16="http://schemas.microsoft.com/office/drawing/2014/main" id="{3BE89A83-8A0E-4D8E-96E4-38DC1BAC9E5C}"/>
              </a:ext>
            </a:extLst>
          </p:cNvPr>
          <p:cNvSpPr>
            <a:spLocks noGrp="1"/>
          </p:cNvSpPr>
          <p:nvPr/>
        </p:nvSpPr>
        <p:spPr>
          <a:xfrm>
            <a:off x="666750" y="2076450"/>
            <a:ext cx="95250" cy="95250"/>
          </a:xfrm>
          <a:prstGeom prst="rect">
            <a:avLst/>
          </a:prstGeom>
          <a:solidFill>
            <a:srgbClr val="2583FF"/>
          </a:solidFill>
          <a:ln w="0">
            <a:noFill/>
            <a:prstDash val="solid"/>
          </a:ln>
        </p:spPr>
        <p:txBody>
          <a:bodyPr/>
          <a:lstStyle/>
          <a:p>
            <a:endParaRPr lang="en-US"/>
          </a:p>
        </p:txBody>
      </p:sp>
      <p:sp>
        <p:nvSpPr>
          <p:cNvPr id="6" name="bullet-text-1">
            <a:extLst>
              <a:ext uri="{FF2B5EF4-FFF2-40B4-BE49-F238E27FC236}">
                <a16:creationId xmlns:a16="http://schemas.microsoft.com/office/drawing/2014/main" id="{2A692968-C62B-499B-A60C-A1180654FA89}"/>
              </a:ext>
            </a:extLst>
          </p:cNvPr>
          <p:cNvSpPr>
            <a:spLocks noGrp="1"/>
          </p:cNvSpPr>
          <p:nvPr/>
        </p:nvSpPr>
        <p:spPr>
          <a:xfrm>
            <a:off x="933450" y="19812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Design system components and workflows</a:t>
            </a:r>
          </a:p>
        </p:txBody>
      </p:sp>
      <p:sp>
        <p:nvSpPr>
          <p:cNvPr id="7" name="bullet-2">
            <a:extLst>
              <a:ext uri="{FF2B5EF4-FFF2-40B4-BE49-F238E27FC236}">
                <a16:creationId xmlns:a16="http://schemas.microsoft.com/office/drawing/2014/main" id="{E043CCA4-F0C2-426D-88DE-622DF719725F}"/>
              </a:ext>
            </a:extLst>
          </p:cNvPr>
          <p:cNvSpPr>
            <a:spLocks noGrp="1"/>
          </p:cNvSpPr>
          <p:nvPr/>
        </p:nvSpPr>
        <p:spPr>
          <a:xfrm>
            <a:off x="666750" y="2819400"/>
            <a:ext cx="95250" cy="95250"/>
          </a:xfrm>
          <a:prstGeom prst="rect">
            <a:avLst/>
          </a:prstGeom>
          <a:solidFill>
            <a:srgbClr val="2583FF"/>
          </a:solidFill>
          <a:ln w="0">
            <a:noFill/>
            <a:prstDash val="solid"/>
          </a:ln>
        </p:spPr>
        <p:txBody>
          <a:bodyPr/>
          <a:lstStyle/>
          <a:p>
            <a:endParaRPr lang="en-US"/>
          </a:p>
        </p:txBody>
      </p:sp>
      <p:sp>
        <p:nvSpPr>
          <p:cNvPr id="8" name="bullet-text-2">
            <a:extLst>
              <a:ext uri="{FF2B5EF4-FFF2-40B4-BE49-F238E27FC236}">
                <a16:creationId xmlns:a16="http://schemas.microsoft.com/office/drawing/2014/main" id="{8AB1D8E5-37E1-4553-AC88-40047612916F}"/>
              </a:ext>
            </a:extLst>
          </p:cNvPr>
          <p:cNvSpPr>
            <a:spLocks noGrp="1"/>
          </p:cNvSpPr>
          <p:nvPr/>
        </p:nvSpPr>
        <p:spPr>
          <a:xfrm>
            <a:off x="933450" y="272415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Plan user interface and navigation</a:t>
            </a:r>
          </a:p>
        </p:txBody>
      </p:sp>
      <p:sp>
        <p:nvSpPr>
          <p:cNvPr id="9" name="bullet-3">
            <a:extLst>
              <a:ext uri="{FF2B5EF4-FFF2-40B4-BE49-F238E27FC236}">
                <a16:creationId xmlns:a16="http://schemas.microsoft.com/office/drawing/2014/main" id="{23D8EED4-B21C-4977-8176-DACA75144575}"/>
              </a:ext>
            </a:extLst>
          </p:cNvPr>
          <p:cNvSpPr>
            <a:spLocks noGrp="1"/>
          </p:cNvSpPr>
          <p:nvPr/>
        </p:nvSpPr>
        <p:spPr>
          <a:xfrm>
            <a:off x="666750" y="3562350"/>
            <a:ext cx="95250" cy="95250"/>
          </a:xfrm>
          <a:prstGeom prst="rect">
            <a:avLst/>
          </a:prstGeom>
          <a:solidFill>
            <a:srgbClr val="2583FF"/>
          </a:solidFill>
          <a:ln w="0">
            <a:noFill/>
            <a:prstDash val="solid"/>
          </a:ln>
        </p:spPr>
        <p:txBody>
          <a:bodyPr/>
          <a:lstStyle/>
          <a:p>
            <a:endParaRPr lang="en-US"/>
          </a:p>
        </p:txBody>
      </p:sp>
      <p:sp>
        <p:nvSpPr>
          <p:cNvPr id="10" name="bullet-text-3">
            <a:extLst>
              <a:ext uri="{FF2B5EF4-FFF2-40B4-BE49-F238E27FC236}">
                <a16:creationId xmlns:a16="http://schemas.microsoft.com/office/drawing/2014/main" id="{553A4838-A4E4-43C9-8B83-DEDD06563E0E}"/>
              </a:ext>
            </a:extLst>
          </p:cNvPr>
          <p:cNvSpPr>
            <a:spLocks noGrp="1"/>
          </p:cNvSpPr>
          <p:nvPr/>
        </p:nvSpPr>
        <p:spPr>
          <a:xfrm>
            <a:off x="933450" y="3467100"/>
            <a:ext cx="459105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Structure database and information flow</a:t>
            </a:r>
          </a:p>
        </p:txBody>
      </p:sp>
      <p:sp>
        <p:nvSpPr>
          <p:cNvPr id="11" name="column-rule">
            <a:extLst>
              <a:ext uri="{FF2B5EF4-FFF2-40B4-BE49-F238E27FC236}">
                <a16:creationId xmlns:a16="http://schemas.microsoft.com/office/drawing/2014/main" id="{EB05CF7E-3837-4355-B012-B1B44E37B7C8}"/>
              </a:ext>
            </a:extLst>
          </p:cNvPr>
          <p:cNvSpPr>
            <a:spLocks noGrp="1"/>
          </p:cNvSpPr>
          <p:nvPr/>
        </p:nvSpPr>
        <p:spPr>
          <a:xfrm>
            <a:off x="6076950" y="1866900"/>
            <a:ext cx="19050" cy="3429000"/>
          </a:xfrm>
          <a:prstGeom prst="rect">
            <a:avLst/>
          </a:prstGeom>
          <a:solidFill>
            <a:srgbClr val="C9CED6"/>
          </a:solidFill>
          <a:ln w="0">
            <a:noFill/>
            <a:prstDash val="solid"/>
          </a:ln>
        </p:spPr>
        <p:txBody>
          <a:bodyPr/>
          <a:lstStyle/>
          <a:p>
            <a:endParaRPr lang="en-US"/>
          </a:p>
        </p:txBody>
      </p:sp>
      <p:sp>
        <p:nvSpPr>
          <p:cNvPr id="12" name="bullet-1">
            <a:extLst>
              <a:ext uri="{FF2B5EF4-FFF2-40B4-BE49-F238E27FC236}">
                <a16:creationId xmlns:a16="http://schemas.microsoft.com/office/drawing/2014/main" id="{653FA3B8-AB2C-4043-9B94-426BCE157878}"/>
              </a:ext>
            </a:extLst>
          </p:cNvPr>
          <p:cNvSpPr>
            <a:spLocks noGrp="1"/>
          </p:cNvSpPr>
          <p:nvPr/>
        </p:nvSpPr>
        <p:spPr>
          <a:xfrm>
            <a:off x="6591300" y="2076450"/>
            <a:ext cx="95250" cy="95250"/>
          </a:xfrm>
          <a:prstGeom prst="rect">
            <a:avLst/>
          </a:prstGeom>
          <a:solidFill>
            <a:srgbClr val="2583FF"/>
          </a:solidFill>
          <a:ln w="0">
            <a:noFill/>
            <a:prstDash val="solid"/>
          </a:ln>
        </p:spPr>
        <p:txBody>
          <a:bodyPr/>
          <a:lstStyle/>
          <a:p>
            <a:endParaRPr lang="en-US"/>
          </a:p>
        </p:txBody>
      </p:sp>
      <p:sp>
        <p:nvSpPr>
          <p:cNvPr id="13" name="bullet-text-1">
            <a:extLst>
              <a:ext uri="{FF2B5EF4-FFF2-40B4-BE49-F238E27FC236}">
                <a16:creationId xmlns:a16="http://schemas.microsoft.com/office/drawing/2014/main" id="{1C200023-7BCC-402B-A5D2-BFDD73E102CE}"/>
              </a:ext>
            </a:extLst>
          </p:cNvPr>
          <p:cNvSpPr>
            <a:spLocks noGrp="1"/>
          </p:cNvSpPr>
          <p:nvPr/>
        </p:nvSpPr>
        <p:spPr>
          <a:xfrm>
            <a:off x="6858000" y="198120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Address performance and usability</a:t>
            </a:r>
          </a:p>
        </p:txBody>
      </p:sp>
      <p:sp>
        <p:nvSpPr>
          <p:cNvPr id="14" name="bullet-2">
            <a:extLst>
              <a:ext uri="{FF2B5EF4-FFF2-40B4-BE49-F238E27FC236}">
                <a16:creationId xmlns:a16="http://schemas.microsoft.com/office/drawing/2014/main" id="{A3ABEE23-D345-4547-9BBA-7EB876D344EA}"/>
              </a:ext>
            </a:extLst>
          </p:cNvPr>
          <p:cNvSpPr>
            <a:spLocks noGrp="1"/>
          </p:cNvSpPr>
          <p:nvPr/>
        </p:nvSpPr>
        <p:spPr>
          <a:xfrm>
            <a:off x="6591300" y="2819400"/>
            <a:ext cx="95250" cy="95250"/>
          </a:xfrm>
          <a:prstGeom prst="rect">
            <a:avLst/>
          </a:prstGeom>
          <a:solidFill>
            <a:srgbClr val="2583FF"/>
          </a:solidFill>
          <a:ln w="0">
            <a:noFill/>
            <a:prstDash val="solid"/>
          </a:ln>
        </p:spPr>
        <p:txBody>
          <a:bodyPr/>
          <a:lstStyle/>
          <a:p>
            <a:endParaRPr lang="en-US"/>
          </a:p>
        </p:txBody>
      </p:sp>
      <p:sp>
        <p:nvSpPr>
          <p:cNvPr id="15" name="bullet-text-2">
            <a:extLst>
              <a:ext uri="{FF2B5EF4-FFF2-40B4-BE49-F238E27FC236}">
                <a16:creationId xmlns:a16="http://schemas.microsoft.com/office/drawing/2014/main" id="{13FC9F70-E4D2-409E-B0A0-15E73AF0BE31}"/>
              </a:ext>
            </a:extLst>
          </p:cNvPr>
          <p:cNvSpPr>
            <a:spLocks noGrp="1"/>
          </p:cNvSpPr>
          <p:nvPr/>
        </p:nvSpPr>
        <p:spPr>
          <a:xfrm>
            <a:off x="6858000" y="2724150"/>
            <a:ext cx="4495800" cy="7048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Prepare for implementation</a:t>
            </a:r>
          </a:p>
        </p:txBody>
      </p:sp>
    </p:spTree>
    <p:extLst>
      <p:ext uri="{BB962C8B-B14F-4D97-AF65-F5344CB8AC3E}">
        <p14:creationId xmlns:p14="http://schemas.microsoft.com/office/powerpoint/2010/main" val="3518029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3E3A16D1-B3A9-4AD9-9D8A-5F6FA63B3E53}"/>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Development Management</a:t>
            </a:r>
          </a:p>
        </p:txBody>
      </p:sp>
      <p:sp>
        <p:nvSpPr>
          <p:cNvPr id="3" name="title-rule">
            <a:extLst>
              <a:ext uri="{FF2B5EF4-FFF2-40B4-BE49-F238E27FC236}">
                <a16:creationId xmlns:a16="http://schemas.microsoft.com/office/drawing/2014/main" id="{A8807567-C930-4B8D-AAC1-3B918E8BC310}"/>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EB987C97-320B-4E7C-A9F1-21A24FAD3B91}"/>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12</a:t>
            </a:r>
          </a:p>
        </p:txBody>
      </p:sp>
      <p:sp>
        <p:nvSpPr>
          <p:cNvPr id="5" name="text">
            <a:extLst>
              <a:ext uri="{FF2B5EF4-FFF2-40B4-BE49-F238E27FC236}">
                <a16:creationId xmlns:a16="http://schemas.microsoft.com/office/drawing/2014/main" id="{38B39924-CB69-44E8-9EBB-446DAA9158C6}"/>
              </a:ext>
            </a:extLst>
          </p:cNvPr>
          <p:cNvSpPr>
            <a:spLocks noGrp="1"/>
          </p:cNvSpPr>
          <p:nvPr/>
        </p:nvSpPr>
        <p:spPr>
          <a:xfrm>
            <a:off x="609600" y="1924050"/>
            <a:ext cx="1714500" cy="28575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BALANCE</a:t>
            </a:r>
          </a:p>
        </p:txBody>
      </p:sp>
      <p:sp>
        <p:nvSpPr>
          <p:cNvPr id="6" name="text">
            <a:extLst>
              <a:ext uri="{FF2B5EF4-FFF2-40B4-BE49-F238E27FC236}">
                <a16:creationId xmlns:a16="http://schemas.microsoft.com/office/drawing/2014/main" id="{75A312B3-6916-45FF-8610-C2045B443B4C}"/>
              </a:ext>
            </a:extLst>
          </p:cNvPr>
          <p:cNvSpPr>
            <a:spLocks noGrp="1"/>
          </p:cNvSpPr>
          <p:nvPr/>
        </p:nvSpPr>
        <p:spPr>
          <a:xfrm>
            <a:off x="609600" y="2343150"/>
            <a:ext cx="2476500" cy="457200"/>
          </a:xfrm>
          <a:prstGeom prst="rect">
            <a:avLst/>
          </a:prstGeom>
          <a:noFill/>
          <a:ln w="0">
            <a:noFill/>
            <a:prstDash val="solid"/>
          </a:ln>
        </p:spPr>
        <p:txBody>
          <a:bodyPr anchor="t"/>
          <a:lstStyle/>
          <a:p>
            <a:pPr algn="l">
              <a:defRPr sz="2400" b="1">
                <a:solidFill>
                  <a:srgbClr val="111318"/>
                </a:solidFill>
                <a:latin typeface="Arial"/>
                <a:ea typeface="Arial"/>
                <a:cs typeface="Arial"/>
              </a:defRPr>
            </a:pPr>
            <a:r>
              <a:rPr sz="2400" b="1">
                <a:solidFill>
                  <a:srgbClr val="111318"/>
                </a:solidFill>
                <a:latin typeface="Arial"/>
                <a:ea typeface="Arial"/>
                <a:cs typeface="Arial"/>
              </a:rPr>
              <a:t>Quality</a:t>
            </a:r>
          </a:p>
        </p:txBody>
      </p:sp>
      <p:sp>
        <p:nvSpPr>
          <p:cNvPr id="7" name="text">
            <a:extLst>
              <a:ext uri="{FF2B5EF4-FFF2-40B4-BE49-F238E27FC236}">
                <a16:creationId xmlns:a16="http://schemas.microsoft.com/office/drawing/2014/main" id="{ADE1051A-AD92-4944-8BB3-0FF48853B422}"/>
              </a:ext>
            </a:extLst>
          </p:cNvPr>
          <p:cNvSpPr>
            <a:spLocks noGrp="1"/>
          </p:cNvSpPr>
          <p:nvPr/>
        </p:nvSpPr>
        <p:spPr>
          <a:xfrm>
            <a:off x="609600" y="3000375"/>
            <a:ext cx="2476500" cy="457200"/>
          </a:xfrm>
          <a:prstGeom prst="rect">
            <a:avLst/>
          </a:prstGeom>
          <a:noFill/>
          <a:ln w="0">
            <a:noFill/>
            <a:prstDash val="solid"/>
          </a:ln>
        </p:spPr>
        <p:txBody>
          <a:bodyPr anchor="t"/>
          <a:lstStyle/>
          <a:p>
            <a:pPr algn="l">
              <a:defRPr sz="2400" b="1">
                <a:solidFill>
                  <a:srgbClr val="111318"/>
                </a:solidFill>
                <a:latin typeface="Arial"/>
                <a:ea typeface="Arial"/>
                <a:cs typeface="Arial"/>
              </a:defRPr>
            </a:pPr>
            <a:r>
              <a:rPr sz="2400" b="1">
                <a:solidFill>
                  <a:srgbClr val="111318"/>
                </a:solidFill>
                <a:latin typeface="Arial"/>
                <a:ea typeface="Arial"/>
                <a:cs typeface="Arial"/>
              </a:rPr>
              <a:t>Cost</a:t>
            </a:r>
          </a:p>
        </p:txBody>
      </p:sp>
      <p:sp>
        <p:nvSpPr>
          <p:cNvPr id="8" name="text">
            <a:extLst>
              <a:ext uri="{FF2B5EF4-FFF2-40B4-BE49-F238E27FC236}">
                <a16:creationId xmlns:a16="http://schemas.microsoft.com/office/drawing/2014/main" id="{3EA94E12-2082-471F-86F1-598FB31C502A}"/>
              </a:ext>
            </a:extLst>
          </p:cNvPr>
          <p:cNvSpPr>
            <a:spLocks noGrp="1"/>
          </p:cNvSpPr>
          <p:nvPr/>
        </p:nvSpPr>
        <p:spPr>
          <a:xfrm>
            <a:off x="609600" y="3657600"/>
            <a:ext cx="2476500" cy="457200"/>
          </a:xfrm>
          <a:prstGeom prst="rect">
            <a:avLst/>
          </a:prstGeom>
          <a:noFill/>
          <a:ln w="0">
            <a:noFill/>
            <a:prstDash val="solid"/>
          </a:ln>
        </p:spPr>
        <p:txBody>
          <a:bodyPr anchor="t"/>
          <a:lstStyle/>
          <a:p>
            <a:pPr algn="l">
              <a:defRPr sz="2400" b="1">
                <a:solidFill>
                  <a:srgbClr val="111318"/>
                </a:solidFill>
                <a:latin typeface="Arial"/>
                <a:ea typeface="Arial"/>
                <a:cs typeface="Arial"/>
              </a:defRPr>
            </a:pPr>
            <a:r>
              <a:rPr sz="2400" b="1">
                <a:solidFill>
                  <a:srgbClr val="111318"/>
                </a:solidFill>
                <a:latin typeface="Arial"/>
                <a:ea typeface="Arial"/>
                <a:cs typeface="Arial"/>
              </a:rPr>
              <a:t>Time</a:t>
            </a:r>
          </a:p>
        </p:txBody>
      </p:sp>
      <p:sp>
        <p:nvSpPr>
          <p:cNvPr id="9" name="manage-rule">
            <a:extLst>
              <a:ext uri="{FF2B5EF4-FFF2-40B4-BE49-F238E27FC236}">
                <a16:creationId xmlns:a16="http://schemas.microsoft.com/office/drawing/2014/main" id="{1165C12A-48F5-4076-9D38-4D0D62150E56}"/>
              </a:ext>
            </a:extLst>
          </p:cNvPr>
          <p:cNvSpPr>
            <a:spLocks noGrp="1"/>
          </p:cNvSpPr>
          <p:nvPr/>
        </p:nvSpPr>
        <p:spPr>
          <a:xfrm>
            <a:off x="3333750" y="1924050"/>
            <a:ext cx="19050" cy="2857500"/>
          </a:xfrm>
          <a:prstGeom prst="rect">
            <a:avLst/>
          </a:prstGeom>
          <a:solidFill>
            <a:srgbClr val="C9CED6"/>
          </a:solidFill>
          <a:ln w="0">
            <a:noFill/>
            <a:prstDash val="solid"/>
          </a:ln>
        </p:spPr>
        <p:txBody>
          <a:bodyPr/>
          <a:lstStyle/>
          <a:p>
            <a:endParaRPr lang="en-US"/>
          </a:p>
        </p:txBody>
      </p:sp>
      <p:sp>
        <p:nvSpPr>
          <p:cNvPr id="10" name="bullet-1">
            <a:extLst>
              <a:ext uri="{FF2B5EF4-FFF2-40B4-BE49-F238E27FC236}">
                <a16:creationId xmlns:a16="http://schemas.microsoft.com/office/drawing/2014/main" id="{9EA6EE2E-DF31-4F9F-9E21-2B48EE686772}"/>
              </a:ext>
            </a:extLst>
          </p:cNvPr>
          <p:cNvSpPr>
            <a:spLocks noGrp="1"/>
          </p:cNvSpPr>
          <p:nvPr/>
        </p:nvSpPr>
        <p:spPr>
          <a:xfrm>
            <a:off x="3905250" y="2190750"/>
            <a:ext cx="95250" cy="95250"/>
          </a:xfrm>
          <a:prstGeom prst="rect">
            <a:avLst/>
          </a:prstGeom>
          <a:solidFill>
            <a:srgbClr val="2583FF"/>
          </a:solidFill>
          <a:ln w="0">
            <a:noFill/>
            <a:prstDash val="solid"/>
          </a:ln>
        </p:spPr>
        <p:txBody>
          <a:bodyPr/>
          <a:lstStyle/>
          <a:p>
            <a:endParaRPr lang="en-US"/>
          </a:p>
        </p:txBody>
      </p:sp>
      <p:sp>
        <p:nvSpPr>
          <p:cNvPr id="11" name="bullet-text-1">
            <a:extLst>
              <a:ext uri="{FF2B5EF4-FFF2-40B4-BE49-F238E27FC236}">
                <a16:creationId xmlns:a16="http://schemas.microsoft.com/office/drawing/2014/main" id="{57B0FA56-D153-4C11-A496-01C1FC042298}"/>
              </a:ext>
            </a:extLst>
          </p:cNvPr>
          <p:cNvSpPr>
            <a:spLocks noGrp="1"/>
          </p:cNvSpPr>
          <p:nvPr/>
        </p:nvSpPr>
        <p:spPr>
          <a:xfrm>
            <a:off x="4171950" y="2095500"/>
            <a:ext cx="6591300" cy="676275"/>
          </a:xfrm>
          <a:prstGeom prst="rect">
            <a:avLst/>
          </a:prstGeom>
          <a:noFill/>
          <a:ln w="0">
            <a:noFill/>
            <a:prstDash val="solid"/>
          </a:ln>
        </p:spPr>
        <p:txBody>
          <a:bodyPr anchor="t"/>
          <a:lstStyle/>
          <a:p>
            <a:pPr algn="l">
              <a:defRPr sz="1875" b="0">
                <a:solidFill>
                  <a:srgbClr val="111318"/>
                </a:solidFill>
                <a:latin typeface="Arial"/>
                <a:ea typeface="Arial"/>
                <a:cs typeface="Arial"/>
              </a:defRPr>
            </a:pPr>
            <a:r>
              <a:rPr sz="1875" b="0">
                <a:solidFill>
                  <a:srgbClr val="111318"/>
                </a:solidFill>
                <a:latin typeface="Arial"/>
                <a:ea typeface="Arial"/>
                <a:cs typeface="Arial"/>
              </a:rPr>
              <a:t>Coordinate tasks across SDLC stages</a:t>
            </a:r>
          </a:p>
        </p:txBody>
      </p:sp>
      <p:sp>
        <p:nvSpPr>
          <p:cNvPr id="12" name="bullet-2">
            <a:extLst>
              <a:ext uri="{FF2B5EF4-FFF2-40B4-BE49-F238E27FC236}">
                <a16:creationId xmlns:a16="http://schemas.microsoft.com/office/drawing/2014/main" id="{9347DC81-8D89-4E95-A9FC-076D0ED62DCF}"/>
              </a:ext>
            </a:extLst>
          </p:cNvPr>
          <p:cNvSpPr>
            <a:spLocks noGrp="1"/>
          </p:cNvSpPr>
          <p:nvPr/>
        </p:nvSpPr>
        <p:spPr>
          <a:xfrm>
            <a:off x="3905250" y="2905125"/>
            <a:ext cx="95250" cy="95250"/>
          </a:xfrm>
          <a:prstGeom prst="rect">
            <a:avLst/>
          </a:prstGeom>
          <a:solidFill>
            <a:srgbClr val="2583FF"/>
          </a:solidFill>
          <a:ln w="0">
            <a:noFill/>
            <a:prstDash val="solid"/>
          </a:ln>
        </p:spPr>
        <p:txBody>
          <a:bodyPr/>
          <a:lstStyle/>
          <a:p>
            <a:endParaRPr lang="en-US"/>
          </a:p>
        </p:txBody>
      </p:sp>
      <p:sp>
        <p:nvSpPr>
          <p:cNvPr id="13" name="bullet-text-2">
            <a:extLst>
              <a:ext uri="{FF2B5EF4-FFF2-40B4-BE49-F238E27FC236}">
                <a16:creationId xmlns:a16="http://schemas.microsoft.com/office/drawing/2014/main" id="{F590C620-E37D-4B1D-92B2-D2E7A53E922B}"/>
              </a:ext>
            </a:extLst>
          </p:cNvPr>
          <p:cNvSpPr>
            <a:spLocks noGrp="1"/>
          </p:cNvSpPr>
          <p:nvPr/>
        </p:nvSpPr>
        <p:spPr>
          <a:xfrm>
            <a:off x="4171950" y="2809875"/>
            <a:ext cx="6591300" cy="676275"/>
          </a:xfrm>
          <a:prstGeom prst="rect">
            <a:avLst/>
          </a:prstGeom>
          <a:noFill/>
          <a:ln w="0">
            <a:noFill/>
            <a:prstDash val="solid"/>
          </a:ln>
        </p:spPr>
        <p:txBody>
          <a:bodyPr anchor="t"/>
          <a:lstStyle/>
          <a:p>
            <a:pPr algn="l">
              <a:defRPr sz="1875" b="0">
                <a:solidFill>
                  <a:srgbClr val="111318"/>
                </a:solidFill>
                <a:latin typeface="Arial"/>
                <a:ea typeface="Arial"/>
                <a:cs typeface="Arial"/>
              </a:defRPr>
            </a:pPr>
            <a:r>
              <a:rPr sz="1875" b="0">
                <a:solidFill>
                  <a:srgbClr val="111318"/>
                </a:solidFill>
                <a:latin typeface="Arial"/>
                <a:ea typeface="Arial"/>
                <a:cs typeface="Arial"/>
              </a:rPr>
              <a:t>Use milestones to measure progress</a:t>
            </a:r>
          </a:p>
        </p:txBody>
      </p:sp>
      <p:sp>
        <p:nvSpPr>
          <p:cNvPr id="14" name="bullet-3">
            <a:extLst>
              <a:ext uri="{FF2B5EF4-FFF2-40B4-BE49-F238E27FC236}">
                <a16:creationId xmlns:a16="http://schemas.microsoft.com/office/drawing/2014/main" id="{5F201D68-C42F-48F9-A15F-53273A2AD07D}"/>
              </a:ext>
            </a:extLst>
          </p:cNvPr>
          <p:cNvSpPr>
            <a:spLocks noGrp="1"/>
          </p:cNvSpPr>
          <p:nvPr/>
        </p:nvSpPr>
        <p:spPr>
          <a:xfrm>
            <a:off x="3905250" y="3619500"/>
            <a:ext cx="95250" cy="95250"/>
          </a:xfrm>
          <a:prstGeom prst="rect">
            <a:avLst/>
          </a:prstGeom>
          <a:solidFill>
            <a:srgbClr val="2583FF"/>
          </a:solidFill>
          <a:ln w="0">
            <a:noFill/>
            <a:prstDash val="solid"/>
          </a:ln>
        </p:spPr>
        <p:txBody>
          <a:bodyPr/>
          <a:lstStyle/>
          <a:p>
            <a:endParaRPr lang="en-US"/>
          </a:p>
        </p:txBody>
      </p:sp>
      <p:sp>
        <p:nvSpPr>
          <p:cNvPr id="15" name="bullet-text-3">
            <a:extLst>
              <a:ext uri="{FF2B5EF4-FFF2-40B4-BE49-F238E27FC236}">
                <a16:creationId xmlns:a16="http://schemas.microsoft.com/office/drawing/2014/main" id="{396D3DA9-CA27-46E2-B08D-38B3728A6072}"/>
              </a:ext>
            </a:extLst>
          </p:cNvPr>
          <p:cNvSpPr>
            <a:spLocks noGrp="1"/>
          </p:cNvSpPr>
          <p:nvPr/>
        </p:nvSpPr>
        <p:spPr>
          <a:xfrm>
            <a:off x="4171950" y="3524250"/>
            <a:ext cx="6591300" cy="676275"/>
          </a:xfrm>
          <a:prstGeom prst="rect">
            <a:avLst/>
          </a:prstGeom>
          <a:noFill/>
          <a:ln w="0">
            <a:noFill/>
            <a:prstDash val="solid"/>
          </a:ln>
        </p:spPr>
        <p:txBody>
          <a:bodyPr anchor="t"/>
          <a:lstStyle/>
          <a:p>
            <a:pPr algn="l">
              <a:defRPr sz="1875" b="0">
                <a:solidFill>
                  <a:srgbClr val="111318"/>
                </a:solidFill>
                <a:latin typeface="Arial"/>
                <a:ea typeface="Arial"/>
                <a:cs typeface="Arial"/>
              </a:defRPr>
            </a:pPr>
            <a:r>
              <a:rPr sz="1875" b="0">
                <a:solidFill>
                  <a:srgbClr val="111318"/>
                </a:solidFill>
                <a:latin typeface="Arial"/>
                <a:ea typeface="Arial"/>
                <a:cs typeface="Arial"/>
              </a:rPr>
              <a:t>Keep stakeholders informed</a:t>
            </a:r>
          </a:p>
        </p:txBody>
      </p:sp>
      <p:sp>
        <p:nvSpPr>
          <p:cNvPr id="16" name="bullet-4">
            <a:extLst>
              <a:ext uri="{FF2B5EF4-FFF2-40B4-BE49-F238E27FC236}">
                <a16:creationId xmlns:a16="http://schemas.microsoft.com/office/drawing/2014/main" id="{33F68EBE-ACF5-4CC6-8420-7C87E443935A}"/>
              </a:ext>
            </a:extLst>
          </p:cNvPr>
          <p:cNvSpPr>
            <a:spLocks noGrp="1"/>
          </p:cNvSpPr>
          <p:nvPr/>
        </p:nvSpPr>
        <p:spPr>
          <a:xfrm>
            <a:off x="3905250" y="4333875"/>
            <a:ext cx="95250" cy="95250"/>
          </a:xfrm>
          <a:prstGeom prst="rect">
            <a:avLst/>
          </a:prstGeom>
          <a:solidFill>
            <a:srgbClr val="2583FF"/>
          </a:solidFill>
          <a:ln w="0">
            <a:noFill/>
            <a:prstDash val="solid"/>
          </a:ln>
        </p:spPr>
        <p:txBody>
          <a:bodyPr/>
          <a:lstStyle/>
          <a:p>
            <a:endParaRPr lang="en-US"/>
          </a:p>
        </p:txBody>
      </p:sp>
      <p:sp>
        <p:nvSpPr>
          <p:cNvPr id="17" name="bullet-text-4">
            <a:extLst>
              <a:ext uri="{FF2B5EF4-FFF2-40B4-BE49-F238E27FC236}">
                <a16:creationId xmlns:a16="http://schemas.microsoft.com/office/drawing/2014/main" id="{EBED79D2-036F-45FE-ADD2-E57806BB9BBF}"/>
              </a:ext>
            </a:extLst>
          </p:cNvPr>
          <p:cNvSpPr>
            <a:spLocks noGrp="1"/>
          </p:cNvSpPr>
          <p:nvPr/>
        </p:nvSpPr>
        <p:spPr>
          <a:xfrm>
            <a:off x="4171950" y="4238625"/>
            <a:ext cx="6591300" cy="676275"/>
          </a:xfrm>
          <a:prstGeom prst="rect">
            <a:avLst/>
          </a:prstGeom>
          <a:noFill/>
          <a:ln w="0">
            <a:noFill/>
            <a:prstDash val="solid"/>
          </a:ln>
        </p:spPr>
        <p:txBody>
          <a:bodyPr anchor="t"/>
          <a:lstStyle/>
          <a:p>
            <a:pPr algn="l">
              <a:defRPr sz="1875" b="0">
                <a:solidFill>
                  <a:srgbClr val="111318"/>
                </a:solidFill>
                <a:latin typeface="Arial"/>
                <a:ea typeface="Arial"/>
                <a:cs typeface="Arial"/>
              </a:defRPr>
            </a:pPr>
            <a:r>
              <a:rPr sz="1875" b="0">
                <a:solidFill>
                  <a:srgbClr val="111318"/>
                </a:solidFill>
                <a:latin typeface="Arial"/>
                <a:ea typeface="Arial"/>
                <a:cs typeface="Arial"/>
              </a:rPr>
              <a:t>Support continuous improvement</a:t>
            </a:r>
          </a:p>
        </p:txBody>
      </p:sp>
    </p:spTree>
    <p:extLst>
      <p:ext uri="{BB962C8B-B14F-4D97-AF65-F5344CB8AC3E}">
        <p14:creationId xmlns:p14="http://schemas.microsoft.com/office/powerpoint/2010/main" val="59578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CDDFE78E-F0B6-4052-B8F4-21C52B8AE55A}"/>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SDLC Techniques and Practices</a:t>
            </a:r>
          </a:p>
        </p:txBody>
      </p:sp>
      <p:sp>
        <p:nvSpPr>
          <p:cNvPr id="3" name="title-rule">
            <a:extLst>
              <a:ext uri="{FF2B5EF4-FFF2-40B4-BE49-F238E27FC236}">
                <a16:creationId xmlns:a16="http://schemas.microsoft.com/office/drawing/2014/main" id="{AB2DB087-E16B-479F-A82B-694654127E16}"/>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E7807ADD-BA78-48E7-9081-6F7645A5BBCC}"/>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13</a:t>
            </a:r>
          </a:p>
        </p:txBody>
      </p:sp>
      <p:sp>
        <p:nvSpPr>
          <p:cNvPr id="5" name="text">
            <a:extLst>
              <a:ext uri="{FF2B5EF4-FFF2-40B4-BE49-F238E27FC236}">
                <a16:creationId xmlns:a16="http://schemas.microsoft.com/office/drawing/2014/main" id="{555A11EF-D56A-471A-9000-4C408B41362B}"/>
              </a:ext>
            </a:extLst>
          </p:cNvPr>
          <p:cNvSpPr>
            <a:spLocks noGrp="1"/>
          </p:cNvSpPr>
          <p:nvPr/>
        </p:nvSpPr>
        <p:spPr>
          <a:xfrm>
            <a:off x="609600" y="1924050"/>
            <a:ext cx="2857500" cy="742950"/>
          </a:xfrm>
          <a:prstGeom prst="rect">
            <a:avLst/>
          </a:prstGeom>
          <a:noFill/>
          <a:ln w="0">
            <a:noFill/>
            <a:prstDash val="solid"/>
          </a:ln>
        </p:spPr>
        <p:txBody>
          <a:bodyPr anchor="t"/>
          <a:lstStyle/>
          <a:p>
            <a:pPr algn="l">
              <a:defRPr sz="3600" b="1">
                <a:solidFill>
                  <a:srgbClr val="2583FF"/>
                </a:solidFill>
                <a:latin typeface="Arial"/>
                <a:ea typeface="Arial"/>
                <a:cs typeface="Arial"/>
              </a:defRPr>
            </a:pPr>
            <a:r>
              <a:rPr sz="3600" b="1">
                <a:solidFill>
                  <a:srgbClr val="2583FF"/>
                </a:solidFill>
                <a:latin typeface="Arial"/>
                <a:ea typeface="Arial"/>
                <a:cs typeface="Arial"/>
              </a:rPr>
              <a:t>AGILE</a:t>
            </a:r>
          </a:p>
        </p:txBody>
      </p:sp>
      <p:sp>
        <p:nvSpPr>
          <p:cNvPr id="6" name="text">
            <a:extLst>
              <a:ext uri="{FF2B5EF4-FFF2-40B4-BE49-F238E27FC236}">
                <a16:creationId xmlns:a16="http://schemas.microsoft.com/office/drawing/2014/main" id="{3C75B53D-B48A-4ABC-BF43-E4A225B0F37B}"/>
              </a:ext>
            </a:extLst>
          </p:cNvPr>
          <p:cNvSpPr>
            <a:spLocks noGrp="1"/>
          </p:cNvSpPr>
          <p:nvPr/>
        </p:nvSpPr>
        <p:spPr>
          <a:xfrm>
            <a:off x="609600" y="2724150"/>
            <a:ext cx="4000500" cy="1143000"/>
          </a:xfrm>
          <a:prstGeom prst="rect">
            <a:avLst/>
          </a:prstGeom>
          <a:noFill/>
          <a:ln w="0">
            <a:noFill/>
            <a:prstDash val="solid"/>
          </a:ln>
        </p:spPr>
        <p:txBody>
          <a:bodyPr anchor="t"/>
          <a:lstStyle/>
          <a:p>
            <a:pPr algn="l">
              <a:defRPr sz="2100" b="1">
                <a:solidFill>
                  <a:srgbClr val="111318"/>
                </a:solidFill>
                <a:latin typeface="Arial"/>
                <a:ea typeface="Arial"/>
                <a:cs typeface="Arial"/>
              </a:defRPr>
            </a:pPr>
            <a:r>
              <a:rPr sz="2100" b="1">
                <a:solidFill>
                  <a:srgbClr val="111318"/>
                </a:solidFill>
                <a:latin typeface="Arial"/>
                <a:ea typeface="Arial"/>
                <a:cs typeface="Arial"/>
              </a:rPr>
              <a:t>Iterative development with incremental delivery and regular validation.</a:t>
            </a:r>
          </a:p>
        </p:txBody>
      </p:sp>
      <p:sp>
        <p:nvSpPr>
          <p:cNvPr id="7" name="agile-rule">
            <a:extLst>
              <a:ext uri="{FF2B5EF4-FFF2-40B4-BE49-F238E27FC236}">
                <a16:creationId xmlns:a16="http://schemas.microsoft.com/office/drawing/2014/main" id="{2C8C8A51-75E0-4FEF-A4E6-F0079195436C}"/>
              </a:ext>
            </a:extLst>
          </p:cNvPr>
          <p:cNvSpPr>
            <a:spLocks noGrp="1"/>
          </p:cNvSpPr>
          <p:nvPr/>
        </p:nvSpPr>
        <p:spPr>
          <a:xfrm>
            <a:off x="5143500" y="1866900"/>
            <a:ext cx="19050" cy="3333750"/>
          </a:xfrm>
          <a:prstGeom prst="rect">
            <a:avLst/>
          </a:prstGeom>
          <a:solidFill>
            <a:srgbClr val="C9CED6"/>
          </a:solidFill>
          <a:ln w="0">
            <a:noFill/>
            <a:prstDash val="solid"/>
          </a:ln>
        </p:spPr>
        <p:txBody>
          <a:bodyPr/>
          <a:lstStyle/>
          <a:p>
            <a:endParaRPr lang="en-US"/>
          </a:p>
        </p:txBody>
      </p:sp>
      <p:sp>
        <p:nvSpPr>
          <p:cNvPr id="8" name="bullet-1">
            <a:extLst>
              <a:ext uri="{FF2B5EF4-FFF2-40B4-BE49-F238E27FC236}">
                <a16:creationId xmlns:a16="http://schemas.microsoft.com/office/drawing/2014/main" id="{2BDF4B35-3C6C-4016-A672-BA84079381C8}"/>
              </a:ext>
            </a:extLst>
          </p:cNvPr>
          <p:cNvSpPr>
            <a:spLocks noGrp="1"/>
          </p:cNvSpPr>
          <p:nvPr/>
        </p:nvSpPr>
        <p:spPr>
          <a:xfrm>
            <a:off x="5753100" y="2133600"/>
            <a:ext cx="95250" cy="95250"/>
          </a:xfrm>
          <a:prstGeom prst="rect">
            <a:avLst/>
          </a:prstGeom>
          <a:solidFill>
            <a:srgbClr val="2583FF"/>
          </a:solidFill>
          <a:ln w="0">
            <a:noFill/>
            <a:prstDash val="solid"/>
          </a:ln>
        </p:spPr>
        <p:txBody>
          <a:bodyPr/>
          <a:lstStyle/>
          <a:p>
            <a:endParaRPr lang="en-US"/>
          </a:p>
        </p:txBody>
      </p:sp>
      <p:sp>
        <p:nvSpPr>
          <p:cNvPr id="9" name="bullet-text-1">
            <a:extLst>
              <a:ext uri="{FF2B5EF4-FFF2-40B4-BE49-F238E27FC236}">
                <a16:creationId xmlns:a16="http://schemas.microsoft.com/office/drawing/2014/main" id="{76E70C2E-72C4-4E78-BD2E-588FA17D1D36}"/>
              </a:ext>
            </a:extLst>
          </p:cNvPr>
          <p:cNvSpPr>
            <a:spLocks noGrp="1"/>
          </p:cNvSpPr>
          <p:nvPr/>
        </p:nvSpPr>
        <p:spPr>
          <a:xfrm>
            <a:off x="6019800" y="2038350"/>
            <a:ext cx="5067300" cy="68580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Incremental delivery of features</a:t>
            </a:r>
          </a:p>
        </p:txBody>
      </p:sp>
      <p:sp>
        <p:nvSpPr>
          <p:cNvPr id="10" name="bullet-2">
            <a:extLst>
              <a:ext uri="{FF2B5EF4-FFF2-40B4-BE49-F238E27FC236}">
                <a16:creationId xmlns:a16="http://schemas.microsoft.com/office/drawing/2014/main" id="{323B33C4-1002-40FB-A450-31B6BFCFD561}"/>
              </a:ext>
            </a:extLst>
          </p:cNvPr>
          <p:cNvSpPr>
            <a:spLocks noGrp="1"/>
          </p:cNvSpPr>
          <p:nvPr/>
        </p:nvSpPr>
        <p:spPr>
          <a:xfrm>
            <a:off x="5753100" y="2857500"/>
            <a:ext cx="95250" cy="95250"/>
          </a:xfrm>
          <a:prstGeom prst="rect">
            <a:avLst/>
          </a:prstGeom>
          <a:solidFill>
            <a:srgbClr val="2583FF"/>
          </a:solidFill>
          <a:ln w="0">
            <a:noFill/>
            <a:prstDash val="solid"/>
          </a:ln>
        </p:spPr>
        <p:txBody>
          <a:bodyPr/>
          <a:lstStyle/>
          <a:p>
            <a:endParaRPr lang="en-US"/>
          </a:p>
        </p:txBody>
      </p:sp>
      <p:sp>
        <p:nvSpPr>
          <p:cNvPr id="11" name="bullet-text-2">
            <a:extLst>
              <a:ext uri="{FF2B5EF4-FFF2-40B4-BE49-F238E27FC236}">
                <a16:creationId xmlns:a16="http://schemas.microsoft.com/office/drawing/2014/main" id="{31C92346-10A2-4FE3-8B15-F9486086989C}"/>
              </a:ext>
            </a:extLst>
          </p:cNvPr>
          <p:cNvSpPr>
            <a:spLocks noGrp="1"/>
          </p:cNvSpPr>
          <p:nvPr/>
        </p:nvSpPr>
        <p:spPr>
          <a:xfrm>
            <a:off x="6019800" y="2762250"/>
            <a:ext cx="5067300" cy="68580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User story and requirement validation</a:t>
            </a:r>
          </a:p>
        </p:txBody>
      </p:sp>
      <p:sp>
        <p:nvSpPr>
          <p:cNvPr id="12" name="bullet-3">
            <a:extLst>
              <a:ext uri="{FF2B5EF4-FFF2-40B4-BE49-F238E27FC236}">
                <a16:creationId xmlns:a16="http://schemas.microsoft.com/office/drawing/2014/main" id="{B48F4F6E-89E8-4316-83AA-678DE37EE420}"/>
              </a:ext>
            </a:extLst>
          </p:cNvPr>
          <p:cNvSpPr>
            <a:spLocks noGrp="1"/>
          </p:cNvSpPr>
          <p:nvPr/>
        </p:nvSpPr>
        <p:spPr>
          <a:xfrm>
            <a:off x="5753100" y="3581400"/>
            <a:ext cx="95250" cy="95250"/>
          </a:xfrm>
          <a:prstGeom prst="rect">
            <a:avLst/>
          </a:prstGeom>
          <a:solidFill>
            <a:srgbClr val="2583FF"/>
          </a:solidFill>
          <a:ln w="0">
            <a:noFill/>
            <a:prstDash val="solid"/>
          </a:ln>
        </p:spPr>
        <p:txBody>
          <a:bodyPr/>
          <a:lstStyle/>
          <a:p>
            <a:endParaRPr lang="en-US"/>
          </a:p>
        </p:txBody>
      </p:sp>
      <p:sp>
        <p:nvSpPr>
          <p:cNvPr id="13" name="bullet-text-3">
            <a:extLst>
              <a:ext uri="{FF2B5EF4-FFF2-40B4-BE49-F238E27FC236}">
                <a16:creationId xmlns:a16="http://schemas.microsoft.com/office/drawing/2014/main" id="{34A02813-9993-4797-83E7-056060B5F29A}"/>
              </a:ext>
            </a:extLst>
          </p:cNvPr>
          <p:cNvSpPr>
            <a:spLocks noGrp="1"/>
          </p:cNvSpPr>
          <p:nvPr/>
        </p:nvSpPr>
        <p:spPr>
          <a:xfrm>
            <a:off x="6019800" y="3486150"/>
            <a:ext cx="5067300" cy="68580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Continuous feedback and review</a:t>
            </a:r>
          </a:p>
        </p:txBody>
      </p:sp>
      <p:sp>
        <p:nvSpPr>
          <p:cNvPr id="14" name="bullet-4">
            <a:extLst>
              <a:ext uri="{FF2B5EF4-FFF2-40B4-BE49-F238E27FC236}">
                <a16:creationId xmlns:a16="http://schemas.microsoft.com/office/drawing/2014/main" id="{6DE8F934-E748-442E-B3D5-E3120B167528}"/>
              </a:ext>
            </a:extLst>
          </p:cNvPr>
          <p:cNvSpPr>
            <a:spLocks noGrp="1"/>
          </p:cNvSpPr>
          <p:nvPr/>
        </p:nvSpPr>
        <p:spPr>
          <a:xfrm>
            <a:off x="5753100" y="4305300"/>
            <a:ext cx="95250" cy="95250"/>
          </a:xfrm>
          <a:prstGeom prst="rect">
            <a:avLst/>
          </a:prstGeom>
          <a:solidFill>
            <a:srgbClr val="2583FF"/>
          </a:solidFill>
          <a:ln w="0">
            <a:noFill/>
            <a:prstDash val="solid"/>
          </a:ln>
        </p:spPr>
        <p:txBody>
          <a:bodyPr/>
          <a:lstStyle/>
          <a:p>
            <a:endParaRPr lang="en-US"/>
          </a:p>
        </p:txBody>
      </p:sp>
      <p:sp>
        <p:nvSpPr>
          <p:cNvPr id="15" name="bullet-text-4">
            <a:extLst>
              <a:ext uri="{FF2B5EF4-FFF2-40B4-BE49-F238E27FC236}">
                <a16:creationId xmlns:a16="http://schemas.microsoft.com/office/drawing/2014/main" id="{9E36AE8E-F85E-41B2-9032-0E2333BDD04E}"/>
              </a:ext>
            </a:extLst>
          </p:cNvPr>
          <p:cNvSpPr>
            <a:spLocks noGrp="1"/>
          </p:cNvSpPr>
          <p:nvPr/>
        </p:nvSpPr>
        <p:spPr>
          <a:xfrm>
            <a:off x="6019800" y="4210050"/>
            <a:ext cx="5067300" cy="68580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Documentation-driven development</a:t>
            </a:r>
          </a:p>
        </p:txBody>
      </p:sp>
    </p:spTree>
    <p:extLst>
      <p:ext uri="{BB962C8B-B14F-4D97-AF65-F5344CB8AC3E}">
        <p14:creationId xmlns:p14="http://schemas.microsoft.com/office/powerpoint/2010/main" val="1933955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98085645-9BFC-446F-9750-42D1716ECAF3}"/>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Testing Models, Processes, and Practices</a:t>
            </a:r>
          </a:p>
        </p:txBody>
      </p:sp>
      <p:sp>
        <p:nvSpPr>
          <p:cNvPr id="3" name="title-rule">
            <a:extLst>
              <a:ext uri="{FF2B5EF4-FFF2-40B4-BE49-F238E27FC236}">
                <a16:creationId xmlns:a16="http://schemas.microsoft.com/office/drawing/2014/main" id="{EC4EB21A-202C-434C-A72B-1ED9C5ED7E4B}"/>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968B7211-7481-46A0-9719-476519A75A65}"/>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14</a:t>
            </a:r>
          </a:p>
        </p:txBody>
      </p:sp>
      <p:sp>
        <p:nvSpPr>
          <p:cNvPr id="5" name="text">
            <a:extLst>
              <a:ext uri="{FF2B5EF4-FFF2-40B4-BE49-F238E27FC236}">
                <a16:creationId xmlns:a16="http://schemas.microsoft.com/office/drawing/2014/main" id="{D103F181-FFCA-48A5-9222-48CE7A557FE9}"/>
              </a:ext>
            </a:extLst>
          </p:cNvPr>
          <p:cNvSpPr>
            <a:spLocks noGrp="1"/>
          </p:cNvSpPr>
          <p:nvPr/>
        </p:nvSpPr>
        <p:spPr>
          <a:xfrm>
            <a:off x="609600" y="1847850"/>
            <a:ext cx="523875" cy="34290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01</a:t>
            </a:r>
          </a:p>
        </p:txBody>
      </p:sp>
      <p:sp>
        <p:nvSpPr>
          <p:cNvPr id="6" name="text">
            <a:extLst>
              <a:ext uri="{FF2B5EF4-FFF2-40B4-BE49-F238E27FC236}">
                <a16:creationId xmlns:a16="http://schemas.microsoft.com/office/drawing/2014/main" id="{FE9114B2-211B-4656-A8FE-24652B779E36}"/>
              </a:ext>
            </a:extLst>
          </p:cNvPr>
          <p:cNvSpPr>
            <a:spLocks noGrp="1"/>
          </p:cNvSpPr>
          <p:nvPr/>
        </p:nvSpPr>
        <p:spPr>
          <a:xfrm>
            <a:off x="1381125" y="1819275"/>
            <a:ext cx="2857500" cy="38100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Unit</a:t>
            </a:r>
          </a:p>
        </p:txBody>
      </p:sp>
      <p:sp>
        <p:nvSpPr>
          <p:cNvPr id="7" name="text">
            <a:extLst>
              <a:ext uri="{FF2B5EF4-FFF2-40B4-BE49-F238E27FC236}">
                <a16:creationId xmlns:a16="http://schemas.microsoft.com/office/drawing/2014/main" id="{724536A0-081E-4C7D-98C9-E22845DBAEFA}"/>
              </a:ext>
            </a:extLst>
          </p:cNvPr>
          <p:cNvSpPr>
            <a:spLocks noGrp="1"/>
          </p:cNvSpPr>
          <p:nvPr/>
        </p:nvSpPr>
        <p:spPr>
          <a:xfrm>
            <a:off x="4857750" y="1838325"/>
            <a:ext cx="5715000" cy="381000"/>
          </a:xfrm>
          <a:prstGeom prst="rect">
            <a:avLst/>
          </a:prstGeom>
          <a:noFill/>
          <a:ln w="0">
            <a:noFill/>
            <a:prstDash val="solid"/>
          </a:ln>
        </p:spPr>
        <p:txBody>
          <a:bodyPr anchor="t"/>
          <a:lstStyle/>
          <a:p>
            <a:pPr algn="l">
              <a:defRPr sz="1725" b="0">
                <a:solidFill>
                  <a:srgbClr val="626A75"/>
                </a:solidFill>
                <a:latin typeface="Arial"/>
                <a:ea typeface="Arial"/>
                <a:cs typeface="Arial"/>
              </a:defRPr>
            </a:pPr>
            <a:r>
              <a:rPr sz="1725" b="0">
                <a:solidFill>
                  <a:srgbClr val="626A75"/>
                </a:solidFill>
                <a:latin typeface="Arial"/>
                <a:ea typeface="Arial"/>
                <a:cs typeface="Arial"/>
              </a:rPr>
              <a:t>Individual components</a:t>
            </a:r>
          </a:p>
        </p:txBody>
      </p:sp>
      <p:sp>
        <p:nvSpPr>
          <p:cNvPr id="8" name="test-rule-0">
            <a:extLst>
              <a:ext uri="{FF2B5EF4-FFF2-40B4-BE49-F238E27FC236}">
                <a16:creationId xmlns:a16="http://schemas.microsoft.com/office/drawing/2014/main" id="{09BCB808-EACE-4F77-931D-4909FB164909}"/>
              </a:ext>
            </a:extLst>
          </p:cNvPr>
          <p:cNvSpPr>
            <a:spLocks noGrp="1"/>
          </p:cNvSpPr>
          <p:nvPr/>
        </p:nvSpPr>
        <p:spPr>
          <a:xfrm>
            <a:off x="609600" y="2362200"/>
            <a:ext cx="10287000" cy="9525"/>
          </a:xfrm>
          <a:prstGeom prst="rect">
            <a:avLst/>
          </a:prstGeom>
          <a:solidFill>
            <a:srgbClr val="C9CED6"/>
          </a:solidFill>
          <a:ln w="0">
            <a:noFill/>
            <a:prstDash val="solid"/>
          </a:ln>
        </p:spPr>
        <p:txBody>
          <a:bodyPr/>
          <a:lstStyle/>
          <a:p>
            <a:endParaRPr lang="en-US"/>
          </a:p>
        </p:txBody>
      </p:sp>
      <p:sp>
        <p:nvSpPr>
          <p:cNvPr id="9" name="text">
            <a:extLst>
              <a:ext uri="{FF2B5EF4-FFF2-40B4-BE49-F238E27FC236}">
                <a16:creationId xmlns:a16="http://schemas.microsoft.com/office/drawing/2014/main" id="{6A66A1D6-57F5-492F-96C6-3D11C1BC2461}"/>
              </a:ext>
            </a:extLst>
          </p:cNvPr>
          <p:cNvSpPr>
            <a:spLocks noGrp="1"/>
          </p:cNvSpPr>
          <p:nvPr/>
        </p:nvSpPr>
        <p:spPr>
          <a:xfrm>
            <a:off x="609600" y="2628900"/>
            <a:ext cx="523875" cy="34290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02</a:t>
            </a:r>
          </a:p>
        </p:txBody>
      </p:sp>
      <p:sp>
        <p:nvSpPr>
          <p:cNvPr id="10" name="text">
            <a:extLst>
              <a:ext uri="{FF2B5EF4-FFF2-40B4-BE49-F238E27FC236}">
                <a16:creationId xmlns:a16="http://schemas.microsoft.com/office/drawing/2014/main" id="{0BBEA45C-1CA1-4768-BF4B-CAEA443AFAEC}"/>
              </a:ext>
            </a:extLst>
          </p:cNvPr>
          <p:cNvSpPr>
            <a:spLocks noGrp="1"/>
          </p:cNvSpPr>
          <p:nvPr/>
        </p:nvSpPr>
        <p:spPr>
          <a:xfrm>
            <a:off x="1381125" y="2600325"/>
            <a:ext cx="2857500" cy="38100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Integration</a:t>
            </a:r>
          </a:p>
        </p:txBody>
      </p:sp>
      <p:sp>
        <p:nvSpPr>
          <p:cNvPr id="11" name="text">
            <a:extLst>
              <a:ext uri="{FF2B5EF4-FFF2-40B4-BE49-F238E27FC236}">
                <a16:creationId xmlns:a16="http://schemas.microsoft.com/office/drawing/2014/main" id="{BF564B37-934E-4E8F-9B5E-3B78E1761C26}"/>
              </a:ext>
            </a:extLst>
          </p:cNvPr>
          <p:cNvSpPr>
            <a:spLocks noGrp="1"/>
          </p:cNvSpPr>
          <p:nvPr/>
        </p:nvSpPr>
        <p:spPr>
          <a:xfrm>
            <a:off x="4857750" y="2619375"/>
            <a:ext cx="5715000" cy="381000"/>
          </a:xfrm>
          <a:prstGeom prst="rect">
            <a:avLst/>
          </a:prstGeom>
          <a:noFill/>
          <a:ln w="0">
            <a:noFill/>
            <a:prstDash val="solid"/>
          </a:ln>
        </p:spPr>
        <p:txBody>
          <a:bodyPr anchor="t"/>
          <a:lstStyle/>
          <a:p>
            <a:pPr algn="l">
              <a:defRPr sz="1725" b="0">
                <a:solidFill>
                  <a:srgbClr val="626A75"/>
                </a:solidFill>
                <a:latin typeface="Arial"/>
                <a:ea typeface="Arial"/>
                <a:cs typeface="Arial"/>
              </a:defRPr>
            </a:pPr>
            <a:r>
              <a:rPr sz="1725" b="0">
                <a:solidFill>
                  <a:srgbClr val="626A75"/>
                </a:solidFill>
                <a:latin typeface="Arial"/>
                <a:ea typeface="Arial"/>
                <a:cs typeface="Arial"/>
              </a:rPr>
              <a:t>Connected modules</a:t>
            </a:r>
          </a:p>
        </p:txBody>
      </p:sp>
      <p:sp>
        <p:nvSpPr>
          <p:cNvPr id="12" name="test-rule-1">
            <a:extLst>
              <a:ext uri="{FF2B5EF4-FFF2-40B4-BE49-F238E27FC236}">
                <a16:creationId xmlns:a16="http://schemas.microsoft.com/office/drawing/2014/main" id="{8196CDC9-11CB-48D1-894D-EDF3F5CD0F06}"/>
              </a:ext>
            </a:extLst>
          </p:cNvPr>
          <p:cNvSpPr>
            <a:spLocks noGrp="1"/>
          </p:cNvSpPr>
          <p:nvPr/>
        </p:nvSpPr>
        <p:spPr>
          <a:xfrm>
            <a:off x="609600" y="3143250"/>
            <a:ext cx="10287000" cy="9525"/>
          </a:xfrm>
          <a:prstGeom prst="rect">
            <a:avLst/>
          </a:prstGeom>
          <a:solidFill>
            <a:srgbClr val="C9CED6"/>
          </a:solidFill>
          <a:ln w="0">
            <a:noFill/>
            <a:prstDash val="solid"/>
          </a:ln>
        </p:spPr>
        <p:txBody>
          <a:bodyPr/>
          <a:lstStyle/>
          <a:p>
            <a:endParaRPr lang="en-US"/>
          </a:p>
        </p:txBody>
      </p:sp>
      <p:sp>
        <p:nvSpPr>
          <p:cNvPr id="13" name="text">
            <a:extLst>
              <a:ext uri="{FF2B5EF4-FFF2-40B4-BE49-F238E27FC236}">
                <a16:creationId xmlns:a16="http://schemas.microsoft.com/office/drawing/2014/main" id="{EE1BA62C-86C9-4012-870D-353FC98A4FF3}"/>
              </a:ext>
            </a:extLst>
          </p:cNvPr>
          <p:cNvSpPr>
            <a:spLocks noGrp="1"/>
          </p:cNvSpPr>
          <p:nvPr/>
        </p:nvSpPr>
        <p:spPr>
          <a:xfrm>
            <a:off x="609600" y="3409950"/>
            <a:ext cx="523875" cy="34290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03</a:t>
            </a:r>
          </a:p>
        </p:txBody>
      </p:sp>
      <p:sp>
        <p:nvSpPr>
          <p:cNvPr id="14" name="text">
            <a:extLst>
              <a:ext uri="{FF2B5EF4-FFF2-40B4-BE49-F238E27FC236}">
                <a16:creationId xmlns:a16="http://schemas.microsoft.com/office/drawing/2014/main" id="{82262BBC-BD96-40D3-87B3-1FB84A79BDF9}"/>
              </a:ext>
            </a:extLst>
          </p:cNvPr>
          <p:cNvSpPr>
            <a:spLocks noGrp="1"/>
          </p:cNvSpPr>
          <p:nvPr/>
        </p:nvSpPr>
        <p:spPr>
          <a:xfrm>
            <a:off x="1381125" y="3381375"/>
            <a:ext cx="2857500" cy="38100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System</a:t>
            </a:r>
          </a:p>
        </p:txBody>
      </p:sp>
      <p:sp>
        <p:nvSpPr>
          <p:cNvPr id="15" name="text">
            <a:extLst>
              <a:ext uri="{FF2B5EF4-FFF2-40B4-BE49-F238E27FC236}">
                <a16:creationId xmlns:a16="http://schemas.microsoft.com/office/drawing/2014/main" id="{F66AC648-4D8A-4DDD-8FEE-F5CACDF84F1A}"/>
              </a:ext>
            </a:extLst>
          </p:cNvPr>
          <p:cNvSpPr>
            <a:spLocks noGrp="1"/>
          </p:cNvSpPr>
          <p:nvPr/>
        </p:nvSpPr>
        <p:spPr>
          <a:xfrm>
            <a:off x="4857750" y="3400425"/>
            <a:ext cx="5715000" cy="381000"/>
          </a:xfrm>
          <a:prstGeom prst="rect">
            <a:avLst/>
          </a:prstGeom>
          <a:noFill/>
          <a:ln w="0">
            <a:noFill/>
            <a:prstDash val="solid"/>
          </a:ln>
        </p:spPr>
        <p:txBody>
          <a:bodyPr anchor="t"/>
          <a:lstStyle/>
          <a:p>
            <a:pPr algn="l">
              <a:defRPr sz="1725" b="0">
                <a:solidFill>
                  <a:srgbClr val="626A75"/>
                </a:solidFill>
                <a:latin typeface="Arial"/>
                <a:ea typeface="Arial"/>
                <a:cs typeface="Arial"/>
              </a:defRPr>
            </a:pPr>
            <a:r>
              <a:rPr sz="1725" b="0">
                <a:solidFill>
                  <a:srgbClr val="626A75"/>
                </a:solidFill>
                <a:latin typeface="Arial"/>
                <a:ea typeface="Arial"/>
                <a:cs typeface="Arial"/>
              </a:rPr>
              <a:t>Full application</a:t>
            </a:r>
          </a:p>
        </p:txBody>
      </p:sp>
      <p:sp>
        <p:nvSpPr>
          <p:cNvPr id="16" name="test-rule-2">
            <a:extLst>
              <a:ext uri="{FF2B5EF4-FFF2-40B4-BE49-F238E27FC236}">
                <a16:creationId xmlns:a16="http://schemas.microsoft.com/office/drawing/2014/main" id="{96D38A2B-00AE-41B3-BB5D-AF6450E83076}"/>
              </a:ext>
            </a:extLst>
          </p:cNvPr>
          <p:cNvSpPr>
            <a:spLocks noGrp="1"/>
          </p:cNvSpPr>
          <p:nvPr/>
        </p:nvSpPr>
        <p:spPr>
          <a:xfrm>
            <a:off x="609600" y="3924300"/>
            <a:ext cx="10287000" cy="9525"/>
          </a:xfrm>
          <a:prstGeom prst="rect">
            <a:avLst/>
          </a:prstGeom>
          <a:solidFill>
            <a:srgbClr val="C9CED6"/>
          </a:solidFill>
          <a:ln w="0">
            <a:noFill/>
            <a:prstDash val="solid"/>
          </a:ln>
        </p:spPr>
        <p:txBody>
          <a:bodyPr/>
          <a:lstStyle/>
          <a:p>
            <a:endParaRPr lang="en-US"/>
          </a:p>
        </p:txBody>
      </p:sp>
      <p:sp>
        <p:nvSpPr>
          <p:cNvPr id="17" name="text">
            <a:extLst>
              <a:ext uri="{FF2B5EF4-FFF2-40B4-BE49-F238E27FC236}">
                <a16:creationId xmlns:a16="http://schemas.microsoft.com/office/drawing/2014/main" id="{803E1B3B-0A1E-4E52-A23D-6F80742BC78B}"/>
              </a:ext>
            </a:extLst>
          </p:cNvPr>
          <p:cNvSpPr>
            <a:spLocks noGrp="1"/>
          </p:cNvSpPr>
          <p:nvPr/>
        </p:nvSpPr>
        <p:spPr>
          <a:xfrm>
            <a:off x="609600" y="4191000"/>
            <a:ext cx="523875" cy="34290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04</a:t>
            </a:r>
          </a:p>
        </p:txBody>
      </p:sp>
      <p:sp>
        <p:nvSpPr>
          <p:cNvPr id="18" name="text">
            <a:extLst>
              <a:ext uri="{FF2B5EF4-FFF2-40B4-BE49-F238E27FC236}">
                <a16:creationId xmlns:a16="http://schemas.microsoft.com/office/drawing/2014/main" id="{3AAC08AA-DB18-4A24-828B-FDB1C2B9774D}"/>
              </a:ext>
            </a:extLst>
          </p:cNvPr>
          <p:cNvSpPr>
            <a:spLocks noGrp="1"/>
          </p:cNvSpPr>
          <p:nvPr/>
        </p:nvSpPr>
        <p:spPr>
          <a:xfrm>
            <a:off x="1381125" y="4162425"/>
            <a:ext cx="2857500" cy="38100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Acceptance</a:t>
            </a:r>
          </a:p>
        </p:txBody>
      </p:sp>
      <p:sp>
        <p:nvSpPr>
          <p:cNvPr id="19" name="text">
            <a:extLst>
              <a:ext uri="{FF2B5EF4-FFF2-40B4-BE49-F238E27FC236}">
                <a16:creationId xmlns:a16="http://schemas.microsoft.com/office/drawing/2014/main" id="{8D3344CE-9B15-4FAE-B597-FC7A36825C6D}"/>
              </a:ext>
            </a:extLst>
          </p:cNvPr>
          <p:cNvSpPr>
            <a:spLocks noGrp="1"/>
          </p:cNvSpPr>
          <p:nvPr/>
        </p:nvSpPr>
        <p:spPr>
          <a:xfrm>
            <a:off x="4857750" y="4181475"/>
            <a:ext cx="5715000" cy="381000"/>
          </a:xfrm>
          <a:prstGeom prst="rect">
            <a:avLst/>
          </a:prstGeom>
          <a:noFill/>
          <a:ln w="0">
            <a:noFill/>
            <a:prstDash val="solid"/>
          </a:ln>
        </p:spPr>
        <p:txBody>
          <a:bodyPr anchor="t"/>
          <a:lstStyle/>
          <a:p>
            <a:pPr algn="l">
              <a:defRPr sz="1725" b="0">
                <a:solidFill>
                  <a:srgbClr val="626A75"/>
                </a:solidFill>
                <a:latin typeface="Arial"/>
                <a:ea typeface="Arial"/>
                <a:cs typeface="Arial"/>
              </a:defRPr>
            </a:pPr>
            <a:r>
              <a:rPr sz="1725" b="0">
                <a:solidFill>
                  <a:srgbClr val="626A75"/>
                </a:solidFill>
                <a:latin typeface="Arial"/>
                <a:ea typeface="Arial"/>
                <a:cs typeface="Arial"/>
              </a:rPr>
              <a:t>Business &amp; user needs</a:t>
            </a:r>
          </a:p>
        </p:txBody>
      </p:sp>
      <p:sp>
        <p:nvSpPr>
          <p:cNvPr id="20" name="test-rule-3">
            <a:extLst>
              <a:ext uri="{FF2B5EF4-FFF2-40B4-BE49-F238E27FC236}">
                <a16:creationId xmlns:a16="http://schemas.microsoft.com/office/drawing/2014/main" id="{7E50ADC1-FEDF-4A60-87B9-DB99F7B45F68}"/>
              </a:ext>
            </a:extLst>
          </p:cNvPr>
          <p:cNvSpPr>
            <a:spLocks noGrp="1"/>
          </p:cNvSpPr>
          <p:nvPr/>
        </p:nvSpPr>
        <p:spPr>
          <a:xfrm>
            <a:off x="609600" y="4705350"/>
            <a:ext cx="10287000" cy="9525"/>
          </a:xfrm>
          <a:prstGeom prst="rect">
            <a:avLst/>
          </a:prstGeom>
          <a:solidFill>
            <a:srgbClr val="C9CED6"/>
          </a:solidFill>
          <a:ln w="0">
            <a:noFill/>
            <a:prstDash val="solid"/>
          </a:ln>
        </p:spPr>
        <p:txBody>
          <a:bodyPr/>
          <a:lstStyle/>
          <a:p>
            <a:endParaRPr lang="en-US"/>
          </a:p>
        </p:txBody>
      </p:sp>
      <p:sp>
        <p:nvSpPr>
          <p:cNvPr id="21" name="text">
            <a:extLst>
              <a:ext uri="{FF2B5EF4-FFF2-40B4-BE49-F238E27FC236}">
                <a16:creationId xmlns:a16="http://schemas.microsoft.com/office/drawing/2014/main" id="{65406451-D030-499F-A22C-7D201E2AC615}"/>
              </a:ext>
            </a:extLst>
          </p:cNvPr>
          <p:cNvSpPr>
            <a:spLocks noGrp="1"/>
          </p:cNvSpPr>
          <p:nvPr/>
        </p:nvSpPr>
        <p:spPr>
          <a:xfrm>
            <a:off x="609600" y="4972050"/>
            <a:ext cx="523875" cy="342900"/>
          </a:xfrm>
          <a:prstGeom prst="rect">
            <a:avLst/>
          </a:prstGeom>
          <a:noFill/>
          <a:ln w="0">
            <a:noFill/>
            <a:prstDash val="solid"/>
          </a:ln>
        </p:spPr>
        <p:txBody>
          <a:bodyPr anchor="t"/>
          <a:lstStyle/>
          <a:p>
            <a:pPr algn="l">
              <a:defRPr sz="1350" b="1">
                <a:solidFill>
                  <a:srgbClr val="2583FF"/>
                </a:solidFill>
                <a:latin typeface="Arial"/>
                <a:ea typeface="Arial"/>
                <a:cs typeface="Arial"/>
              </a:defRPr>
            </a:pPr>
            <a:r>
              <a:rPr sz="1350" b="1">
                <a:solidFill>
                  <a:srgbClr val="2583FF"/>
                </a:solidFill>
                <a:latin typeface="Arial"/>
                <a:ea typeface="Arial"/>
                <a:cs typeface="Arial"/>
              </a:rPr>
              <a:t>05</a:t>
            </a:r>
          </a:p>
        </p:txBody>
      </p:sp>
      <p:sp>
        <p:nvSpPr>
          <p:cNvPr id="22" name="text">
            <a:extLst>
              <a:ext uri="{FF2B5EF4-FFF2-40B4-BE49-F238E27FC236}">
                <a16:creationId xmlns:a16="http://schemas.microsoft.com/office/drawing/2014/main" id="{43804279-BE2B-4952-8376-CA71B8ABD4B0}"/>
              </a:ext>
            </a:extLst>
          </p:cNvPr>
          <p:cNvSpPr>
            <a:spLocks noGrp="1"/>
          </p:cNvSpPr>
          <p:nvPr/>
        </p:nvSpPr>
        <p:spPr>
          <a:xfrm>
            <a:off x="1381125" y="4943475"/>
            <a:ext cx="2857500" cy="381000"/>
          </a:xfrm>
          <a:prstGeom prst="rect">
            <a:avLst/>
          </a:prstGeom>
          <a:noFill/>
          <a:ln w="0">
            <a:noFill/>
            <a:prstDash val="solid"/>
          </a:ln>
        </p:spPr>
        <p:txBody>
          <a:bodyPr anchor="t"/>
          <a:lstStyle/>
          <a:p>
            <a:pPr algn="l">
              <a:defRPr sz="1875" b="1">
                <a:solidFill>
                  <a:srgbClr val="111318"/>
                </a:solidFill>
                <a:latin typeface="Arial"/>
                <a:ea typeface="Arial"/>
                <a:cs typeface="Arial"/>
              </a:defRPr>
            </a:pPr>
            <a:r>
              <a:rPr sz="1875" b="1">
                <a:solidFill>
                  <a:srgbClr val="111318"/>
                </a:solidFill>
                <a:latin typeface="Arial"/>
                <a:ea typeface="Arial"/>
                <a:cs typeface="Arial"/>
              </a:rPr>
              <a:t>Security + performance</a:t>
            </a:r>
          </a:p>
        </p:txBody>
      </p:sp>
      <p:sp>
        <p:nvSpPr>
          <p:cNvPr id="23" name="text">
            <a:extLst>
              <a:ext uri="{FF2B5EF4-FFF2-40B4-BE49-F238E27FC236}">
                <a16:creationId xmlns:a16="http://schemas.microsoft.com/office/drawing/2014/main" id="{0811CE05-8BFE-4F01-BFFC-4B0D18C7F99A}"/>
              </a:ext>
            </a:extLst>
          </p:cNvPr>
          <p:cNvSpPr>
            <a:spLocks noGrp="1"/>
          </p:cNvSpPr>
          <p:nvPr/>
        </p:nvSpPr>
        <p:spPr>
          <a:xfrm>
            <a:off x="4857750" y="4962525"/>
            <a:ext cx="5715000" cy="381000"/>
          </a:xfrm>
          <a:prstGeom prst="rect">
            <a:avLst/>
          </a:prstGeom>
          <a:noFill/>
          <a:ln w="0">
            <a:noFill/>
            <a:prstDash val="solid"/>
          </a:ln>
        </p:spPr>
        <p:txBody>
          <a:bodyPr anchor="t"/>
          <a:lstStyle/>
          <a:p>
            <a:pPr algn="l">
              <a:defRPr sz="1725" b="0">
                <a:solidFill>
                  <a:srgbClr val="626A75"/>
                </a:solidFill>
                <a:latin typeface="Arial"/>
                <a:ea typeface="Arial"/>
                <a:cs typeface="Arial"/>
              </a:defRPr>
            </a:pPr>
            <a:r>
              <a:rPr sz="1725" b="0">
                <a:solidFill>
                  <a:srgbClr val="626A75"/>
                </a:solidFill>
                <a:latin typeface="Arial"/>
                <a:ea typeface="Arial"/>
                <a:cs typeface="Arial"/>
              </a:rPr>
              <a:t>Protection &amp; smooth operation</a:t>
            </a:r>
          </a:p>
        </p:txBody>
      </p:sp>
    </p:spTree>
    <p:extLst>
      <p:ext uri="{BB962C8B-B14F-4D97-AF65-F5344CB8AC3E}">
        <p14:creationId xmlns:p14="http://schemas.microsoft.com/office/powerpoint/2010/main" val="1394604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C43FB57-5627-46DE-A5DF-75F1E0068CC5}"/>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Conclusion</a:t>
            </a:r>
          </a:p>
        </p:txBody>
      </p:sp>
      <p:sp>
        <p:nvSpPr>
          <p:cNvPr id="3" name="title-rule">
            <a:extLst>
              <a:ext uri="{FF2B5EF4-FFF2-40B4-BE49-F238E27FC236}">
                <a16:creationId xmlns:a16="http://schemas.microsoft.com/office/drawing/2014/main" id="{BDB7FCDB-7F95-4075-B76A-0D014A757524}"/>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6B083EC4-C997-49D9-A84E-68DA541CFA84}"/>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15</a:t>
            </a:r>
          </a:p>
        </p:txBody>
      </p:sp>
      <p:sp>
        <p:nvSpPr>
          <p:cNvPr id="5" name="text">
            <a:extLst>
              <a:ext uri="{FF2B5EF4-FFF2-40B4-BE49-F238E27FC236}">
                <a16:creationId xmlns:a16="http://schemas.microsoft.com/office/drawing/2014/main" id="{1F3333EB-3AF1-405E-840E-C00204C8A1DF}"/>
              </a:ext>
            </a:extLst>
          </p:cNvPr>
          <p:cNvSpPr>
            <a:spLocks noGrp="1"/>
          </p:cNvSpPr>
          <p:nvPr/>
        </p:nvSpPr>
        <p:spPr>
          <a:xfrm>
            <a:off x="609600" y="1828800"/>
            <a:ext cx="10287000" cy="952500"/>
          </a:xfrm>
          <a:prstGeom prst="rect">
            <a:avLst/>
          </a:prstGeom>
          <a:noFill/>
          <a:ln w="0">
            <a:noFill/>
            <a:prstDash val="solid"/>
          </a:ln>
        </p:spPr>
        <p:txBody>
          <a:bodyPr anchor="t"/>
          <a:lstStyle/>
          <a:p>
            <a:pPr algn="l">
              <a:defRPr sz="2400" b="1">
                <a:solidFill>
                  <a:srgbClr val="111318"/>
                </a:solidFill>
                <a:latin typeface="Arial"/>
                <a:ea typeface="Arial"/>
                <a:cs typeface="Arial"/>
              </a:defRPr>
            </a:pPr>
            <a:r>
              <a:rPr sz="2400" b="1">
                <a:solidFill>
                  <a:srgbClr val="111318"/>
                </a:solidFill>
                <a:latin typeface="Arial"/>
                <a:ea typeface="Arial"/>
                <a:cs typeface="Arial"/>
              </a:rPr>
              <a:t>A structured SDLC turns the Byte Bazaar concept into a controlled path to a secure, reliable e-commerce solution.</a:t>
            </a:r>
          </a:p>
        </p:txBody>
      </p:sp>
      <p:sp>
        <p:nvSpPr>
          <p:cNvPr id="6" name="bullet-1">
            <a:extLst>
              <a:ext uri="{FF2B5EF4-FFF2-40B4-BE49-F238E27FC236}">
                <a16:creationId xmlns:a16="http://schemas.microsoft.com/office/drawing/2014/main" id="{9C227E24-9099-43B2-81D2-7C8C315C2823}"/>
              </a:ext>
            </a:extLst>
          </p:cNvPr>
          <p:cNvSpPr>
            <a:spLocks noGrp="1"/>
          </p:cNvSpPr>
          <p:nvPr/>
        </p:nvSpPr>
        <p:spPr>
          <a:xfrm>
            <a:off x="609600" y="3352800"/>
            <a:ext cx="95250" cy="95250"/>
          </a:xfrm>
          <a:prstGeom prst="rect">
            <a:avLst/>
          </a:prstGeom>
          <a:solidFill>
            <a:srgbClr val="2583FF"/>
          </a:solidFill>
          <a:ln w="0">
            <a:noFill/>
            <a:prstDash val="solid"/>
          </a:ln>
        </p:spPr>
        <p:txBody>
          <a:bodyPr/>
          <a:lstStyle/>
          <a:p>
            <a:endParaRPr lang="en-US"/>
          </a:p>
        </p:txBody>
      </p:sp>
      <p:sp>
        <p:nvSpPr>
          <p:cNvPr id="7" name="bullet-text-1">
            <a:extLst>
              <a:ext uri="{FF2B5EF4-FFF2-40B4-BE49-F238E27FC236}">
                <a16:creationId xmlns:a16="http://schemas.microsoft.com/office/drawing/2014/main" id="{C05ECF23-99E7-4D26-8BCC-DFCA4CEB4F41}"/>
              </a:ext>
            </a:extLst>
          </p:cNvPr>
          <p:cNvSpPr>
            <a:spLocks noGrp="1"/>
          </p:cNvSpPr>
          <p:nvPr/>
        </p:nvSpPr>
        <p:spPr>
          <a:xfrm>
            <a:off x="876300" y="3257550"/>
            <a:ext cx="9734550" cy="5524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Planning and control provide direction</a:t>
            </a:r>
          </a:p>
        </p:txBody>
      </p:sp>
      <p:sp>
        <p:nvSpPr>
          <p:cNvPr id="8" name="bullet-2">
            <a:extLst>
              <a:ext uri="{FF2B5EF4-FFF2-40B4-BE49-F238E27FC236}">
                <a16:creationId xmlns:a16="http://schemas.microsoft.com/office/drawing/2014/main" id="{049B4492-2E5B-4342-AABB-2ED2CBFD1E40}"/>
              </a:ext>
            </a:extLst>
          </p:cNvPr>
          <p:cNvSpPr>
            <a:spLocks noGrp="1"/>
          </p:cNvSpPr>
          <p:nvPr/>
        </p:nvSpPr>
        <p:spPr>
          <a:xfrm>
            <a:off x="609600" y="3943350"/>
            <a:ext cx="95250" cy="95250"/>
          </a:xfrm>
          <a:prstGeom prst="rect">
            <a:avLst/>
          </a:prstGeom>
          <a:solidFill>
            <a:srgbClr val="2583FF"/>
          </a:solidFill>
          <a:ln w="0">
            <a:noFill/>
            <a:prstDash val="solid"/>
          </a:ln>
        </p:spPr>
        <p:txBody>
          <a:bodyPr/>
          <a:lstStyle/>
          <a:p>
            <a:endParaRPr lang="en-US"/>
          </a:p>
        </p:txBody>
      </p:sp>
      <p:sp>
        <p:nvSpPr>
          <p:cNvPr id="9" name="bullet-text-2">
            <a:extLst>
              <a:ext uri="{FF2B5EF4-FFF2-40B4-BE49-F238E27FC236}">
                <a16:creationId xmlns:a16="http://schemas.microsoft.com/office/drawing/2014/main" id="{0FE842D9-5DE7-4D83-A02B-164BFC2FB1A9}"/>
              </a:ext>
            </a:extLst>
          </p:cNvPr>
          <p:cNvSpPr>
            <a:spLocks noGrp="1"/>
          </p:cNvSpPr>
          <p:nvPr/>
        </p:nvSpPr>
        <p:spPr>
          <a:xfrm>
            <a:off x="876300" y="3848100"/>
            <a:ext cx="9734550" cy="5524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Functional and technical specs guide development</a:t>
            </a:r>
          </a:p>
        </p:txBody>
      </p:sp>
      <p:sp>
        <p:nvSpPr>
          <p:cNvPr id="10" name="bullet-3">
            <a:extLst>
              <a:ext uri="{FF2B5EF4-FFF2-40B4-BE49-F238E27FC236}">
                <a16:creationId xmlns:a16="http://schemas.microsoft.com/office/drawing/2014/main" id="{2A1BB0C9-27DB-4C92-BD84-AB0CDC8B778E}"/>
              </a:ext>
            </a:extLst>
          </p:cNvPr>
          <p:cNvSpPr>
            <a:spLocks noGrp="1"/>
          </p:cNvSpPr>
          <p:nvPr/>
        </p:nvSpPr>
        <p:spPr>
          <a:xfrm>
            <a:off x="609600" y="4533900"/>
            <a:ext cx="95250" cy="95250"/>
          </a:xfrm>
          <a:prstGeom prst="rect">
            <a:avLst/>
          </a:prstGeom>
          <a:solidFill>
            <a:srgbClr val="2583FF"/>
          </a:solidFill>
          <a:ln w="0">
            <a:noFill/>
            <a:prstDash val="solid"/>
          </a:ln>
        </p:spPr>
        <p:txBody>
          <a:bodyPr/>
          <a:lstStyle/>
          <a:p>
            <a:endParaRPr lang="en-US"/>
          </a:p>
        </p:txBody>
      </p:sp>
      <p:sp>
        <p:nvSpPr>
          <p:cNvPr id="11" name="bullet-text-3">
            <a:extLst>
              <a:ext uri="{FF2B5EF4-FFF2-40B4-BE49-F238E27FC236}">
                <a16:creationId xmlns:a16="http://schemas.microsoft.com/office/drawing/2014/main" id="{69A41974-BE79-40C1-A898-DAE0344C3165}"/>
              </a:ext>
            </a:extLst>
          </p:cNvPr>
          <p:cNvSpPr>
            <a:spLocks noGrp="1"/>
          </p:cNvSpPr>
          <p:nvPr/>
        </p:nvSpPr>
        <p:spPr>
          <a:xfrm>
            <a:off x="876300" y="4438650"/>
            <a:ext cx="9734550" cy="5524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Analysis and design connect needs to implementation</a:t>
            </a:r>
          </a:p>
        </p:txBody>
      </p:sp>
      <p:sp>
        <p:nvSpPr>
          <p:cNvPr id="12" name="bullet-4">
            <a:extLst>
              <a:ext uri="{FF2B5EF4-FFF2-40B4-BE49-F238E27FC236}">
                <a16:creationId xmlns:a16="http://schemas.microsoft.com/office/drawing/2014/main" id="{1F866163-53C3-4519-B205-7FCB03C7027A}"/>
              </a:ext>
            </a:extLst>
          </p:cNvPr>
          <p:cNvSpPr>
            <a:spLocks noGrp="1"/>
          </p:cNvSpPr>
          <p:nvPr/>
        </p:nvSpPr>
        <p:spPr>
          <a:xfrm>
            <a:off x="609600" y="5124450"/>
            <a:ext cx="95250" cy="95250"/>
          </a:xfrm>
          <a:prstGeom prst="rect">
            <a:avLst/>
          </a:prstGeom>
          <a:solidFill>
            <a:srgbClr val="2583FF"/>
          </a:solidFill>
          <a:ln w="0">
            <a:noFill/>
            <a:prstDash val="solid"/>
          </a:ln>
        </p:spPr>
        <p:txBody>
          <a:bodyPr/>
          <a:lstStyle/>
          <a:p>
            <a:endParaRPr lang="en-US"/>
          </a:p>
        </p:txBody>
      </p:sp>
      <p:sp>
        <p:nvSpPr>
          <p:cNvPr id="13" name="bullet-text-4">
            <a:extLst>
              <a:ext uri="{FF2B5EF4-FFF2-40B4-BE49-F238E27FC236}">
                <a16:creationId xmlns:a16="http://schemas.microsoft.com/office/drawing/2014/main" id="{CC9BB9ED-1F31-488A-978D-7F23A6A1959E}"/>
              </a:ext>
            </a:extLst>
          </p:cNvPr>
          <p:cNvSpPr>
            <a:spLocks noGrp="1"/>
          </p:cNvSpPr>
          <p:nvPr/>
        </p:nvSpPr>
        <p:spPr>
          <a:xfrm>
            <a:off x="876300" y="5029200"/>
            <a:ext cx="9734550" cy="552450"/>
          </a:xfrm>
          <a:prstGeom prst="rect">
            <a:avLst/>
          </a:prstGeom>
          <a:noFill/>
          <a:ln w="0">
            <a:noFill/>
            <a:prstDash val="solid"/>
          </a:ln>
        </p:spPr>
        <p:txBody>
          <a:bodyPr anchor="t"/>
          <a:lstStyle/>
          <a:p>
            <a:pPr algn="l">
              <a:defRPr sz="1800" b="0">
                <a:solidFill>
                  <a:srgbClr val="111318"/>
                </a:solidFill>
                <a:latin typeface="Arial"/>
                <a:ea typeface="Arial"/>
                <a:cs typeface="Arial"/>
              </a:defRPr>
            </a:pPr>
            <a:r>
              <a:rPr sz="1800" b="0">
                <a:solidFill>
                  <a:srgbClr val="111318"/>
                </a:solidFill>
                <a:latin typeface="Arial"/>
                <a:ea typeface="Arial"/>
                <a:cs typeface="Arial"/>
              </a:rPr>
              <a:t>Agile and testing practices support quality</a:t>
            </a:r>
          </a:p>
        </p:txBody>
      </p:sp>
    </p:spTree>
    <p:extLst>
      <p:ext uri="{BB962C8B-B14F-4D97-AF65-F5344CB8AC3E}">
        <p14:creationId xmlns:p14="http://schemas.microsoft.com/office/powerpoint/2010/main" val="1439163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6A8EAEAF-CAE4-40B2-B6CF-2566B13133A9}"/>
              </a:ext>
            </a:extLst>
          </p:cNvPr>
          <p:cNvSpPr>
            <a:spLocks noGrp="1"/>
          </p:cNvSpPr>
          <p:nvPr/>
        </p:nvSpPr>
        <p:spPr>
          <a:xfrm>
            <a:off x="457200" y="781050"/>
            <a:ext cx="10858500" cy="590550"/>
          </a:xfrm>
          <a:prstGeom prst="rect">
            <a:avLst/>
          </a:prstGeom>
          <a:noFill/>
          <a:ln w="0">
            <a:noFill/>
            <a:prstDash val="solid"/>
          </a:ln>
        </p:spPr>
        <p:txBody>
          <a:bodyPr anchor="t"/>
          <a:lstStyle/>
          <a:p>
            <a:pPr algn="l">
              <a:defRPr sz="3150" b="1">
                <a:solidFill>
                  <a:srgbClr val="111318"/>
                </a:solidFill>
                <a:latin typeface="Arial"/>
                <a:ea typeface="Arial"/>
                <a:cs typeface="Arial"/>
              </a:defRPr>
            </a:pPr>
            <a:r>
              <a:rPr sz="3150" b="1">
                <a:solidFill>
                  <a:srgbClr val="111318"/>
                </a:solidFill>
                <a:latin typeface="Arial"/>
                <a:ea typeface="Arial"/>
                <a:cs typeface="Arial"/>
              </a:rPr>
              <a:t>References</a:t>
            </a:r>
          </a:p>
        </p:txBody>
      </p:sp>
      <p:sp>
        <p:nvSpPr>
          <p:cNvPr id="3" name="title-rule">
            <a:extLst>
              <a:ext uri="{FF2B5EF4-FFF2-40B4-BE49-F238E27FC236}">
                <a16:creationId xmlns:a16="http://schemas.microsoft.com/office/drawing/2014/main" id="{5D26F4C6-F8BA-49ED-B17C-B12FC1EFB8D6}"/>
              </a:ext>
            </a:extLst>
          </p:cNvPr>
          <p:cNvSpPr>
            <a:spLocks noGrp="1"/>
          </p:cNvSpPr>
          <p:nvPr/>
        </p:nvSpPr>
        <p:spPr>
          <a:xfrm>
            <a:off x="457200" y="1466850"/>
            <a:ext cx="11277600" cy="19050"/>
          </a:xfrm>
          <a:prstGeom prst="rect">
            <a:avLst/>
          </a:prstGeom>
          <a:solidFill>
            <a:srgbClr val="C9CED6"/>
          </a:solidFill>
          <a:ln w="0">
            <a:noFill/>
            <a:prstDash val="solid"/>
          </a:ln>
        </p:spPr>
        <p:txBody>
          <a:bodyPr/>
          <a:lstStyle/>
          <a:p>
            <a:endParaRPr lang="en-US"/>
          </a:p>
        </p:txBody>
      </p:sp>
      <p:sp>
        <p:nvSpPr>
          <p:cNvPr id="4" name="slide-number">
            <a:extLst>
              <a:ext uri="{FF2B5EF4-FFF2-40B4-BE49-F238E27FC236}">
                <a16:creationId xmlns:a16="http://schemas.microsoft.com/office/drawing/2014/main" id="{F9542EBE-349A-4275-9B0F-49ABCAD53BB5}"/>
              </a:ext>
            </a:extLst>
          </p:cNvPr>
          <p:cNvSpPr>
            <a:spLocks noGrp="1"/>
          </p:cNvSpPr>
          <p:nvPr/>
        </p:nvSpPr>
        <p:spPr>
          <a:xfrm>
            <a:off x="11106150" y="6362700"/>
            <a:ext cx="628650" cy="209550"/>
          </a:xfrm>
          <a:prstGeom prst="rect">
            <a:avLst/>
          </a:prstGeom>
          <a:noFill/>
          <a:ln w="0">
            <a:noFill/>
            <a:prstDash val="solid"/>
          </a:ln>
        </p:spPr>
        <p:txBody>
          <a:bodyPr anchor="t"/>
          <a:lstStyle/>
          <a:p>
            <a:pPr algn="r">
              <a:defRPr sz="1050" b="0">
                <a:solidFill>
                  <a:srgbClr val="626A75"/>
                </a:solidFill>
                <a:latin typeface="Arial"/>
                <a:ea typeface="Arial"/>
                <a:cs typeface="Arial"/>
              </a:defRPr>
            </a:pPr>
            <a:r>
              <a:rPr sz="1050" b="0">
                <a:solidFill>
                  <a:srgbClr val="626A75"/>
                </a:solidFill>
                <a:latin typeface="Arial"/>
                <a:ea typeface="Arial"/>
                <a:cs typeface="Arial"/>
              </a:rPr>
              <a:t>16</a:t>
            </a:r>
          </a:p>
        </p:txBody>
      </p:sp>
      <p:sp>
        <p:nvSpPr>
          <p:cNvPr id="5" name="text">
            <a:extLst>
              <a:ext uri="{FF2B5EF4-FFF2-40B4-BE49-F238E27FC236}">
                <a16:creationId xmlns:a16="http://schemas.microsoft.com/office/drawing/2014/main" id="{CFEA2170-07B0-4837-A5A8-FAFE1543D715}"/>
              </a:ext>
            </a:extLst>
          </p:cNvPr>
          <p:cNvSpPr>
            <a:spLocks noGrp="1"/>
          </p:cNvSpPr>
          <p:nvPr/>
        </p:nvSpPr>
        <p:spPr>
          <a:xfrm>
            <a:off x="609600" y="1857375"/>
            <a:ext cx="571500" cy="333375"/>
          </a:xfrm>
          <a:prstGeom prst="rect">
            <a:avLst/>
          </a:prstGeom>
          <a:noFill/>
          <a:ln w="0">
            <a:noFill/>
            <a:prstDash val="solid"/>
          </a:ln>
        </p:spPr>
        <p:txBody>
          <a:bodyPr anchor="t"/>
          <a:lstStyle/>
          <a:p>
            <a:pPr algn="l">
              <a:defRPr sz="1275" b="1">
                <a:solidFill>
                  <a:srgbClr val="2583FF"/>
                </a:solidFill>
                <a:latin typeface="Arial"/>
                <a:ea typeface="Arial"/>
                <a:cs typeface="Arial"/>
              </a:defRPr>
            </a:pPr>
            <a:r>
              <a:rPr sz="1275" b="1">
                <a:solidFill>
                  <a:srgbClr val="2583FF"/>
                </a:solidFill>
                <a:latin typeface="Arial"/>
                <a:ea typeface="Arial"/>
                <a:cs typeface="Arial"/>
              </a:rPr>
              <a:t>01</a:t>
            </a:r>
          </a:p>
        </p:txBody>
      </p:sp>
      <p:sp>
        <p:nvSpPr>
          <p:cNvPr id="6" name="reference-1">
            <a:extLst>
              <a:ext uri="{FF2B5EF4-FFF2-40B4-BE49-F238E27FC236}">
                <a16:creationId xmlns:a16="http://schemas.microsoft.com/office/drawing/2014/main" id="{ACA1E859-588E-4ED1-B47F-B9D7C5ED395F}"/>
              </a:ext>
            </a:extLst>
          </p:cNvPr>
          <p:cNvSpPr>
            <a:spLocks noGrp="1"/>
          </p:cNvSpPr>
          <p:nvPr/>
        </p:nvSpPr>
        <p:spPr>
          <a:xfrm>
            <a:off x="1381125" y="1838325"/>
            <a:ext cx="9620250" cy="781050"/>
          </a:xfrm>
          <a:prstGeom prst="rect">
            <a:avLst/>
          </a:prstGeom>
          <a:noFill/>
          <a:ln w="0">
            <a:noFill/>
            <a:prstDash val="solid"/>
          </a:ln>
        </p:spPr>
        <p:txBody>
          <a:bodyPr anchor="t"/>
          <a:lstStyle/>
          <a:p>
            <a:pPr algn="l">
              <a:defRPr sz="1500" b="0">
                <a:solidFill>
                  <a:srgbClr val="111318"/>
                </a:solidFill>
                <a:latin typeface="Arial"/>
                <a:ea typeface="Arial"/>
                <a:cs typeface="Arial"/>
              </a:defRPr>
            </a:pPr>
            <a:r>
              <a:rPr sz="1500" b="0">
                <a:solidFill>
                  <a:srgbClr val="111318"/>
                </a:solidFill>
                <a:latin typeface="Arial"/>
                <a:ea typeface="Arial"/>
                <a:cs typeface="Arial"/>
              </a:rPr>
              <a:t>IBM. (n.d.). What is the Software Development Lifecycle (SDLC)?</a:t>
            </a:r>
          </a:p>
          <a:p>
            <a:pPr algn="l">
              <a:defRPr sz="1500" b="0">
                <a:solidFill>
                  <a:srgbClr val="111318"/>
                </a:solidFill>
                <a:latin typeface="Arial"/>
                <a:ea typeface="Arial"/>
                <a:cs typeface="Arial"/>
              </a:defRPr>
            </a:pPr>
            <a:r>
              <a:rPr sz="1500" b="0">
                <a:solidFill>
                  <a:srgbClr val="111318"/>
                </a:solidFill>
                <a:latin typeface="Arial"/>
                <a:ea typeface="Arial"/>
                <a:cs typeface="Arial"/>
              </a:rPr>
              <a:t>https://www.ibm.com/think/topics/sdlc</a:t>
            </a:r>
          </a:p>
        </p:txBody>
      </p:sp>
      <p:sp>
        <p:nvSpPr>
          <p:cNvPr id="7" name="text">
            <a:extLst>
              <a:ext uri="{FF2B5EF4-FFF2-40B4-BE49-F238E27FC236}">
                <a16:creationId xmlns:a16="http://schemas.microsoft.com/office/drawing/2014/main" id="{CC327894-B32D-42F1-9A66-B3ED234CCC92}"/>
              </a:ext>
            </a:extLst>
          </p:cNvPr>
          <p:cNvSpPr>
            <a:spLocks noGrp="1"/>
          </p:cNvSpPr>
          <p:nvPr/>
        </p:nvSpPr>
        <p:spPr>
          <a:xfrm>
            <a:off x="609600" y="2857500"/>
            <a:ext cx="571500" cy="333375"/>
          </a:xfrm>
          <a:prstGeom prst="rect">
            <a:avLst/>
          </a:prstGeom>
          <a:noFill/>
          <a:ln w="0">
            <a:noFill/>
            <a:prstDash val="solid"/>
          </a:ln>
        </p:spPr>
        <p:txBody>
          <a:bodyPr anchor="t"/>
          <a:lstStyle/>
          <a:p>
            <a:pPr algn="l">
              <a:defRPr sz="1275" b="1">
                <a:solidFill>
                  <a:srgbClr val="2583FF"/>
                </a:solidFill>
                <a:latin typeface="Arial"/>
                <a:ea typeface="Arial"/>
                <a:cs typeface="Arial"/>
              </a:defRPr>
            </a:pPr>
            <a:r>
              <a:rPr sz="1275" b="1">
                <a:solidFill>
                  <a:srgbClr val="2583FF"/>
                </a:solidFill>
                <a:latin typeface="Arial"/>
                <a:ea typeface="Arial"/>
                <a:cs typeface="Arial"/>
              </a:rPr>
              <a:t>02</a:t>
            </a:r>
          </a:p>
        </p:txBody>
      </p:sp>
      <p:sp>
        <p:nvSpPr>
          <p:cNvPr id="8" name="reference-2">
            <a:extLst>
              <a:ext uri="{FF2B5EF4-FFF2-40B4-BE49-F238E27FC236}">
                <a16:creationId xmlns:a16="http://schemas.microsoft.com/office/drawing/2014/main" id="{DE98D942-23C2-497D-B271-65C96169DE5F}"/>
              </a:ext>
            </a:extLst>
          </p:cNvPr>
          <p:cNvSpPr>
            <a:spLocks noGrp="1"/>
          </p:cNvSpPr>
          <p:nvPr/>
        </p:nvSpPr>
        <p:spPr>
          <a:xfrm>
            <a:off x="1381125" y="2838450"/>
            <a:ext cx="9620250" cy="781050"/>
          </a:xfrm>
          <a:prstGeom prst="rect">
            <a:avLst/>
          </a:prstGeom>
          <a:noFill/>
          <a:ln w="0">
            <a:noFill/>
            <a:prstDash val="solid"/>
          </a:ln>
        </p:spPr>
        <p:txBody>
          <a:bodyPr anchor="t"/>
          <a:lstStyle/>
          <a:p>
            <a:pPr algn="l">
              <a:defRPr sz="1500" b="0">
                <a:solidFill>
                  <a:srgbClr val="111318"/>
                </a:solidFill>
                <a:latin typeface="Arial"/>
                <a:ea typeface="Arial"/>
                <a:cs typeface="Arial"/>
              </a:defRPr>
            </a:pPr>
            <a:r>
              <a:rPr sz="1500" b="0">
                <a:solidFill>
                  <a:srgbClr val="111318"/>
                </a:solidFill>
                <a:latin typeface="Arial"/>
                <a:ea typeface="Arial"/>
                <a:cs typeface="Arial"/>
              </a:rPr>
              <a:t>Harness. (2023, December 13). The Seven Phases of the Software Development Life Cycle.</a:t>
            </a:r>
          </a:p>
          <a:p>
            <a:pPr algn="l">
              <a:defRPr sz="1500" b="0">
                <a:solidFill>
                  <a:srgbClr val="111318"/>
                </a:solidFill>
                <a:latin typeface="Arial"/>
                <a:ea typeface="Arial"/>
                <a:cs typeface="Arial"/>
              </a:defRPr>
            </a:pPr>
            <a:r>
              <a:rPr sz="1500" b="0">
                <a:solidFill>
                  <a:srgbClr val="111318"/>
                </a:solidFill>
                <a:latin typeface="Arial"/>
                <a:ea typeface="Arial"/>
                <a:cs typeface="Arial"/>
              </a:rPr>
              <a:t>https://www.harness.io/blog/software-development-life-cycle-phases</a:t>
            </a:r>
          </a:p>
        </p:txBody>
      </p:sp>
      <p:sp>
        <p:nvSpPr>
          <p:cNvPr id="9" name="text">
            <a:extLst>
              <a:ext uri="{FF2B5EF4-FFF2-40B4-BE49-F238E27FC236}">
                <a16:creationId xmlns:a16="http://schemas.microsoft.com/office/drawing/2014/main" id="{B442B297-E762-4A32-BF2F-878703994894}"/>
              </a:ext>
            </a:extLst>
          </p:cNvPr>
          <p:cNvSpPr>
            <a:spLocks noGrp="1"/>
          </p:cNvSpPr>
          <p:nvPr/>
        </p:nvSpPr>
        <p:spPr>
          <a:xfrm>
            <a:off x="609600" y="3857625"/>
            <a:ext cx="571500" cy="333375"/>
          </a:xfrm>
          <a:prstGeom prst="rect">
            <a:avLst/>
          </a:prstGeom>
          <a:noFill/>
          <a:ln w="0">
            <a:noFill/>
            <a:prstDash val="solid"/>
          </a:ln>
        </p:spPr>
        <p:txBody>
          <a:bodyPr anchor="t"/>
          <a:lstStyle/>
          <a:p>
            <a:pPr algn="l">
              <a:defRPr sz="1275" b="1">
                <a:solidFill>
                  <a:srgbClr val="2583FF"/>
                </a:solidFill>
                <a:latin typeface="Arial"/>
                <a:ea typeface="Arial"/>
                <a:cs typeface="Arial"/>
              </a:defRPr>
            </a:pPr>
            <a:r>
              <a:rPr sz="1275" b="1">
                <a:solidFill>
                  <a:srgbClr val="2583FF"/>
                </a:solidFill>
                <a:latin typeface="Arial"/>
                <a:ea typeface="Arial"/>
                <a:cs typeface="Arial"/>
              </a:rPr>
              <a:t>03</a:t>
            </a:r>
          </a:p>
        </p:txBody>
      </p:sp>
      <p:sp>
        <p:nvSpPr>
          <p:cNvPr id="10" name="reference-3">
            <a:extLst>
              <a:ext uri="{FF2B5EF4-FFF2-40B4-BE49-F238E27FC236}">
                <a16:creationId xmlns:a16="http://schemas.microsoft.com/office/drawing/2014/main" id="{07261176-9BA4-4F8C-B508-3A5E864182DE}"/>
              </a:ext>
            </a:extLst>
          </p:cNvPr>
          <p:cNvSpPr>
            <a:spLocks noGrp="1"/>
          </p:cNvSpPr>
          <p:nvPr/>
        </p:nvSpPr>
        <p:spPr>
          <a:xfrm>
            <a:off x="1381125" y="3838575"/>
            <a:ext cx="9620250" cy="781050"/>
          </a:xfrm>
          <a:prstGeom prst="rect">
            <a:avLst/>
          </a:prstGeom>
          <a:noFill/>
          <a:ln w="0">
            <a:noFill/>
            <a:prstDash val="solid"/>
          </a:ln>
        </p:spPr>
        <p:txBody>
          <a:bodyPr anchor="t"/>
          <a:lstStyle/>
          <a:p>
            <a:pPr algn="l">
              <a:defRPr sz="1500" b="0">
                <a:solidFill>
                  <a:srgbClr val="111318"/>
                </a:solidFill>
                <a:latin typeface="Arial"/>
                <a:ea typeface="Arial"/>
                <a:cs typeface="Arial"/>
              </a:defRPr>
            </a:pPr>
            <a:r>
              <a:rPr sz="1500" b="0">
                <a:solidFill>
                  <a:srgbClr val="111318"/>
                </a:solidFill>
                <a:latin typeface="Arial"/>
                <a:ea typeface="Arial"/>
                <a:cs typeface="Arial"/>
              </a:rPr>
              <a:t>Pressman, R. S., &amp; Maxim, B. R. (2020). Software Engineering: A Practitioner’s Approach (9th ed.). McGraw-Hill.</a:t>
            </a:r>
          </a:p>
        </p:txBody>
      </p:sp>
      <p:sp>
        <p:nvSpPr>
          <p:cNvPr id="11" name="text">
            <a:extLst>
              <a:ext uri="{FF2B5EF4-FFF2-40B4-BE49-F238E27FC236}">
                <a16:creationId xmlns:a16="http://schemas.microsoft.com/office/drawing/2014/main" id="{728D665E-EFF0-4F92-860E-2C22B1302A70}"/>
              </a:ext>
            </a:extLst>
          </p:cNvPr>
          <p:cNvSpPr>
            <a:spLocks noGrp="1"/>
          </p:cNvSpPr>
          <p:nvPr/>
        </p:nvSpPr>
        <p:spPr>
          <a:xfrm>
            <a:off x="609600" y="4857750"/>
            <a:ext cx="571500" cy="333375"/>
          </a:xfrm>
          <a:prstGeom prst="rect">
            <a:avLst/>
          </a:prstGeom>
          <a:noFill/>
          <a:ln w="0">
            <a:noFill/>
            <a:prstDash val="solid"/>
          </a:ln>
        </p:spPr>
        <p:txBody>
          <a:bodyPr anchor="t"/>
          <a:lstStyle/>
          <a:p>
            <a:pPr algn="l">
              <a:defRPr sz="1275" b="1">
                <a:solidFill>
                  <a:srgbClr val="2583FF"/>
                </a:solidFill>
                <a:latin typeface="Arial"/>
                <a:ea typeface="Arial"/>
                <a:cs typeface="Arial"/>
              </a:defRPr>
            </a:pPr>
            <a:r>
              <a:rPr sz="1275" b="1">
                <a:solidFill>
                  <a:srgbClr val="2583FF"/>
                </a:solidFill>
                <a:latin typeface="Arial"/>
                <a:ea typeface="Arial"/>
                <a:cs typeface="Arial"/>
              </a:rPr>
              <a:t>04</a:t>
            </a:r>
          </a:p>
        </p:txBody>
      </p:sp>
      <p:sp>
        <p:nvSpPr>
          <p:cNvPr id="12" name="reference-4">
            <a:extLst>
              <a:ext uri="{FF2B5EF4-FFF2-40B4-BE49-F238E27FC236}">
                <a16:creationId xmlns:a16="http://schemas.microsoft.com/office/drawing/2014/main" id="{12DBFB7F-223E-47B2-905C-87D18623D3FF}"/>
              </a:ext>
            </a:extLst>
          </p:cNvPr>
          <p:cNvSpPr>
            <a:spLocks noGrp="1"/>
          </p:cNvSpPr>
          <p:nvPr/>
        </p:nvSpPr>
        <p:spPr>
          <a:xfrm>
            <a:off x="1381125" y="4838700"/>
            <a:ext cx="9620250" cy="781050"/>
          </a:xfrm>
          <a:prstGeom prst="rect">
            <a:avLst/>
          </a:prstGeom>
          <a:noFill/>
          <a:ln w="0">
            <a:noFill/>
            <a:prstDash val="solid"/>
          </a:ln>
        </p:spPr>
        <p:txBody>
          <a:bodyPr anchor="t"/>
          <a:lstStyle/>
          <a:p>
            <a:pPr algn="l">
              <a:defRPr sz="1500" b="0">
                <a:solidFill>
                  <a:srgbClr val="111318"/>
                </a:solidFill>
                <a:latin typeface="Arial"/>
                <a:ea typeface="Arial"/>
                <a:cs typeface="Arial"/>
              </a:defRPr>
            </a:pPr>
            <a:r>
              <a:rPr sz="1500" b="0">
                <a:solidFill>
                  <a:srgbClr val="111318"/>
                </a:solidFill>
                <a:latin typeface="Arial"/>
                <a:ea typeface="Arial"/>
                <a:cs typeface="Arial"/>
              </a:rPr>
              <a:t>Sommerville, I. (2016). Software Engineering (10th ed.). Pearson.</a:t>
            </a:r>
          </a:p>
        </p:txBody>
      </p:sp>
    </p:spTree>
    <p:extLst>
      <p:ext uri="{BB962C8B-B14F-4D97-AF65-F5344CB8AC3E}">
        <p14:creationId xmlns:p14="http://schemas.microsoft.com/office/powerpoint/2010/main" val="134644173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1733</Words>
  <Application>Microsoft Office PowerPoint</Application>
  <DocSecurity>0</DocSecurity>
  <PresentationFormat>Widescreen</PresentationFormat>
  <Paragraphs>179</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 coon</cp:lastModifiedBy>
  <cp:revision>3</cp:revision>
  <dcterms:created xsi:type="dcterms:W3CDTF">2026-08-06T00:39:32Z</dcterms:created>
  <dcterms:modified xsi:type="dcterms:W3CDTF">2026-08-06T01:09:16Z</dcterms:modified>
</cp:coreProperties>
</file>