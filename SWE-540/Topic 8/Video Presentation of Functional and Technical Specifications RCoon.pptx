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2192000" cy="6858000"/>
  <p:notesSz cx="6858000" cy="9144000"/>
  <p:defaultTextStyle>
    <a:defPPr>
      <a:defRPr lang="en-US"/>
    </a:defPPr>
    <a:lvl1pPr marL="0" indent="0" algn="l" defTabSz="914400">
      <a:defRPr sz="1800" kern="1200">
        <a:solidFill>
          <a:schemeClr val="tx1"/>
        </a:solidFill>
        <a:latin typeface="+mn-lt"/>
        <a:ea typeface="+mn-ea"/>
        <a:cs typeface="+mn-cs"/>
      </a:defRPr>
    </a:lvl1pPr>
    <a:lvl2pPr marL="457200" indent="0" algn="l" defTabSz="914400">
      <a:defRPr sz="1800" kern="1200">
        <a:solidFill>
          <a:schemeClr val="tx1"/>
        </a:solidFill>
        <a:latin typeface="+mn-lt"/>
        <a:ea typeface="+mn-ea"/>
        <a:cs typeface="+mn-cs"/>
      </a:defRPr>
    </a:lvl2pPr>
    <a:lvl3pPr marL="914400" indent="0" algn="l" defTabSz="914400">
      <a:defRPr sz="1800" kern="1200">
        <a:solidFill>
          <a:schemeClr val="tx1"/>
        </a:solidFill>
        <a:latin typeface="+mn-lt"/>
        <a:ea typeface="+mn-ea"/>
        <a:cs typeface="+mn-cs"/>
      </a:defRPr>
    </a:lvl3pPr>
    <a:lvl4pPr marL="1371600" indent="0" algn="l" defTabSz="914400">
      <a:defRPr sz="1800" kern="1200">
        <a:solidFill>
          <a:schemeClr val="tx1"/>
        </a:solidFill>
        <a:latin typeface="+mn-lt"/>
        <a:ea typeface="+mn-ea"/>
        <a:cs typeface="+mn-cs"/>
      </a:defRPr>
    </a:lvl4pPr>
    <a:lvl5pPr marL="1828800" indent="0" algn="l" defTabSz="914400">
      <a:defRPr sz="1800" kern="1200">
        <a:solidFill>
          <a:schemeClr val="tx1"/>
        </a:solidFill>
        <a:latin typeface="+mn-lt"/>
        <a:ea typeface="+mn-ea"/>
        <a:cs typeface="+mn-cs"/>
      </a:defRPr>
    </a:lvl5pPr>
    <a:lvl6pPr marL="2286000" indent="0" algn="l" defTabSz="914400">
      <a:defRPr sz="1800" kern="1200">
        <a:solidFill>
          <a:schemeClr val="tx1"/>
        </a:solidFill>
        <a:latin typeface="+mn-lt"/>
        <a:ea typeface="+mn-ea"/>
        <a:cs typeface="+mn-cs"/>
      </a:defRPr>
    </a:lvl6pPr>
    <a:lvl7pPr marL="2743200" indent="0" algn="l" defTabSz="914400">
      <a:defRPr sz="1800" kern="1200">
        <a:solidFill>
          <a:schemeClr val="tx1"/>
        </a:solidFill>
        <a:latin typeface="+mn-lt"/>
        <a:ea typeface="+mn-ea"/>
        <a:cs typeface="+mn-cs"/>
      </a:defRPr>
    </a:lvl7pPr>
    <a:lvl8pPr marL="3200400" indent="0" algn="l" defTabSz="914400">
      <a:defRPr sz="1800" kern="1200">
        <a:solidFill>
          <a:schemeClr val="tx1"/>
        </a:solidFill>
        <a:latin typeface="+mn-lt"/>
        <a:ea typeface="+mn-ea"/>
        <a:cs typeface="+mn-cs"/>
      </a:defRPr>
    </a:lvl8pPr>
    <a:lvl9pPr marL="3657600" indent="0" algn="l" defTabSz="914400">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5" d="100"/>
          <a:sy n="105" d="100"/>
        </p:scale>
        <p:origin x="798"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Welcome to my presentation on the Byte Bazaar project. Over the next 15 minutes, I will provide a detailed overview of the project, starting from the economic analysis and team leadership aspects, moving through the design of functional and technical specifications, and concluding with how we apply the Software Development Life Cycle to ensure a successful software development process. This presentation aims to give a holistic view of how Byte Bazaar is planned, developed, and managed.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Byte Bazaar is envisioned as a comprehensive e-commerce platform that enables users to browse, select, and purchase products online with ease. The system is designed with a strong focus on usability to ensure a smooth user experience, security to protect sensitive data and transactions, and scalability to support growth in users and product listings. It serves both end customers and administrators who manage product inventories and orders.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200" kern="1200" dirty="0">
                <a:effectLst/>
              </a:rPr>
              <a:t>The primary goals of Byte Bazaar are to improve the online shopping experience, ensure secure transactions, and provide the business with effective tools for managing products and orders. The system must also be scalable so it can grow as demand increases. In addition, the development process must address realistic constraints such as budget, timeline, technical resources, and operational needs.</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The economic analysis phase involved a thorough assessment of all costs associated with the project, including software development labor, hardware and infrastructure expenses, and ongoing maintenance. We also projected the benefits, such as increased revenue from online sales, improved operational efficiency by automating manual processes, and enhanced customer retention through better service. By comparing these costs and benefits, we established a positive return on investment, justifying the project’s continuation. Additionally, we evaluated risks such as market competition and technology changes to ensure informed decision-making.</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Effective team leadership is critical to project success. For Byte Bazaar, roles were clearly defined to ensure accountability: developers focused on coding, testers on quality assurance, project managers on coordination, and business analysts on requirements gathering. Communication protocols such as daily stand-ups and weekly progress reports kept everyone aligned. Encouraging collaboration helped the team quickly resolve challenges. Setting realistic deadlines and tracking milestones ensured steady progress and timely delivery.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During planning, we clearly defined the scope of Byte Bazaar to avoid scope creep and set achievable objectives. Feasibility studies assessed whether the project was technically possible, operationally viable, and economically justified. Risks such as technology limitations and market shifts were identified early, with mitigation plans developed. A detailed schedule outlined key milestones, and resources were allocated to ensure the project stayed on track.</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The Software Development Life Cycle, or SDLC, provides a structured approach to software development, consisting of six key phases. Planning defines the project scope and resources; analysis gathers detailed requirements; design creates system blueprints; implementation involves coding; testing verifies functionality; and maintenance supports ongoing improvements. Byte Bazaar uses an iterative approach, allowing flexibility to adapt to changes while emphasizing planning and control to manage risks effectively.</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Functional specifications describe what Byte Bazaar must do from the user’s perspective. Key features include user registration and secure login, product search and browsing, shopping cart management, checkout with payment processing, and order tracking. For administrators, features include managing product listings, controlling inventory, and processing orders. Workflow diagrams help visualize user interactions, and acceptance criteria define how each function will be validated.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Technical specifications detail how Byte Bazaar will be built. The system uses a client-server architecture with a web-based frontend accessible via browsers. The backend employs a relational database to store product, user, and order data. APIs integrate payment gateways and other third-party services. Security is paramount, with SSL encryption protecting data in transit, multi-factor authentication securing accounts, and data protection policies in place. Performance considerations include load balancing and caching to ensure the system scales efficiently under high traffic.</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System analysis involved gathering detailed requirements from business stakeholders and users. We identified all inputs, such as user data and product information, and outputs like order confirmations and sales reports. Mapping workflows and data flows helped clarify system operations. Constraints such as budget limits, project timeline, and technology choices were considered. Risks including potential security threats and integration challenges were evaluated to prepare mitigation strategies.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In the design phase, we created modular system components to facilitate maintainability and scalability. User interface wireframes were developed with a focus on intuitive navigation and accessibility. Data flow diagrams detailed backend processes such as order processing and inventory updates. Integration points with payment gateways and external services were planned carefully, including error handling mechanisms. The design also ensures responsiveness, so the platform works well on desktops, tablets, and smartphones.</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Managing development required coordinating tasks across all SDLC phases using tools like Jira or Trello. Progress was tracked against milestones and deliverables to ensure timely completion. Balancing cost, quality, and schedule was a constant focus to deliver value without compromising standards. Effective communication channels between developers, testers, and stakeholders helped resolve issues quickly and keep everyone aligned.</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We adopted Agile methodology to allow flexibility and iterative progress. Features were delivered incrementally in sprints, enabling early testing and feedback. User stories were used to validate requirements continuously, ensuring the product met user needs. Comprehensive documentation and version control practices ensured traceability and facilitated collaboration.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Testing was conducted at multiple levels: unit testing verified individual components, integration testing ensured modules worked together, and system testing validated end-to-end functionality. User acceptance testing confirmed the system met business requirements. Security testing protected against vulnerabilities, and performance testing ensured the system could handle expected loads without degradation.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b="0" i="0" kern="1200" dirty="0">
                <a:effectLst/>
              </a:rPr>
              <a:t>In conclusion, Byte Bazaar’s success is built on a structured SDLC approach supported by clear functional and technical specifications. The planning and control phases help mitigate risks and keep the project aligned with goals. Agile development and rigorous testing practices ensure high quality and adaptability. Together, these efforts deliver a system that meets both business objectives and user expectations effectively. Thank you for your attention.</a:t>
            </a:r>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3" name="deck-title">
            <a:extLst>
              <a:ext uri="{FF2B5EF4-FFF2-40B4-BE49-F238E27FC236}">
                <a16:creationId xmlns:a16="http://schemas.microsoft.com/office/drawing/2014/main" id="{0C6AE4F9-31F2-43E8-BF23-B3768AFCC43C}"/>
              </a:ext>
            </a:extLst>
          </p:cNvPr>
          <p:cNvSpPr>
            <a:spLocks noGrp="1"/>
          </p:cNvSpPr>
          <p:nvPr/>
        </p:nvSpPr>
        <p:spPr>
          <a:xfrm>
            <a:off x="457200" y="2238375"/>
            <a:ext cx="8191500" cy="1619250"/>
          </a:xfrm>
          <a:prstGeom prst="rect">
            <a:avLst/>
          </a:prstGeom>
          <a:noFill/>
          <a:ln w="0">
            <a:noFill/>
            <a:prstDash val="solid"/>
          </a:ln>
        </p:spPr>
        <p:txBody>
          <a:bodyPr anchor="t"/>
          <a:lstStyle/>
          <a:p>
            <a:pPr algn="l">
              <a:defRPr sz="4650" b="1">
                <a:solidFill>
                  <a:srgbClr val="111318"/>
                </a:solidFill>
                <a:latin typeface="Arial"/>
                <a:ea typeface="Arial"/>
                <a:cs typeface="Arial"/>
              </a:defRPr>
            </a:pPr>
            <a:r>
              <a:rPr sz="4650" b="1">
                <a:solidFill>
                  <a:srgbClr val="111318"/>
                </a:solidFill>
                <a:latin typeface="Arial"/>
                <a:ea typeface="Arial"/>
                <a:cs typeface="Arial"/>
              </a:rPr>
              <a:t>Byte Bazaar Project</a:t>
            </a:r>
          </a:p>
          <a:p>
            <a:pPr algn="l">
              <a:defRPr sz="4650" b="1">
                <a:solidFill>
                  <a:srgbClr val="111318"/>
                </a:solidFill>
                <a:latin typeface="Arial"/>
                <a:ea typeface="Arial"/>
                <a:cs typeface="Arial"/>
              </a:defRPr>
            </a:pPr>
            <a:r>
              <a:rPr sz="4650" b="1">
                <a:solidFill>
                  <a:srgbClr val="111318"/>
                </a:solidFill>
                <a:latin typeface="Arial"/>
                <a:ea typeface="Arial"/>
                <a:cs typeface="Arial"/>
              </a:rPr>
              <a:t>Presentation</a:t>
            </a:r>
          </a:p>
        </p:txBody>
      </p:sp>
      <p:sp>
        <p:nvSpPr>
          <p:cNvPr id="4" name="text">
            <a:extLst>
              <a:ext uri="{FF2B5EF4-FFF2-40B4-BE49-F238E27FC236}">
                <a16:creationId xmlns:a16="http://schemas.microsoft.com/office/drawing/2014/main" id="{1C2985DA-0D68-4C07-9EA7-078AC587AF2E}"/>
              </a:ext>
            </a:extLst>
          </p:cNvPr>
          <p:cNvSpPr>
            <a:spLocks noGrp="1"/>
          </p:cNvSpPr>
          <p:nvPr/>
        </p:nvSpPr>
        <p:spPr>
          <a:xfrm>
            <a:off x="476250" y="4095750"/>
            <a:ext cx="7810500" cy="552450"/>
          </a:xfrm>
          <a:prstGeom prst="rect">
            <a:avLst/>
          </a:prstGeom>
          <a:noFill/>
          <a:ln w="0">
            <a:noFill/>
            <a:prstDash val="solid"/>
          </a:ln>
        </p:spPr>
        <p:txBody>
          <a:bodyPr anchor="t"/>
          <a:lstStyle/>
          <a:p>
            <a:pPr algn="l">
              <a:defRPr sz="1875" b="0">
                <a:solidFill>
                  <a:srgbClr val="626A75"/>
                </a:solidFill>
                <a:latin typeface="Arial"/>
                <a:ea typeface="Arial"/>
                <a:cs typeface="Arial"/>
              </a:defRPr>
            </a:pPr>
            <a:r>
              <a:rPr sz="1875" b="0">
                <a:solidFill>
                  <a:srgbClr val="626A75"/>
                </a:solidFill>
                <a:latin typeface="Arial"/>
                <a:ea typeface="Arial"/>
                <a:cs typeface="Arial"/>
              </a:rPr>
              <a:t>From Economic Analysis to Functional and Technical Specifications</a:t>
            </a:r>
          </a:p>
        </p:txBody>
      </p:sp>
      <p:sp>
        <p:nvSpPr>
          <p:cNvPr id="5" name="accent-bar">
            <a:extLst>
              <a:ext uri="{FF2B5EF4-FFF2-40B4-BE49-F238E27FC236}">
                <a16:creationId xmlns:a16="http://schemas.microsoft.com/office/drawing/2014/main" id="{DE8BC6F9-323E-4653-8853-1E9CEBC6660C}"/>
              </a:ext>
            </a:extLst>
          </p:cNvPr>
          <p:cNvSpPr>
            <a:spLocks noGrp="1"/>
          </p:cNvSpPr>
          <p:nvPr/>
        </p:nvSpPr>
        <p:spPr>
          <a:xfrm>
            <a:off x="9144000" y="2171700"/>
            <a:ext cx="133350" cy="2762250"/>
          </a:xfrm>
          <a:prstGeom prst="rect">
            <a:avLst/>
          </a:prstGeom>
          <a:solidFill>
            <a:srgbClr val="2583FF"/>
          </a:solidFill>
          <a:ln w="0">
            <a:noFill/>
            <a:prstDash val="solid"/>
          </a:ln>
        </p:spPr>
        <p:txBody>
          <a:bodyPr/>
          <a:lstStyle/>
          <a:p>
            <a:endParaRPr lang="en-US"/>
          </a:p>
        </p:txBody>
      </p:sp>
      <p:sp>
        <p:nvSpPr>
          <p:cNvPr id="6" name="author-course">
            <a:extLst>
              <a:ext uri="{FF2B5EF4-FFF2-40B4-BE49-F238E27FC236}">
                <a16:creationId xmlns:a16="http://schemas.microsoft.com/office/drawing/2014/main" id="{119C55EE-48C4-4225-8DB3-0EDED7A9AAFC}"/>
              </a:ext>
            </a:extLst>
          </p:cNvPr>
          <p:cNvSpPr>
            <a:spLocks noGrp="1"/>
          </p:cNvSpPr>
          <p:nvPr/>
        </p:nvSpPr>
        <p:spPr>
          <a:xfrm>
            <a:off x="9601200" y="4000500"/>
            <a:ext cx="2133600" cy="952500"/>
          </a:xfrm>
          <a:prstGeom prst="rect">
            <a:avLst/>
          </a:prstGeom>
          <a:noFill/>
          <a:ln w="0">
            <a:noFill/>
            <a:prstDash val="solid"/>
          </a:ln>
        </p:spPr>
        <p:txBody>
          <a:bodyPr anchor="t"/>
          <a:lstStyle/>
          <a:p>
            <a:pPr algn="l">
              <a:defRPr sz="1650" b="0">
                <a:solidFill>
                  <a:srgbClr val="111318"/>
                </a:solidFill>
                <a:latin typeface="Arial"/>
                <a:ea typeface="Arial"/>
                <a:cs typeface="Arial"/>
              </a:defRPr>
            </a:pPr>
            <a:r>
              <a:rPr lang="en-US" sz="1650" b="0" dirty="0">
                <a:solidFill>
                  <a:srgbClr val="111318"/>
                </a:solidFill>
                <a:latin typeface="Arial"/>
                <a:ea typeface="Arial"/>
                <a:cs typeface="Arial"/>
              </a:rPr>
              <a:t>Ryan Coon</a:t>
            </a:r>
            <a:endParaRPr sz="1650" b="0" dirty="0">
              <a:solidFill>
                <a:srgbClr val="111318"/>
              </a:solidFill>
              <a:latin typeface="Arial"/>
              <a:ea typeface="Arial"/>
              <a:cs typeface="Arial"/>
            </a:endParaRPr>
          </a:p>
          <a:p>
            <a:pPr algn="l">
              <a:defRPr sz="1650" b="0">
                <a:solidFill>
                  <a:srgbClr val="111318"/>
                </a:solidFill>
                <a:latin typeface="Arial"/>
                <a:ea typeface="Arial"/>
                <a:cs typeface="Arial"/>
              </a:defRPr>
            </a:pPr>
            <a:r>
              <a:rPr lang="en-US" sz="1650" dirty="0">
                <a:solidFill>
                  <a:srgbClr val="111318"/>
                </a:solidFill>
                <a:latin typeface="Arial"/>
                <a:ea typeface="Arial"/>
                <a:cs typeface="Arial"/>
              </a:rPr>
              <a:t>SWE-540</a:t>
            </a:r>
          </a:p>
          <a:p>
            <a:pPr algn="l">
              <a:defRPr sz="1650" b="0">
                <a:solidFill>
                  <a:srgbClr val="111318"/>
                </a:solidFill>
                <a:latin typeface="Arial"/>
                <a:ea typeface="Arial"/>
                <a:cs typeface="Arial"/>
              </a:defRPr>
            </a:pPr>
            <a:r>
              <a:rPr lang="en-US" sz="1650" b="0" dirty="0">
                <a:solidFill>
                  <a:srgbClr val="111318"/>
                </a:solidFill>
                <a:latin typeface="Arial"/>
                <a:ea typeface="Arial"/>
                <a:cs typeface="Arial"/>
              </a:rPr>
              <a:t>Professor Ali Wahid</a:t>
            </a:r>
          </a:p>
          <a:p>
            <a:pPr>
              <a:defRPr sz="1650" b="0">
                <a:solidFill>
                  <a:srgbClr val="111318"/>
                </a:solidFill>
                <a:latin typeface="Arial"/>
                <a:ea typeface="Arial"/>
                <a:cs typeface="Arial"/>
              </a:defRPr>
            </a:pPr>
            <a:r>
              <a:rPr lang="en-US" dirty="0">
                <a:latin typeface="Arial"/>
                <a:ea typeface="Arial"/>
                <a:cs typeface="Arial"/>
              </a:rPr>
              <a:t>August 5, 2026</a:t>
            </a:r>
          </a:p>
          <a:p>
            <a:pPr algn="l">
              <a:defRPr sz="1650" b="0">
                <a:solidFill>
                  <a:srgbClr val="111318"/>
                </a:solidFill>
                <a:latin typeface="Arial"/>
                <a:ea typeface="Arial"/>
                <a:cs typeface="Arial"/>
              </a:defRPr>
            </a:pPr>
            <a:endParaRPr sz="1650" b="0" dirty="0">
              <a:solidFill>
                <a:srgbClr val="111318"/>
              </a:solidFill>
              <a:latin typeface="Arial"/>
              <a:ea typeface="Arial"/>
              <a:cs typeface="Arial"/>
            </a:endParaRPr>
          </a:p>
        </p:txBody>
      </p:sp>
      <p:pic>
        <p:nvPicPr>
          <p:cNvPr id="11" name="Picture 10">
            <a:extLst>
              <a:ext uri="{FF2B5EF4-FFF2-40B4-BE49-F238E27FC236}">
                <a16:creationId xmlns:a16="http://schemas.microsoft.com/office/drawing/2014/main" id="{2365892D-ED21-7D34-92D6-F24C10147A5E}"/>
              </a:ext>
            </a:extLst>
          </p:cNvPr>
          <p:cNvPicPr>
            <a:picLocks noChangeAspect="1"/>
          </p:cNvPicPr>
          <p:nvPr/>
        </p:nvPicPr>
        <p:blipFill>
          <a:blip r:embed="rId3"/>
          <a:stretch>
            <a:fillRect/>
          </a:stretch>
        </p:blipFill>
        <p:spPr>
          <a:xfrm>
            <a:off x="266701" y="273050"/>
            <a:ext cx="3067050" cy="2044700"/>
          </a:xfrm>
          <a:prstGeom prst="rect">
            <a:avLst/>
          </a:prstGeom>
        </p:spPr>
      </p:pic>
    </p:spTree>
    <p:extLst>
      <p:ext uri="{BB962C8B-B14F-4D97-AF65-F5344CB8AC3E}">
        <p14:creationId xmlns:p14="http://schemas.microsoft.com/office/powerpoint/2010/main" val="193709573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A3C3A783-93D9-438E-81DB-1D846C9D912F}"/>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What is Byte Bazaar?</a:t>
            </a:r>
          </a:p>
        </p:txBody>
      </p:sp>
      <p:sp>
        <p:nvSpPr>
          <p:cNvPr id="3" name="title-rule">
            <a:extLst>
              <a:ext uri="{FF2B5EF4-FFF2-40B4-BE49-F238E27FC236}">
                <a16:creationId xmlns:a16="http://schemas.microsoft.com/office/drawing/2014/main" id="{5917B13D-C399-44F0-93A5-1705B5B26838}"/>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FCC9F69C-F5FF-4E8F-8A0E-8E329C1E263E}"/>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02</a:t>
            </a:r>
          </a:p>
        </p:txBody>
      </p:sp>
      <p:sp>
        <p:nvSpPr>
          <p:cNvPr id="5" name="text">
            <a:extLst>
              <a:ext uri="{FF2B5EF4-FFF2-40B4-BE49-F238E27FC236}">
                <a16:creationId xmlns:a16="http://schemas.microsoft.com/office/drawing/2014/main" id="{917BF01A-D893-4DA8-BE05-36DEF2573E3D}"/>
              </a:ext>
            </a:extLst>
          </p:cNvPr>
          <p:cNvSpPr>
            <a:spLocks noGrp="1"/>
          </p:cNvSpPr>
          <p:nvPr/>
        </p:nvSpPr>
        <p:spPr>
          <a:xfrm>
            <a:off x="457200" y="1562100"/>
            <a:ext cx="8382000" cy="400050"/>
          </a:xfrm>
          <a:prstGeom prst="rect">
            <a:avLst/>
          </a:prstGeom>
          <a:noFill/>
          <a:ln w="0">
            <a:noFill/>
            <a:prstDash val="solid"/>
          </a:ln>
        </p:spPr>
        <p:txBody>
          <a:bodyPr anchor="t"/>
          <a:lstStyle/>
          <a:p>
            <a:pPr algn="l">
              <a:defRPr sz="1875" b="0">
                <a:solidFill>
                  <a:srgbClr val="626A75"/>
                </a:solidFill>
                <a:latin typeface="Arial"/>
                <a:ea typeface="Arial"/>
                <a:cs typeface="Arial"/>
              </a:defRPr>
            </a:pPr>
            <a:r>
              <a:rPr sz="1875" b="0" dirty="0">
                <a:solidFill>
                  <a:srgbClr val="626A75"/>
                </a:solidFill>
                <a:latin typeface="Arial"/>
                <a:ea typeface="Arial"/>
                <a:cs typeface="Arial"/>
              </a:rPr>
              <a:t>A computing-based e-commerce system built around four priorities.</a:t>
            </a:r>
          </a:p>
        </p:txBody>
      </p:sp>
      <p:sp>
        <p:nvSpPr>
          <p:cNvPr id="6" name="metric-1">
            <a:extLst>
              <a:ext uri="{FF2B5EF4-FFF2-40B4-BE49-F238E27FC236}">
                <a16:creationId xmlns:a16="http://schemas.microsoft.com/office/drawing/2014/main" id="{EA4A7E33-5467-47AE-97BD-EAEE29573472}"/>
              </a:ext>
            </a:extLst>
          </p:cNvPr>
          <p:cNvSpPr>
            <a:spLocks noGrp="1"/>
          </p:cNvSpPr>
          <p:nvPr/>
        </p:nvSpPr>
        <p:spPr>
          <a:xfrm>
            <a:off x="6096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01</a:t>
            </a:r>
          </a:p>
        </p:txBody>
      </p:sp>
      <p:sp>
        <p:nvSpPr>
          <p:cNvPr id="7" name="metric-label-1">
            <a:extLst>
              <a:ext uri="{FF2B5EF4-FFF2-40B4-BE49-F238E27FC236}">
                <a16:creationId xmlns:a16="http://schemas.microsoft.com/office/drawing/2014/main" id="{1FE02374-0EA6-4741-9191-C1D702171C81}"/>
              </a:ext>
            </a:extLst>
          </p:cNvPr>
          <p:cNvSpPr>
            <a:spLocks noGrp="1"/>
          </p:cNvSpPr>
          <p:nvPr/>
        </p:nvSpPr>
        <p:spPr>
          <a:xfrm>
            <a:off x="609600" y="2590800"/>
            <a:ext cx="24193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Online buying &amp; selling</a:t>
            </a:r>
          </a:p>
        </p:txBody>
      </p:sp>
      <p:sp>
        <p:nvSpPr>
          <p:cNvPr id="8" name="metric-2">
            <a:extLst>
              <a:ext uri="{FF2B5EF4-FFF2-40B4-BE49-F238E27FC236}">
                <a16:creationId xmlns:a16="http://schemas.microsoft.com/office/drawing/2014/main" id="{61952408-AEB9-4157-9E04-2AB3B370F417}"/>
              </a:ext>
            </a:extLst>
          </p:cNvPr>
          <p:cNvSpPr>
            <a:spLocks noGrp="1"/>
          </p:cNvSpPr>
          <p:nvPr/>
        </p:nvSpPr>
        <p:spPr>
          <a:xfrm>
            <a:off x="32766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02</a:t>
            </a:r>
          </a:p>
        </p:txBody>
      </p:sp>
      <p:sp>
        <p:nvSpPr>
          <p:cNvPr id="9" name="metric-label-2">
            <a:extLst>
              <a:ext uri="{FF2B5EF4-FFF2-40B4-BE49-F238E27FC236}">
                <a16:creationId xmlns:a16="http://schemas.microsoft.com/office/drawing/2014/main" id="{28187ECE-D7A4-4717-81E9-A32C4D5BAEB7}"/>
              </a:ext>
            </a:extLst>
          </p:cNvPr>
          <p:cNvSpPr>
            <a:spLocks noGrp="1"/>
          </p:cNvSpPr>
          <p:nvPr/>
        </p:nvSpPr>
        <p:spPr>
          <a:xfrm>
            <a:off x="3276600" y="2590800"/>
            <a:ext cx="24193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Usability</a:t>
            </a:r>
          </a:p>
        </p:txBody>
      </p:sp>
      <p:sp>
        <p:nvSpPr>
          <p:cNvPr id="10" name="metric-3">
            <a:extLst>
              <a:ext uri="{FF2B5EF4-FFF2-40B4-BE49-F238E27FC236}">
                <a16:creationId xmlns:a16="http://schemas.microsoft.com/office/drawing/2014/main" id="{B5F9D8E5-2877-4B4D-8C43-68B569F2614F}"/>
              </a:ext>
            </a:extLst>
          </p:cNvPr>
          <p:cNvSpPr>
            <a:spLocks noGrp="1"/>
          </p:cNvSpPr>
          <p:nvPr/>
        </p:nvSpPr>
        <p:spPr>
          <a:xfrm>
            <a:off x="59436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03</a:t>
            </a:r>
          </a:p>
        </p:txBody>
      </p:sp>
      <p:sp>
        <p:nvSpPr>
          <p:cNvPr id="11" name="metric-label-3">
            <a:extLst>
              <a:ext uri="{FF2B5EF4-FFF2-40B4-BE49-F238E27FC236}">
                <a16:creationId xmlns:a16="http://schemas.microsoft.com/office/drawing/2014/main" id="{A174A3DE-3255-48BE-A0D7-DFABB4809B65}"/>
              </a:ext>
            </a:extLst>
          </p:cNvPr>
          <p:cNvSpPr>
            <a:spLocks noGrp="1"/>
          </p:cNvSpPr>
          <p:nvPr/>
        </p:nvSpPr>
        <p:spPr>
          <a:xfrm>
            <a:off x="5943600" y="2590800"/>
            <a:ext cx="24193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Security</a:t>
            </a:r>
          </a:p>
        </p:txBody>
      </p:sp>
      <p:sp>
        <p:nvSpPr>
          <p:cNvPr id="12" name="metric-4">
            <a:extLst>
              <a:ext uri="{FF2B5EF4-FFF2-40B4-BE49-F238E27FC236}">
                <a16:creationId xmlns:a16="http://schemas.microsoft.com/office/drawing/2014/main" id="{AEB80B45-7314-4758-8FC5-471892382C84}"/>
              </a:ext>
            </a:extLst>
          </p:cNvPr>
          <p:cNvSpPr>
            <a:spLocks noGrp="1"/>
          </p:cNvSpPr>
          <p:nvPr/>
        </p:nvSpPr>
        <p:spPr>
          <a:xfrm>
            <a:off x="86106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04</a:t>
            </a:r>
          </a:p>
        </p:txBody>
      </p:sp>
      <p:sp>
        <p:nvSpPr>
          <p:cNvPr id="13" name="metric-label-4">
            <a:extLst>
              <a:ext uri="{FF2B5EF4-FFF2-40B4-BE49-F238E27FC236}">
                <a16:creationId xmlns:a16="http://schemas.microsoft.com/office/drawing/2014/main" id="{15CF0E6A-8CE6-4177-9A36-38E43342D211}"/>
              </a:ext>
            </a:extLst>
          </p:cNvPr>
          <p:cNvSpPr>
            <a:spLocks noGrp="1"/>
          </p:cNvSpPr>
          <p:nvPr/>
        </p:nvSpPr>
        <p:spPr>
          <a:xfrm>
            <a:off x="8610600" y="2590800"/>
            <a:ext cx="24193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Scalability</a:t>
            </a:r>
          </a:p>
        </p:txBody>
      </p:sp>
      <p:sp>
        <p:nvSpPr>
          <p:cNvPr id="14" name="summary-band">
            <a:extLst>
              <a:ext uri="{FF2B5EF4-FFF2-40B4-BE49-F238E27FC236}">
                <a16:creationId xmlns:a16="http://schemas.microsoft.com/office/drawing/2014/main" id="{29B953DA-2CEF-4C72-89FB-3E683AB05495}"/>
              </a:ext>
            </a:extLst>
          </p:cNvPr>
          <p:cNvSpPr>
            <a:spLocks noGrp="1"/>
          </p:cNvSpPr>
          <p:nvPr/>
        </p:nvSpPr>
        <p:spPr>
          <a:xfrm>
            <a:off x="609600" y="4038600"/>
            <a:ext cx="10668000" cy="1123950"/>
          </a:xfrm>
          <a:prstGeom prst="rect">
            <a:avLst/>
          </a:prstGeom>
          <a:solidFill>
            <a:srgbClr val="EDF5FF"/>
          </a:solidFill>
          <a:ln w="0">
            <a:noFill/>
            <a:prstDash val="solid"/>
          </a:ln>
        </p:spPr>
        <p:txBody>
          <a:bodyPr/>
          <a:lstStyle/>
          <a:p>
            <a:endParaRPr lang="en-US"/>
          </a:p>
        </p:txBody>
      </p:sp>
      <p:sp>
        <p:nvSpPr>
          <p:cNvPr id="15" name="text">
            <a:extLst>
              <a:ext uri="{FF2B5EF4-FFF2-40B4-BE49-F238E27FC236}">
                <a16:creationId xmlns:a16="http://schemas.microsoft.com/office/drawing/2014/main" id="{CFBB4451-99B0-40CC-BE50-B233BF16AABB}"/>
              </a:ext>
            </a:extLst>
          </p:cNvPr>
          <p:cNvSpPr>
            <a:spLocks noGrp="1"/>
          </p:cNvSpPr>
          <p:nvPr/>
        </p:nvSpPr>
        <p:spPr>
          <a:xfrm>
            <a:off x="838200" y="4114800"/>
            <a:ext cx="1333500" cy="32385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Purpose</a:t>
            </a:r>
          </a:p>
        </p:txBody>
      </p:sp>
      <p:sp>
        <p:nvSpPr>
          <p:cNvPr id="16" name="text">
            <a:extLst>
              <a:ext uri="{FF2B5EF4-FFF2-40B4-BE49-F238E27FC236}">
                <a16:creationId xmlns:a16="http://schemas.microsoft.com/office/drawing/2014/main" id="{F04A99FD-3C2B-47F1-82AC-3A557254FFED}"/>
              </a:ext>
            </a:extLst>
          </p:cNvPr>
          <p:cNvSpPr>
            <a:spLocks noGrp="1"/>
          </p:cNvSpPr>
          <p:nvPr/>
        </p:nvSpPr>
        <p:spPr>
          <a:xfrm>
            <a:off x="838200" y="4467225"/>
            <a:ext cx="9620250" cy="400050"/>
          </a:xfrm>
          <a:prstGeom prst="rect">
            <a:avLst/>
          </a:prstGeom>
          <a:noFill/>
          <a:ln w="0">
            <a:noFill/>
            <a:prstDash val="solid"/>
          </a:ln>
        </p:spPr>
        <p:txBody>
          <a:bodyPr anchor="t"/>
          <a:lstStyle/>
          <a:p>
            <a:pPr algn="l">
              <a:defRPr sz="1875" b="1">
                <a:solidFill>
                  <a:srgbClr val="111318"/>
                </a:solidFill>
                <a:latin typeface="Arial"/>
                <a:ea typeface="Arial"/>
                <a:cs typeface="Arial"/>
              </a:defRPr>
            </a:pPr>
            <a:r>
              <a:rPr sz="1875" b="1">
                <a:solidFill>
                  <a:srgbClr val="111318"/>
                </a:solidFill>
                <a:latin typeface="Arial"/>
                <a:ea typeface="Arial"/>
                <a:cs typeface="Arial"/>
              </a:rPr>
              <a:t>Meet customer and business needs efficiently through a reliable online marketplace.</a:t>
            </a:r>
          </a:p>
        </p:txBody>
      </p:sp>
    </p:spTree>
    <p:extLst>
      <p:ext uri="{BB962C8B-B14F-4D97-AF65-F5344CB8AC3E}">
        <p14:creationId xmlns:p14="http://schemas.microsoft.com/office/powerpoint/2010/main" val="19436575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9B98F689-1417-4980-B580-E153B58D353C}"/>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Project Goals and Business Needs</a:t>
            </a:r>
          </a:p>
        </p:txBody>
      </p:sp>
      <p:sp>
        <p:nvSpPr>
          <p:cNvPr id="3" name="title-rule">
            <a:extLst>
              <a:ext uri="{FF2B5EF4-FFF2-40B4-BE49-F238E27FC236}">
                <a16:creationId xmlns:a16="http://schemas.microsoft.com/office/drawing/2014/main" id="{9095DB73-9A11-4BB2-89B9-752F7B8D9045}"/>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50AA17A2-C729-46A7-900B-ED4F7FC3BADE}"/>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03</a:t>
            </a:r>
          </a:p>
        </p:txBody>
      </p:sp>
      <p:sp>
        <p:nvSpPr>
          <p:cNvPr id="5" name="bullet-1">
            <a:extLst>
              <a:ext uri="{FF2B5EF4-FFF2-40B4-BE49-F238E27FC236}">
                <a16:creationId xmlns:a16="http://schemas.microsoft.com/office/drawing/2014/main" id="{66931230-DE54-4BF9-B672-49A4A9DE25F9}"/>
              </a:ext>
            </a:extLst>
          </p:cNvPr>
          <p:cNvSpPr>
            <a:spLocks noGrp="1"/>
          </p:cNvSpPr>
          <p:nvPr/>
        </p:nvSpPr>
        <p:spPr>
          <a:xfrm>
            <a:off x="666750" y="2076450"/>
            <a:ext cx="95250" cy="95250"/>
          </a:xfrm>
          <a:prstGeom prst="rect">
            <a:avLst/>
          </a:prstGeom>
          <a:solidFill>
            <a:srgbClr val="2583FF"/>
          </a:solidFill>
          <a:ln w="0">
            <a:noFill/>
            <a:prstDash val="solid"/>
          </a:ln>
        </p:spPr>
        <p:txBody>
          <a:bodyPr/>
          <a:lstStyle/>
          <a:p>
            <a:endParaRPr lang="en-US"/>
          </a:p>
        </p:txBody>
      </p:sp>
      <p:sp>
        <p:nvSpPr>
          <p:cNvPr id="6" name="bullet-text-1">
            <a:extLst>
              <a:ext uri="{FF2B5EF4-FFF2-40B4-BE49-F238E27FC236}">
                <a16:creationId xmlns:a16="http://schemas.microsoft.com/office/drawing/2014/main" id="{C854C1AC-D344-47E3-B90B-02F61CA1A832}"/>
              </a:ext>
            </a:extLst>
          </p:cNvPr>
          <p:cNvSpPr>
            <a:spLocks noGrp="1"/>
          </p:cNvSpPr>
          <p:nvPr/>
        </p:nvSpPr>
        <p:spPr>
          <a:xfrm>
            <a:off x="933450" y="19812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Improve customer shopping experience</a:t>
            </a:r>
          </a:p>
        </p:txBody>
      </p:sp>
      <p:sp>
        <p:nvSpPr>
          <p:cNvPr id="7" name="bullet-2">
            <a:extLst>
              <a:ext uri="{FF2B5EF4-FFF2-40B4-BE49-F238E27FC236}">
                <a16:creationId xmlns:a16="http://schemas.microsoft.com/office/drawing/2014/main" id="{1CBD907C-182D-44C9-83E3-5080FA04B698}"/>
              </a:ext>
            </a:extLst>
          </p:cNvPr>
          <p:cNvSpPr>
            <a:spLocks noGrp="1"/>
          </p:cNvSpPr>
          <p:nvPr/>
        </p:nvSpPr>
        <p:spPr>
          <a:xfrm>
            <a:off x="666750" y="2819400"/>
            <a:ext cx="95250" cy="95250"/>
          </a:xfrm>
          <a:prstGeom prst="rect">
            <a:avLst/>
          </a:prstGeom>
          <a:solidFill>
            <a:srgbClr val="2583FF"/>
          </a:solidFill>
          <a:ln w="0">
            <a:noFill/>
            <a:prstDash val="solid"/>
          </a:ln>
        </p:spPr>
        <p:txBody>
          <a:bodyPr/>
          <a:lstStyle/>
          <a:p>
            <a:endParaRPr lang="en-US"/>
          </a:p>
        </p:txBody>
      </p:sp>
      <p:sp>
        <p:nvSpPr>
          <p:cNvPr id="8" name="bullet-text-2">
            <a:extLst>
              <a:ext uri="{FF2B5EF4-FFF2-40B4-BE49-F238E27FC236}">
                <a16:creationId xmlns:a16="http://schemas.microsoft.com/office/drawing/2014/main" id="{77CB0F51-8867-4095-B8DB-9E7607AB594A}"/>
              </a:ext>
            </a:extLst>
          </p:cNvPr>
          <p:cNvSpPr>
            <a:spLocks noGrp="1"/>
          </p:cNvSpPr>
          <p:nvPr/>
        </p:nvSpPr>
        <p:spPr>
          <a:xfrm>
            <a:off x="933450" y="272415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Provide secure transactions</a:t>
            </a:r>
          </a:p>
        </p:txBody>
      </p:sp>
      <p:sp>
        <p:nvSpPr>
          <p:cNvPr id="9" name="bullet-3">
            <a:extLst>
              <a:ext uri="{FF2B5EF4-FFF2-40B4-BE49-F238E27FC236}">
                <a16:creationId xmlns:a16="http://schemas.microsoft.com/office/drawing/2014/main" id="{D333AB30-D19A-414C-86F9-CE6390892866}"/>
              </a:ext>
            </a:extLst>
          </p:cNvPr>
          <p:cNvSpPr>
            <a:spLocks noGrp="1"/>
          </p:cNvSpPr>
          <p:nvPr/>
        </p:nvSpPr>
        <p:spPr>
          <a:xfrm>
            <a:off x="666750" y="3562350"/>
            <a:ext cx="95250" cy="95250"/>
          </a:xfrm>
          <a:prstGeom prst="rect">
            <a:avLst/>
          </a:prstGeom>
          <a:solidFill>
            <a:srgbClr val="2583FF"/>
          </a:solidFill>
          <a:ln w="0">
            <a:noFill/>
            <a:prstDash val="solid"/>
          </a:ln>
        </p:spPr>
        <p:txBody>
          <a:bodyPr/>
          <a:lstStyle/>
          <a:p>
            <a:endParaRPr lang="en-US"/>
          </a:p>
        </p:txBody>
      </p:sp>
      <p:sp>
        <p:nvSpPr>
          <p:cNvPr id="10" name="bullet-text-3">
            <a:extLst>
              <a:ext uri="{FF2B5EF4-FFF2-40B4-BE49-F238E27FC236}">
                <a16:creationId xmlns:a16="http://schemas.microsoft.com/office/drawing/2014/main" id="{8C525594-085C-450B-A1D6-34A3A498D295}"/>
              </a:ext>
            </a:extLst>
          </p:cNvPr>
          <p:cNvSpPr>
            <a:spLocks noGrp="1"/>
          </p:cNvSpPr>
          <p:nvPr/>
        </p:nvSpPr>
        <p:spPr>
          <a:xfrm>
            <a:off x="933450" y="34671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Support efficient product and order management</a:t>
            </a:r>
          </a:p>
        </p:txBody>
      </p:sp>
      <p:sp>
        <p:nvSpPr>
          <p:cNvPr id="11" name="column-rule">
            <a:extLst>
              <a:ext uri="{FF2B5EF4-FFF2-40B4-BE49-F238E27FC236}">
                <a16:creationId xmlns:a16="http://schemas.microsoft.com/office/drawing/2014/main" id="{5E93FEDC-B804-414C-96A9-F66768A9B485}"/>
              </a:ext>
            </a:extLst>
          </p:cNvPr>
          <p:cNvSpPr>
            <a:spLocks noGrp="1"/>
          </p:cNvSpPr>
          <p:nvPr/>
        </p:nvSpPr>
        <p:spPr>
          <a:xfrm>
            <a:off x="6076950" y="1866900"/>
            <a:ext cx="19050" cy="3429000"/>
          </a:xfrm>
          <a:prstGeom prst="rect">
            <a:avLst/>
          </a:prstGeom>
          <a:solidFill>
            <a:srgbClr val="C9CED6"/>
          </a:solidFill>
          <a:ln w="0">
            <a:noFill/>
            <a:prstDash val="solid"/>
          </a:ln>
        </p:spPr>
        <p:txBody>
          <a:bodyPr/>
          <a:lstStyle/>
          <a:p>
            <a:endParaRPr lang="en-US"/>
          </a:p>
        </p:txBody>
      </p:sp>
      <p:sp>
        <p:nvSpPr>
          <p:cNvPr id="12" name="bullet-1">
            <a:extLst>
              <a:ext uri="{FF2B5EF4-FFF2-40B4-BE49-F238E27FC236}">
                <a16:creationId xmlns:a16="http://schemas.microsoft.com/office/drawing/2014/main" id="{ED2C6E65-F8A9-4519-A597-D2495FE94499}"/>
              </a:ext>
            </a:extLst>
          </p:cNvPr>
          <p:cNvSpPr>
            <a:spLocks noGrp="1"/>
          </p:cNvSpPr>
          <p:nvPr/>
        </p:nvSpPr>
        <p:spPr>
          <a:xfrm>
            <a:off x="6591300" y="2076450"/>
            <a:ext cx="95250" cy="95250"/>
          </a:xfrm>
          <a:prstGeom prst="rect">
            <a:avLst/>
          </a:prstGeom>
          <a:solidFill>
            <a:srgbClr val="2583FF"/>
          </a:solidFill>
          <a:ln w="0">
            <a:noFill/>
            <a:prstDash val="solid"/>
          </a:ln>
        </p:spPr>
        <p:txBody>
          <a:bodyPr/>
          <a:lstStyle/>
          <a:p>
            <a:endParaRPr lang="en-US"/>
          </a:p>
        </p:txBody>
      </p:sp>
      <p:sp>
        <p:nvSpPr>
          <p:cNvPr id="13" name="bullet-text-1">
            <a:extLst>
              <a:ext uri="{FF2B5EF4-FFF2-40B4-BE49-F238E27FC236}">
                <a16:creationId xmlns:a16="http://schemas.microsoft.com/office/drawing/2014/main" id="{3CC61360-3A47-4B6F-906C-E4C7836BE24D}"/>
              </a:ext>
            </a:extLst>
          </p:cNvPr>
          <p:cNvSpPr>
            <a:spLocks noGrp="1"/>
          </p:cNvSpPr>
          <p:nvPr/>
        </p:nvSpPr>
        <p:spPr>
          <a:xfrm>
            <a:off x="6858000" y="198120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Create a scalable system for future growth</a:t>
            </a:r>
          </a:p>
        </p:txBody>
      </p:sp>
      <p:sp>
        <p:nvSpPr>
          <p:cNvPr id="14" name="bullet-2">
            <a:extLst>
              <a:ext uri="{FF2B5EF4-FFF2-40B4-BE49-F238E27FC236}">
                <a16:creationId xmlns:a16="http://schemas.microsoft.com/office/drawing/2014/main" id="{A292D892-DF67-4663-9171-428BE57502DB}"/>
              </a:ext>
            </a:extLst>
          </p:cNvPr>
          <p:cNvSpPr>
            <a:spLocks noGrp="1"/>
          </p:cNvSpPr>
          <p:nvPr/>
        </p:nvSpPr>
        <p:spPr>
          <a:xfrm>
            <a:off x="6591300" y="2819400"/>
            <a:ext cx="95250" cy="95250"/>
          </a:xfrm>
          <a:prstGeom prst="rect">
            <a:avLst/>
          </a:prstGeom>
          <a:solidFill>
            <a:srgbClr val="2583FF"/>
          </a:solidFill>
          <a:ln w="0">
            <a:noFill/>
            <a:prstDash val="solid"/>
          </a:ln>
        </p:spPr>
        <p:txBody>
          <a:bodyPr/>
          <a:lstStyle/>
          <a:p>
            <a:endParaRPr lang="en-US"/>
          </a:p>
        </p:txBody>
      </p:sp>
      <p:sp>
        <p:nvSpPr>
          <p:cNvPr id="15" name="bullet-text-2">
            <a:extLst>
              <a:ext uri="{FF2B5EF4-FFF2-40B4-BE49-F238E27FC236}">
                <a16:creationId xmlns:a16="http://schemas.microsoft.com/office/drawing/2014/main" id="{3390383B-B30F-4564-8ECC-1F01F774E187}"/>
              </a:ext>
            </a:extLst>
          </p:cNvPr>
          <p:cNvSpPr>
            <a:spLocks noGrp="1"/>
          </p:cNvSpPr>
          <p:nvPr/>
        </p:nvSpPr>
        <p:spPr>
          <a:xfrm>
            <a:off x="6858000" y="272415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Ensure reliable performance under realistic constraints</a:t>
            </a:r>
          </a:p>
        </p:txBody>
      </p:sp>
    </p:spTree>
    <p:extLst>
      <p:ext uri="{BB962C8B-B14F-4D97-AF65-F5344CB8AC3E}">
        <p14:creationId xmlns:p14="http://schemas.microsoft.com/office/powerpoint/2010/main" val="164880158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847F133B-7933-4A03-9D30-E49D7D056979}"/>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Economic Analysis of Byte Bazaar</a:t>
            </a:r>
          </a:p>
        </p:txBody>
      </p:sp>
      <p:sp>
        <p:nvSpPr>
          <p:cNvPr id="3" name="title-rule">
            <a:extLst>
              <a:ext uri="{FF2B5EF4-FFF2-40B4-BE49-F238E27FC236}">
                <a16:creationId xmlns:a16="http://schemas.microsoft.com/office/drawing/2014/main" id="{A6953437-C8E5-47B2-9AE9-3BA618F64EE9}"/>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5523C33A-A362-4F0A-8A6B-C3C103A03CCA}"/>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04</a:t>
            </a:r>
          </a:p>
        </p:txBody>
      </p:sp>
      <p:sp>
        <p:nvSpPr>
          <p:cNvPr id="5" name="text">
            <a:extLst>
              <a:ext uri="{FF2B5EF4-FFF2-40B4-BE49-F238E27FC236}">
                <a16:creationId xmlns:a16="http://schemas.microsoft.com/office/drawing/2014/main" id="{0AAFDC7A-61B0-467A-B6B7-8AC38C03D319}"/>
              </a:ext>
            </a:extLst>
          </p:cNvPr>
          <p:cNvSpPr>
            <a:spLocks noGrp="1"/>
          </p:cNvSpPr>
          <p:nvPr/>
        </p:nvSpPr>
        <p:spPr>
          <a:xfrm>
            <a:off x="609600" y="1905000"/>
            <a:ext cx="2857500" cy="28575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INVESTMENT</a:t>
            </a:r>
          </a:p>
        </p:txBody>
      </p:sp>
      <p:sp>
        <p:nvSpPr>
          <p:cNvPr id="6" name="bullet-1">
            <a:extLst>
              <a:ext uri="{FF2B5EF4-FFF2-40B4-BE49-F238E27FC236}">
                <a16:creationId xmlns:a16="http://schemas.microsoft.com/office/drawing/2014/main" id="{8A2A31E4-BB31-406F-9C38-3B7644E75F1C}"/>
              </a:ext>
            </a:extLst>
          </p:cNvPr>
          <p:cNvSpPr>
            <a:spLocks noGrp="1"/>
          </p:cNvSpPr>
          <p:nvPr/>
        </p:nvSpPr>
        <p:spPr>
          <a:xfrm>
            <a:off x="609600" y="2457450"/>
            <a:ext cx="95250" cy="95250"/>
          </a:xfrm>
          <a:prstGeom prst="rect">
            <a:avLst/>
          </a:prstGeom>
          <a:solidFill>
            <a:srgbClr val="2583FF"/>
          </a:solidFill>
          <a:ln w="0">
            <a:noFill/>
            <a:prstDash val="solid"/>
          </a:ln>
        </p:spPr>
        <p:txBody>
          <a:bodyPr/>
          <a:lstStyle/>
          <a:p>
            <a:endParaRPr lang="en-US"/>
          </a:p>
        </p:txBody>
      </p:sp>
      <p:sp>
        <p:nvSpPr>
          <p:cNvPr id="7" name="bullet-text-1">
            <a:extLst>
              <a:ext uri="{FF2B5EF4-FFF2-40B4-BE49-F238E27FC236}">
                <a16:creationId xmlns:a16="http://schemas.microsoft.com/office/drawing/2014/main" id="{A455523C-2B84-4E99-86C8-8B3407929894}"/>
              </a:ext>
            </a:extLst>
          </p:cNvPr>
          <p:cNvSpPr>
            <a:spLocks noGrp="1"/>
          </p:cNvSpPr>
          <p:nvPr/>
        </p:nvSpPr>
        <p:spPr>
          <a:xfrm>
            <a:off x="876300" y="2362200"/>
            <a:ext cx="4305300" cy="647700"/>
          </a:xfrm>
          <a:prstGeom prst="rect">
            <a:avLst/>
          </a:prstGeom>
          <a:noFill/>
          <a:ln w="0">
            <a:noFill/>
            <a:prstDash val="solid"/>
          </a:ln>
        </p:spPr>
        <p:txBody>
          <a:bodyPr anchor="t"/>
          <a:lstStyle/>
          <a:p>
            <a:pPr algn="l">
              <a:defRPr sz="1725" b="0">
                <a:solidFill>
                  <a:srgbClr val="111318"/>
                </a:solidFill>
                <a:latin typeface="Arial"/>
                <a:ea typeface="Arial"/>
                <a:cs typeface="Arial"/>
              </a:defRPr>
            </a:pPr>
            <a:r>
              <a:rPr sz="1725" b="0">
                <a:solidFill>
                  <a:srgbClr val="111318"/>
                </a:solidFill>
                <a:latin typeface="Arial"/>
                <a:ea typeface="Arial"/>
                <a:cs typeface="Arial"/>
              </a:rPr>
              <a:t>Development labor</a:t>
            </a:r>
          </a:p>
        </p:txBody>
      </p:sp>
      <p:sp>
        <p:nvSpPr>
          <p:cNvPr id="8" name="bullet-2">
            <a:extLst>
              <a:ext uri="{FF2B5EF4-FFF2-40B4-BE49-F238E27FC236}">
                <a16:creationId xmlns:a16="http://schemas.microsoft.com/office/drawing/2014/main" id="{B7C46BED-8F3D-40AD-A421-7358385021DB}"/>
              </a:ext>
            </a:extLst>
          </p:cNvPr>
          <p:cNvSpPr>
            <a:spLocks noGrp="1"/>
          </p:cNvSpPr>
          <p:nvPr/>
        </p:nvSpPr>
        <p:spPr>
          <a:xfrm>
            <a:off x="609600" y="3143250"/>
            <a:ext cx="95250" cy="95250"/>
          </a:xfrm>
          <a:prstGeom prst="rect">
            <a:avLst/>
          </a:prstGeom>
          <a:solidFill>
            <a:srgbClr val="2583FF"/>
          </a:solidFill>
          <a:ln w="0">
            <a:noFill/>
            <a:prstDash val="solid"/>
          </a:ln>
        </p:spPr>
        <p:txBody>
          <a:bodyPr/>
          <a:lstStyle/>
          <a:p>
            <a:endParaRPr lang="en-US"/>
          </a:p>
        </p:txBody>
      </p:sp>
      <p:sp>
        <p:nvSpPr>
          <p:cNvPr id="9" name="bullet-text-2">
            <a:extLst>
              <a:ext uri="{FF2B5EF4-FFF2-40B4-BE49-F238E27FC236}">
                <a16:creationId xmlns:a16="http://schemas.microsoft.com/office/drawing/2014/main" id="{2D26AFEF-4478-4FC8-948E-A5622B61193F}"/>
              </a:ext>
            </a:extLst>
          </p:cNvPr>
          <p:cNvSpPr>
            <a:spLocks noGrp="1"/>
          </p:cNvSpPr>
          <p:nvPr/>
        </p:nvSpPr>
        <p:spPr>
          <a:xfrm>
            <a:off x="876300" y="3048000"/>
            <a:ext cx="4305300" cy="647700"/>
          </a:xfrm>
          <a:prstGeom prst="rect">
            <a:avLst/>
          </a:prstGeom>
          <a:noFill/>
          <a:ln w="0">
            <a:noFill/>
            <a:prstDash val="solid"/>
          </a:ln>
        </p:spPr>
        <p:txBody>
          <a:bodyPr anchor="t"/>
          <a:lstStyle/>
          <a:p>
            <a:pPr algn="l">
              <a:defRPr sz="1725" b="0">
                <a:solidFill>
                  <a:srgbClr val="111318"/>
                </a:solidFill>
                <a:latin typeface="Arial"/>
                <a:ea typeface="Arial"/>
                <a:cs typeface="Arial"/>
              </a:defRPr>
            </a:pPr>
            <a:r>
              <a:rPr sz="1725" b="0">
                <a:solidFill>
                  <a:srgbClr val="111318"/>
                </a:solidFill>
                <a:latin typeface="Arial"/>
                <a:ea typeface="Arial"/>
                <a:cs typeface="Arial"/>
              </a:rPr>
              <a:t>Software &amp; hardware</a:t>
            </a:r>
          </a:p>
        </p:txBody>
      </p:sp>
      <p:sp>
        <p:nvSpPr>
          <p:cNvPr id="10" name="bullet-3">
            <a:extLst>
              <a:ext uri="{FF2B5EF4-FFF2-40B4-BE49-F238E27FC236}">
                <a16:creationId xmlns:a16="http://schemas.microsoft.com/office/drawing/2014/main" id="{62BC8B4F-D5BA-47DA-8038-5D208161ADFD}"/>
              </a:ext>
            </a:extLst>
          </p:cNvPr>
          <p:cNvSpPr>
            <a:spLocks noGrp="1"/>
          </p:cNvSpPr>
          <p:nvPr/>
        </p:nvSpPr>
        <p:spPr>
          <a:xfrm>
            <a:off x="609600" y="3829050"/>
            <a:ext cx="95250" cy="95250"/>
          </a:xfrm>
          <a:prstGeom prst="rect">
            <a:avLst/>
          </a:prstGeom>
          <a:solidFill>
            <a:srgbClr val="2583FF"/>
          </a:solidFill>
          <a:ln w="0">
            <a:noFill/>
            <a:prstDash val="solid"/>
          </a:ln>
        </p:spPr>
        <p:txBody>
          <a:bodyPr/>
          <a:lstStyle/>
          <a:p>
            <a:endParaRPr lang="en-US"/>
          </a:p>
        </p:txBody>
      </p:sp>
      <p:sp>
        <p:nvSpPr>
          <p:cNvPr id="11" name="bullet-text-3">
            <a:extLst>
              <a:ext uri="{FF2B5EF4-FFF2-40B4-BE49-F238E27FC236}">
                <a16:creationId xmlns:a16="http://schemas.microsoft.com/office/drawing/2014/main" id="{958432BA-E3A6-4732-B8EE-7CD52A6D66A2}"/>
              </a:ext>
            </a:extLst>
          </p:cNvPr>
          <p:cNvSpPr>
            <a:spLocks noGrp="1"/>
          </p:cNvSpPr>
          <p:nvPr/>
        </p:nvSpPr>
        <p:spPr>
          <a:xfrm>
            <a:off x="876300" y="3733800"/>
            <a:ext cx="4305300" cy="647700"/>
          </a:xfrm>
          <a:prstGeom prst="rect">
            <a:avLst/>
          </a:prstGeom>
          <a:noFill/>
          <a:ln w="0">
            <a:noFill/>
            <a:prstDash val="solid"/>
          </a:ln>
        </p:spPr>
        <p:txBody>
          <a:bodyPr anchor="t"/>
          <a:lstStyle/>
          <a:p>
            <a:pPr algn="l">
              <a:defRPr sz="1725" b="0">
                <a:solidFill>
                  <a:srgbClr val="111318"/>
                </a:solidFill>
                <a:latin typeface="Arial"/>
                <a:ea typeface="Arial"/>
                <a:cs typeface="Arial"/>
              </a:defRPr>
            </a:pPr>
            <a:r>
              <a:rPr sz="1725" b="0">
                <a:solidFill>
                  <a:srgbClr val="111318"/>
                </a:solidFill>
                <a:latin typeface="Arial"/>
                <a:ea typeface="Arial"/>
                <a:cs typeface="Arial"/>
              </a:rPr>
              <a:t>Infrastructure, hosting &amp; maintenance</a:t>
            </a:r>
          </a:p>
        </p:txBody>
      </p:sp>
      <p:sp>
        <p:nvSpPr>
          <p:cNvPr id="12" name="text">
            <a:extLst>
              <a:ext uri="{FF2B5EF4-FFF2-40B4-BE49-F238E27FC236}">
                <a16:creationId xmlns:a16="http://schemas.microsoft.com/office/drawing/2014/main" id="{3DBDFFD8-93BE-49FF-B69C-4A4583D2530F}"/>
              </a:ext>
            </a:extLst>
          </p:cNvPr>
          <p:cNvSpPr>
            <a:spLocks noGrp="1"/>
          </p:cNvSpPr>
          <p:nvPr/>
        </p:nvSpPr>
        <p:spPr>
          <a:xfrm>
            <a:off x="6477000" y="1905000"/>
            <a:ext cx="3143250" cy="28575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EXPECTED VALUE</a:t>
            </a:r>
          </a:p>
        </p:txBody>
      </p:sp>
      <p:sp>
        <p:nvSpPr>
          <p:cNvPr id="13" name="bullet-1">
            <a:extLst>
              <a:ext uri="{FF2B5EF4-FFF2-40B4-BE49-F238E27FC236}">
                <a16:creationId xmlns:a16="http://schemas.microsoft.com/office/drawing/2014/main" id="{CF0DC76E-B86F-436D-AB0A-07A0EE6F341E}"/>
              </a:ext>
            </a:extLst>
          </p:cNvPr>
          <p:cNvSpPr>
            <a:spLocks noGrp="1"/>
          </p:cNvSpPr>
          <p:nvPr/>
        </p:nvSpPr>
        <p:spPr>
          <a:xfrm>
            <a:off x="6477000" y="2457450"/>
            <a:ext cx="95250" cy="95250"/>
          </a:xfrm>
          <a:prstGeom prst="rect">
            <a:avLst/>
          </a:prstGeom>
          <a:solidFill>
            <a:srgbClr val="2583FF"/>
          </a:solidFill>
          <a:ln w="0">
            <a:noFill/>
            <a:prstDash val="solid"/>
          </a:ln>
        </p:spPr>
        <p:txBody>
          <a:bodyPr/>
          <a:lstStyle/>
          <a:p>
            <a:endParaRPr lang="en-US"/>
          </a:p>
        </p:txBody>
      </p:sp>
      <p:sp>
        <p:nvSpPr>
          <p:cNvPr id="14" name="bullet-text-1">
            <a:extLst>
              <a:ext uri="{FF2B5EF4-FFF2-40B4-BE49-F238E27FC236}">
                <a16:creationId xmlns:a16="http://schemas.microsoft.com/office/drawing/2014/main" id="{77087120-D64E-4C3B-BA1C-E29E54C1632F}"/>
              </a:ext>
            </a:extLst>
          </p:cNvPr>
          <p:cNvSpPr>
            <a:spLocks noGrp="1"/>
          </p:cNvSpPr>
          <p:nvPr/>
        </p:nvSpPr>
        <p:spPr>
          <a:xfrm>
            <a:off x="6743700" y="2362200"/>
            <a:ext cx="4305300" cy="647700"/>
          </a:xfrm>
          <a:prstGeom prst="rect">
            <a:avLst/>
          </a:prstGeom>
          <a:noFill/>
          <a:ln w="0">
            <a:noFill/>
            <a:prstDash val="solid"/>
          </a:ln>
        </p:spPr>
        <p:txBody>
          <a:bodyPr anchor="t"/>
          <a:lstStyle/>
          <a:p>
            <a:pPr algn="l">
              <a:defRPr sz="1725" b="0">
                <a:solidFill>
                  <a:srgbClr val="111318"/>
                </a:solidFill>
                <a:latin typeface="Arial"/>
                <a:ea typeface="Arial"/>
                <a:cs typeface="Arial"/>
              </a:defRPr>
            </a:pPr>
            <a:r>
              <a:rPr sz="1725" b="0">
                <a:solidFill>
                  <a:srgbClr val="111318"/>
                </a:solidFill>
                <a:latin typeface="Arial"/>
                <a:ea typeface="Arial"/>
                <a:cs typeface="Arial"/>
              </a:rPr>
              <a:t>Improved sales opportunities</a:t>
            </a:r>
          </a:p>
        </p:txBody>
      </p:sp>
      <p:sp>
        <p:nvSpPr>
          <p:cNvPr id="15" name="bullet-2">
            <a:extLst>
              <a:ext uri="{FF2B5EF4-FFF2-40B4-BE49-F238E27FC236}">
                <a16:creationId xmlns:a16="http://schemas.microsoft.com/office/drawing/2014/main" id="{949B024F-5F93-48BF-A64E-F317C6628918}"/>
              </a:ext>
            </a:extLst>
          </p:cNvPr>
          <p:cNvSpPr>
            <a:spLocks noGrp="1"/>
          </p:cNvSpPr>
          <p:nvPr/>
        </p:nvSpPr>
        <p:spPr>
          <a:xfrm>
            <a:off x="6477000" y="3143250"/>
            <a:ext cx="95250" cy="95250"/>
          </a:xfrm>
          <a:prstGeom prst="rect">
            <a:avLst/>
          </a:prstGeom>
          <a:solidFill>
            <a:srgbClr val="2583FF"/>
          </a:solidFill>
          <a:ln w="0">
            <a:noFill/>
            <a:prstDash val="solid"/>
          </a:ln>
        </p:spPr>
        <p:txBody>
          <a:bodyPr/>
          <a:lstStyle/>
          <a:p>
            <a:endParaRPr lang="en-US"/>
          </a:p>
        </p:txBody>
      </p:sp>
      <p:sp>
        <p:nvSpPr>
          <p:cNvPr id="16" name="bullet-text-2">
            <a:extLst>
              <a:ext uri="{FF2B5EF4-FFF2-40B4-BE49-F238E27FC236}">
                <a16:creationId xmlns:a16="http://schemas.microsoft.com/office/drawing/2014/main" id="{C80C351F-636F-469B-A5B9-DF920FB23E7F}"/>
              </a:ext>
            </a:extLst>
          </p:cNvPr>
          <p:cNvSpPr>
            <a:spLocks noGrp="1"/>
          </p:cNvSpPr>
          <p:nvPr/>
        </p:nvSpPr>
        <p:spPr>
          <a:xfrm>
            <a:off x="6743700" y="3048000"/>
            <a:ext cx="4305300" cy="647700"/>
          </a:xfrm>
          <a:prstGeom prst="rect">
            <a:avLst/>
          </a:prstGeom>
          <a:noFill/>
          <a:ln w="0">
            <a:noFill/>
            <a:prstDash val="solid"/>
          </a:ln>
        </p:spPr>
        <p:txBody>
          <a:bodyPr anchor="t"/>
          <a:lstStyle/>
          <a:p>
            <a:pPr algn="l">
              <a:defRPr sz="1725" b="0">
                <a:solidFill>
                  <a:srgbClr val="111318"/>
                </a:solidFill>
                <a:latin typeface="Arial"/>
                <a:ea typeface="Arial"/>
                <a:cs typeface="Arial"/>
              </a:defRPr>
            </a:pPr>
            <a:r>
              <a:rPr sz="1725" b="0">
                <a:solidFill>
                  <a:srgbClr val="111318"/>
                </a:solidFill>
                <a:latin typeface="Arial"/>
                <a:ea typeface="Arial"/>
                <a:cs typeface="Arial"/>
              </a:rPr>
              <a:t>Reduced manual processes</a:t>
            </a:r>
          </a:p>
        </p:txBody>
      </p:sp>
      <p:sp>
        <p:nvSpPr>
          <p:cNvPr id="17" name="bullet-3">
            <a:extLst>
              <a:ext uri="{FF2B5EF4-FFF2-40B4-BE49-F238E27FC236}">
                <a16:creationId xmlns:a16="http://schemas.microsoft.com/office/drawing/2014/main" id="{024298DB-063F-47F7-83E8-5B75B1F3A712}"/>
              </a:ext>
            </a:extLst>
          </p:cNvPr>
          <p:cNvSpPr>
            <a:spLocks noGrp="1"/>
          </p:cNvSpPr>
          <p:nvPr/>
        </p:nvSpPr>
        <p:spPr>
          <a:xfrm>
            <a:off x="6477000" y="3829050"/>
            <a:ext cx="95250" cy="95250"/>
          </a:xfrm>
          <a:prstGeom prst="rect">
            <a:avLst/>
          </a:prstGeom>
          <a:solidFill>
            <a:srgbClr val="2583FF"/>
          </a:solidFill>
          <a:ln w="0">
            <a:noFill/>
            <a:prstDash val="solid"/>
          </a:ln>
        </p:spPr>
        <p:txBody>
          <a:bodyPr/>
          <a:lstStyle/>
          <a:p>
            <a:endParaRPr lang="en-US"/>
          </a:p>
        </p:txBody>
      </p:sp>
      <p:sp>
        <p:nvSpPr>
          <p:cNvPr id="18" name="bullet-text-3">
            <a:extLst>
              <a:ext uri="{FF2B5EF4-FFF2-40B4-BE49-F238E27FC236}">
                <a16:creationId xmlns:a16="http://schemas.microsoft.com/office/drawing/2014/main" id="{2297ACE2-02B8-4966-BBC2-86562EB44D16}"/>
              </a:ext>
            </a:extLst>
          </p:cNvPr>
          <p:cNvSpPr>
            <a:spLocks noGrp="1"/>
          </p:cNvSpPr>
          <p:nvPr/>
        </p:nvSpPr>
        <p:spPr>
          <a:xfrm>
            <a:off x="6743700" y="3733800"/>
            <a:ext cx="4305300" cy="647700"/>
          </a:xfrm>
          <a:prstGeom prst="rect">
            <a:avLst/>
          </a:prstGeom>
          <a:noFill/>
          <a:ln w="0">
            <a:noFill/>
            <a:prstDash val="solid"/>
          </a:ln>
        </p:spPr>
        <p:txBody>
          <a:bodyPr anchor="t"/>
          <a:lstStyle/>
          <a:p>
            <a:pPr algn="l">
              <a:defRPr sz="1725" b="0">
                <a:solidFill>
                  <a:srgbClr val="111318"/>
                </a:solidFill>
                <a:latin typeface="Arial"/>
                <a:ea typeface="Arial"/>
                <a:cs typeface="Arial"/>
              </a:defRPr>
            </a:pPr>
            <a:r>
              <a:rPr sz="1725" b="0">
                <a:solidFill>
                  <a:srgbClr val="111318"/>
                </a:solidFill>
                <a:latin typeface="Arial"/>
                <a:ea typeface="Arial"/>
                <a:cs typeface="Arial"/>
              </a:rPr>
              <a:t>Long-term return on investment</a:t>
            </a:r>
          </a:p>
        </p:txBody>
      </p:sp>
      <p:sp>
        <p:nvSpPr>
          <p:cNvPr id="19" name="balance-rule">
            <a:extLst>
              <a:ext uri="{FF2B5EF4-FFF2-40B4-BE49-F238E27FC236}">
                <a16:creationId xmlns:a16="http://schemas.microsoft.com/office/drawing/2014/main" id="{E1DF10F1-48F4-4F06-89F6-96AA8462F1C0}"/>
              </a:ext>
            </a:extLst>
          </p:cNvPr>
          <p:cNvSpPr>
            <a:spLocks noGrp="1"/>
          </p:cNvSpPr>
          <p:nvPr/>
        </p:nvSpPr>
        <p:spPr>
          <a:xfrm>
            <a:off x="609600" y="4953000"/>
            <a:ext cx="10439400" cy="19050"/>
          </a:xfrm>
          <a:prstGeom prst="rect">
            <a:avLst/>
          </a:prstGeom>
          <a:solidFill>
            <a:srgbClr val="C9CED6"/>
          </a:solidFill>
          <a:ln w="0">
            <a:noFill/>
            <a:prstDash val="solid"/>
          </a:ln>
        </p:spPr>
        <p:txBody>
          <a:bodyPr/>
          <a:lstStyle/>
          <a:p>
            <a:endParaRPr lang="en-US"/>
          </a:p>
        </p:txBody>
      </p:sp>
      <p:sp>
        <p:nvSpPr>
          <p:cNvPr id="20" name="text">
            <a:extLst>
              <a:ext uri="{FF2B5EF4-FFF2-40B4-BE49-F238E27FC236}">
                <a16:creationId xmlns:a16="http://schemas.microsoft.com/office/drawing/2014/main" id="{7E300792-C390-4CC2-9A2F-69CB1F865D3C}"/>
              </a:ext>
            </a:extLst>
          </p:cNvPr>
          <p:cNvSpPr>
            <a:spLocks noGrp="1"/>
          </p:cNvSpPr>
          <p:nvPr/>
        </p:nvSpPr>
        <p:spPr>
          <a:xfrm>
            <a:off x="609600" y="5219700"/>
            <a:ext cx="10001250" cy="476250"/>
          </a:xfrm>
          <a:prstGeom prst="rect">
            <a:avLst/>
          </a:prstGeom>
          <a:noFill/>
          <a:ln w="0">
            <a:noFill/>
            <a:prstDash val="solid"/>
          </a:ln>
        </p:spPr>
        <p:txBody>
          <a:bodyPr anchor="t"/>
          <a:lstStyle/>
          <a:p>
            <a:pPr algn="l">
              <a:defRPr sz="1950" b="1">
                <a:solidFill>
                  <a:srgbClr val="111318"/>
                </a:solidFill>
                <a:latin typeface="Arial"/>
                <a:ea typeface="Arial"/>
                <a:cs typeface="Arial"/>
              </a:defRPr>
            </a:pPr>
            <a:r>
              <a:rPr sz="1950" b="1">
                <a:solidFill>
                  <a:srgbClr val="111318"/>
                </a:solidFill>
                <a:latin typeface="Arial"/>
                <a:ea typeface="Arial"/>
                <a:cs typeface="Arial"/>
              </a:rPr>
              <a:t>Economic question: Do the expected business benefits justify total development and operating costs?</a:t>
            </a:r>
          </a:p>
        </p:txBody>
      </p:sp>
    </p:spTree>
    <p:extLst>
      <p:ext uri="{BB962C8B-B14F-4D97-AF65-F5344CB8AC3E}">
        <p14:creationId xmlns:p14="http://schemas.microsoft.com/office/powerpoint/2010/main" val="2130626861"/>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6F30ADAB-71C4-4312-B272-561018C01480}"/>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Team Leadership and Collaboration</a:t>
            </a:r>
          </a:p>
        </p:txBody>
      </p:sp>
      <p:sp>
        <p:nvSpPr>
          <p:cNvPr id="3" name="title-rule">
            <a:extLst>
              <a:ext uri="{FF2B5EF4-FFF2-40B4-BE49-F238E27FC236}">
                <a16:creationId xmlns:a16="http://schemas.microsoft.com/office/drawing/2014/main" id="{411B3056-8000-4C42-A596-15416C3D61F8}"/>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987A43DB-8A12-4146-9E83-E81B7FEC91BC}"/>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05</a:t>
            </a:r>
          </a:p>
        </p:txBody>
      </p:sp>
      <p:sp>
        <p:nvSpPr>
          <p:cNvPr id="5" name="metric-1">
            <a:extLst>
              <a:ext uri="{FF2B5EF4-FFF2-40B4-BE49-F238E27FC236}">
                <a16:creationId xmlns:a16="http://schemas.microsoft.com/office/drawing/2014/main" id="{FC2452CE-0B15-4FCB-AC1C-365A58BB1954}"/>
              </a:ext>
            </a:extLst>
          </p:cNvPr>
          <p:cNvSpPr>
            <a:spLocks noGrp="1"/>
          </p:cNvSpPr>
          <p:nvPr/>
        </p:nvSpPr>
        <p:spPr>
          <a:xfrm>
            <a:off x="6096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01</a:t>
            </a:r>
          </a:p>
        </p:txBody>
      </p:sp>
      <p:sp>
        <p:nvSpPr>
          <p:cNvPr id="6" name="metric-label-1">
            <a:extLst>
              <a:ext uri="{FF2B5EF4-FFF2-40B4-BE49-F238E27FC236}">
                <a16:creationId xmlns:a16="http://schemas.microsoft.com/office/drawing/2014/main" id="{017C01B5-DB3B-42AE-A0C7-04C7AE274365}"/>
              </a:ext>
            </a:extLst>
          </p:cNvPr>
          <p:cNvSpPr>
            <a:spLocks noGrp="1"/>
          </p:cNvSpPr>
          <p:nvPr/>
        </p:nvSpPr>
        <p:spPr>
          <a:xfrm>
            <a:off x="6096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Communicate clearly</a:t>
            </a:r>
          </a:p>
        </p:txBody>
      </p:sp>
      <p:sp>
        <p:nvSpPr>
          <p:cNvPr id="7" name="metric-2">
            <a:extLst>
              <a:ext uri="{FF2B5EF4-FFF2-40B4-BE49-F238E27FC236}">
                <a16:creationId xmlns:a16="http://schemas.microsoft.com/office/drawing/2014/main" id="{0D16F551-2B4C-4CDA-94DD-93247C950126}"/>
              </a:ext>
            </a:extLst>
          </p:cNvPr>
          <p:cNvSpPr>
            <a:spLocks noGrp="1"/>
          </p:cNvSpPr>
          <p:nvPr/>
        </p:nvSpPr>
        <p:spPr>
          <a:xfrm>
            <a:off x="27432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02</a:t>
            </a:r>
          </a:p>
        </p:txBody>
      </p:sp>
      <p:sp>
        <p:nvSpPr>
          <p:cNvPr id="8" name="metric-label-2">
            <a:extLst>
              <a:ext uri="{FF2B5EF4-FFF2-40B4-BE49-F238E27FC236}">
                <a16:creationId xmlns:a16="http://schemas.microsoft.com/office/drawing/2014/main" id="{6BD5104B-00D3-451F-BCFC-DDA9BE0DA9A1}"/>
              </a:ext>
            </a:extLst>
          </p:cNvPr>
          <p:cNvSpPr>
            <a:spLocks noGrp="1"/>
          </p:cNvSpPr>
          <p:nvPr/>
        </p:nvSpPr>
        <p:spPr>
          <a:xfrm>
            <a:off x="27432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Define ownership</a:t>
            </a:r>
          </a:p>
        </p:txBody>
      </p:sp>
      <p:sp>
        <p:nvSpPr>
          <p:cNvPr id="9" name="metric-3">
            <a:extLst>
              <a:ext uri="{FF2B5EF4-FFF2-40B4-BE49-F238E27FC236}">
                <a16:creationId xmlns:a16="http://schemas.microsoft.com/office/drawing/2014/main" id="{01BF2BF8-B510-4121-BCE7-CF8F11DC9921}"/>
              </a:ext>
            </a:extLst>
          </p:cNvPr>
          <p:cNvSpPr>
            <a:spLocks noGrp="1"/>
          </p:cNvSpPr>
          <p:nvPr/>
        </p:nvSpPr>
        <p:spPr>
          <a:xfrm>
            <a:off x="48768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03</a:t>
            </a:r>
          </a:p>
        </p:txBody>
      </p:sp>
      <p:sp>
        <p:nvSpPr>
          <p:cNvPr id="10" name="metric-label-3">
            <a:extLst>
              <a:ext uri="{FF2B5EF4-FFF2-40B4-BE49-F238E27FC236}">
                <a16:creationId xmlns:a16="http://schemas.microsoft.com/office/drawing/2014/main" id="{F4B4A8AC-D63C-4E68-95EC-D41E0625B81A}"/>
              </a:ext>
            </a:extLst>
          </p:cNvPr>
          <p:cNvSpPr>
            <a:spLocks noGrp="1"/>
          </p:cNvSpPr>
          <p:nvPr/>
        </p:nvSpPr>
        <p:spPr>
          <a:xfrm>
            <a:off x="48768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Collaborate &amp; give feedback</a:t>
            </a:r>
          </a:p>
        </p:txBody>
      </p:sp>
      <p:sp>
        <p:nvSpPr>
          <p:cNvPr id="11" name="metric-4">
            <a:extLst>
              <a:ext uri="{FF2B5EF4-FFF2-40B4-BE49-F238E27FC236}">
                <a16:creationId xmlns:a16="http://schemas.microsoft.com/office/drawing/2014/main" id="{49ABD33C-2B70-4B5D-9079-D0A0E0E76BB5}"/>
              </a:ext>
            </a:extLst>
          </p:cNvPr>
          <p:cNvSpPr>
            <a:spLocks noGrp="1"/>
          </p:cNvSpPr>
          <p:nvPr/>
        </p:nvSpPr>
        <p:spPr>
          <a:xfrm>
            <a:off x="70104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04</a:t>
            </a:r>
          </a:p>
        </p:txBody>
      </p:sp>
      <p:sp>
        <p:nvSpPr>
          <p:cNvPr id="12" name="metric-label-4">
            <a:extLst>
              <a:ext uri="{FF2B5EF4-FFF2-40B4-BE49-F238E27FC236}">
                <a16:creationId xmlns:a16="http://schemas.microsoft.com/office/drawing/2014/main" id="{7DC03B3E-1B65-417D-BA42-55F5A317DDF4}"/>
              </a:ext>
            </a:extLst>
          </p:cNvPr>
          <p:cNvSpPr>
            <a:spLocks noGrp="1"/>
          </p:cNvSpPr>
          <p:nvPr/>
        </p:nvSpPr>
        <p:spPr>
          <a:xfrm>
            <a:off x="70104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Manage tasks &amp; deadlines</a:t>
            </a:r>
          </a:p>
        </p:txBody>
      </p:sp>
      <p:sp>
        <p:nvSpPr>
          <p:cNvPr id="13" name="metric-5">
            <a:extLst>
              <a:ext uri="{FF2B5EF4-FFF2-40B4-BE49-F238E27FC236}">
                <a16:creationId xmlns:a16="http://schemas.microsoft.com/office/drawing/2014/main" id="{12B9EE3C-A7CE-4AF0-94FC-176DF9134160}"/>
              </a:ext>
            </a:extLst>
          </p:cNvPr>
          <p:cNvSpPr>
            <a:spLocks noGrp="1"/>
          </p:cNvSpPr>
          <p:nvPr/>
        </p:nvSpPr>
        <p:spPr>
          <a:xfrm>
            <a:off x="91440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05</a:t>
            </a:r>
          </a:p>
        </p:txBody>
      </p:sp>
      <p:sp>
        <p:nvSpPr>
          <p:cNvPr id="14" name="metric-label-5">
            <a:extLst>
              <a:ext uri="{FF2B5EF4-FFF2-40B4-BE49-F238E27FC236}">
                <a16:creationId xmlns:a16="http://schemas.microsoft.com/office/drawing/2014/main" id="{40E4B61C-7C85-4304-B1C0-FD8EB9E682FD}"/>
              </a:ext>
            </a:extLst>
          </p:cNvPr>
          <p:cNvSpPr>
            <a:spLocks noGrp="1"/>
          </p:cNvSpPr>
          <p:nvPr/>
        </p:nvSpPr>
        <p:spPr>
          <a:xfrm>
            <a:off x="91440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Track milestones</a:t>
            </a:r>
          </a:p>
        </p:txBody>
      </p:sp>
      <p:sp>
        <p:nvSpPr>
          <p:cNvPr id="15" name="text">
            <a:extLst>
              <a:ext uri="{FF2B5EF4-FFF2-40B4-BE49-F238E27FC236}">
                <a16:creationId xmlns:a16="http://schemas.microsoft.com/office/drawing/2014/main" id="{96858623-346F-4A60-ABDE-AFBCA6630083}"/>
              </a:ext>
            </a:extLst>
          </p:cNvPr>
          <p:cNvSpPr>
            <a:spLocks noGrp="1"/>
          </p:cNvSpPr>
          <p:nvPr/>
        </p:nvSpPr>
        <p:spPr>
          <a:xfrm>
            <a:off x="609600" y="4457700"/>
            <a:ext cx="10572750" cy="762000"/>
          </a:xfrm>
          <a:prstGeom prst="rect">
            <a:avLst/>
          </a:prstGeom>
          <a:noFill/>
          <a:ln w="0">
            <a:noFill/>
            <a:prstDash val="solid"/>
          </a:ln>
        </p:spPr>
        <p:txBody>
          <a:bodyPr anchor="t"/>
          <a:lstStyle/>
          <a:p>
            <a:pPr algn="l">
              <a:defRPr sz="2175" b="1">
                <a:solidFill>
                  <a:srgbClr val="111318"/>
                </a:solidFill>
                <a:latin typeface="Arial"/>
                <a:ea typeface="Arial"/>
                <a:cs typeface="Arial"/>
              </a:defRPr>
            </a:pPr>
            <a:r>
              <a:rPr sz="2175" b="1">
                <a:solidFill>
                  <a:srgbClr val="111318"/>
                </a:solidFill>
                <a:latin typeface="Arial"/>
                <a:ea typeface="Arial"/>
                <a:cs typeface="Arial"/>
              </a:rPr>
              <a:t>Strong leadership keeps planning, analysis, design, and implementation aligned to the same project goals.</a:t>
            </a:r>
          </a:p>
        </p:txBody>
      </p:sp>
    </p:spTree>
    <p:extLst>
      <p:ext uri="{BB962C8B-B14F-4D97-AF65-F5344CB8AC3E}">
        <p14:creationId xmlns:p14="http://schemas.microsoft.com/office/powerpoint/2010/main" val="207616481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AFD3FAC5-2E1D-48AD-BC32-1E0F80658C0F}"/>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Planning Phase in the SDLC</a:t>
            </a:r>
          </a:p>
        </p:txBody>
      </p:sp>
      <p:sp>
        <p:nvSpPr>
          <p:cNvPr id="3" name="title-rule">
            <a:extLst>
              <a:ext uri="{FF2B5EF4-FFF2-40B4-BE49-F238E27FC236}">
                <a16:creationId xmlns:a16="http://schemas.microsoft.com/office/drawing/2014/main" id="{27CE2782-0CC3-4780-B607-2A4017351464}"/>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1D65AD06-FD70-4EB4-8B8E-510C7DA31864}"/>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06</a:t>
            </a:r>
          </a:p>
        </p:txBody>
      </p:sp>
      <p:sp>
        <p:nvSpPr>
          <p:cNvPr id="5" name="metric-1">
            <a:extLst>
              <a:ext uri="{FF2B5EF4-FFF2-40B4-BE49-F238E27FC236}">
                <a16:creationId xmlns:a16="http://schemas.microsoft.com/office/drawing/2014/main" id="{6D608243-9749-4C1A-A665-2DBDF4A7DD1B}"/>
              </a:ext>
            </a:extLst>
          </p:cNvPr>
          <p:cNvSpPr>
            <a:spLocks noGrp="1"/>
          </p:cNvSpPr>
          <p:nvPr/>
        </p:nvSpPr>
        <p:spPr>
          <a:xfrm>
            <a:off x="6096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01</a:t>
            </a:r>
          </a:p>
        </p:txBody>
      </p:sp>
      <p:sp>
        <p:nvSpPr>
          <p:cNvPr id="6" name="metric-label-1">
            <a:extLst>
              <a:ext uri="{FF2B5EF4-FFF2-40B4-BE49-F238E27FC236}">
                <a16:creationId xmlns:a16="http://schemas.microsoft.com/office/drawing/2014/main" id="{A454B3DD-3E77-473C-9171-EF6AD52A8179}"/>
              </a:ext>
            </a:extLst>
          </p:cNvPr>
          <p:cNvSpPr>
            <a:spLocks noGrp="1"/>
          </p:cNvSpPr>
          <p:nvPr/>
        </p:nvSpPr>
        <p:spPr>
          <a:xfrm>
            <a:off x="6096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Define scope</a:t>
            </a:r>
          </a:p>
        </p:txBody>
      </p:sp>
      <p:sp>
        <p:nvSpPr>
          <p:cNvPr id="7" name="metric-2">
            <a:extLst>
              <a:ext uri="{FF2B5EF4-FFF2-40B4-BE49-F238E27FC236}">
                <a16:creationId xmlns:a16="http://schemas.microsoft.com/office/drawing/2014/main" id="{B012D985-5563-43FD-9A15-D08920784C3A}"/>
              </a:ext>
            </a:extLst>
          </p:cNvPr>
          <p:cNvSpPr>
            <a:spLocks noGrp="1"/>
          </p:cNvSpPr>
          <p:nvPr/>
        </p:nvSpPr>
        <p:spPr>
          <a:xfrm>
            <a:off x="27432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02</a:t>
            </a:r>
          </a:p>
        </p:txBody>
      </p:sp>
      <p:sp>
        <p:nvSpPr>
          <p:cNvPr id="8" name="metric-label-2">
            <a:extLst>
              <a:ext uri="{FF2B5EF4-FFF2-40B4-BE49-F238E27FC236}">
                <a16:creationId xmlns:a16="http://schemas.microsoft.com/office/drawing/2014/main" id="{F13E7949-9117-4B40-A11F-3EADA8D1AB46}"/>
              </a:ext>
            </a:extLst>
          </p:cNvPr>
          <p:cNvSpPr>
            <a:spLocks noGrp="1"/>
          </p:cNvSpPr>
          <p:nvPr/>
        </p:nvSpPr>
        <p:spPr>
          <a:xfrm>
            <a:off x="27432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Identify stakeholders &amp; requirements</a:t>
            </a:r>
          </a:p>
        </p:txBody>
      </p:sp>
      <p:sp>
        <p:nvSpPr>
          <p:cNvPr id="9" name="metric-3">
            <a:extLst>
              <a:ext uri="{FF2B5EF4-FFF2-40B4-BE49-F238E27FC236}">
                <a16:creationId xmlns:a16="http://schemas.microsoft.com/office/drawing/2014/main" id="{799E9773-6D32-4B06-A278-A7055BBD49D5}"/>
              </a:ext>
            </a:extLst>
          </p:cNvPr>
          <p:cNvSpPr>
            <a:spLocks noGrp="1"/>
          </p:cNvSpPr>
          <p:nvPr/>
        </p:nvSpPr>
        <p:spPr>
          <a:xfrm>
            <a:off x="48768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03</a:t>
            </a:r>
          </a:p>
        </p:txBody>
      </p:sp>
      <p:sp>
        <p:nvSpPr>
          <p:cNvPr id="10" name="metric-label-3">
            <a:extLst>
              <a:ext uri="{FF2B5EF4-FFF2-40B4-BE49-F238E27FC236}">
                <a16:creationId xmlns:a16="http://schemas.microsoft.com/office/drawing/2014/main" id="{DE7A50E3-270D-426F-AB05-8F6934AD3951}"/>
              </a:ext>
            </a:extLst>
          </p:cNvPr>
          <p:cNvSpPr>
            <a:spLocks noGrp="1"/>
          </p:cNvSpPr>
          <p:nvPr/>
        </p:nvSpPr>
        <p:spPr>
          <a:xfrm>
            <a:off x="48768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Evaluate feasibility</a:t>
            </a:r>
          </a:p>
        </p:txBody>
      </p:sp>
      <p:sp>
        <p:nvSpPr>
          <p:cNvPr id="11" name="metric-4">
            <a:extLst>
              <a:ext uri="{FF2B5EF4-FFF2-40B4-BE49-F238E27FC236}">
                <a16:creationId xmlns:a16="http://schemas.microsoft.com/office/drawing/2014/main" id="{F977775D-94E8-4650-8378-34C0BFED6957}"/>
              </a:ext>
            </a:extLst>
          </p:cNvPr>
          <p:cNvSpPr>
            <a:spLocks noGrp="1"/>
          </p:cNvSpPr>
          <p:nvPr/>
        </p:nvSpPr>
        <p:spPr>
          <a:xfrm>
            <a:off x="70104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04</a:t>
            </a:r>
          </a:p>
        </p:txBody>
      </p:sp>
      <p:sp>
        <p:nvSpPr>
          <p:cNvPr id="12" name="metric-label-4">
            <a:extLst>
              <a:ext uri="{FF2B5EF4-FFF2-40B4-BE49-F238E27FC236}">
                <a16:creationId xmlns:a16="http://schemas.microsoft.com/office/drawing/2014/main" id="{46A24154-4CF8-416A-B55A-5A56E4EC26ED}"/>
              </a:ext>
            </a:extLst>
          </p:cNvPr>
          <p:cNvSpPr>
            <a:spLocks noGrp="1"/>
          </p:cNvSpPr>
          <p:nvPr/>
        </p:nvSpPr>
        <p:spPr>
          <a:xfrm>
            <a:off x="70104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Create schedule &amp; milestones</a:t>
            </a:r>
          </a:p>
        </p:txBody>
      </p:sp>
      <p:sp>
        <p:nvSpPr>
          <p:cNvPr id="13" name="metric-5">
            <a:extLst>
              <a:ext uri="{FF2B5EF4-FFF2-40B4-BE49-F238E27FC236}">
                <a16:creationId xmlns:a16="http://schemas.microsoft.com/office/drawing/2014/main" id="{AC1E43D4-57AD-4653-A300-A519759646EA}"/>
              </a:ext>
            </a:extLst>
          </p:cNvPr>
          <p:cNvSpPr>
            <a:spLocks noGrp="1"/>
          </p:cNvSpPr>
          <p:nvPr/>
        </p:nvSpPr>
        <p:spPr>
          <a:xfrm>
            <a:off x="91440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05</a:t>
            </a:r>
          </a:p>
        </p:txBody>
      </p:sp>
      <p:sp>
        <p:nvSpPr>
          <p:cNvPr id="14" name="metric-label-5">
            <a:extLst>
              <a:ext uri="{FF2B5EF4-FFF2-40B4-BE49-F238E27FC236}">
                <a16:creationId xmlns:a16="http://schemas.microsoft.com/office/drawing/2014/main" id="{7A29E345-9256-4DBE-A5EE-7DA66FCCC80E}"/>
              </a:ext>
            </a:extLst>
          </p:cNvPr>
          <p:cNvSpPr>
            <a:spLocks noGrp="1"/>
          </p:cNvSpPr>
          <p:nvPr/>
        </p:nvSpPr>
        <p:spPr>
          <a:xfrm>
            <a:off x="91440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Assess risks &amp; resources</a:t>
            </a:r>
          </a:p>
        </p:txBody>
      </p:sp>
      <p:sp>
        <p:nvSpPr>
          <p:cNvPr id="15" name="planning-summary">
            <a:extLst>
              <a:ext uri="{FF2B5EF4-FFF2-40B4-BE49-F238E27FC236}">
                <a16:creationId xmlns:a16="http://schemas.microsoft.com/office/drawing/2014/main" id="{AC9EA9EA-3895-4CE9-99C4-48DEC09F9286}"/>
              </a:ext>
            </a:extLst>
          </p:cNvPr>
          <p:cNvSpPr>
            <a:spLocks noGrp="1"/>
          </p:cNvSpPr>
          <p:nvPr/>
        </p:nvSpPr>
        <p:spPr>
          <a:xfrm>
            <a:off x="600075" y="4101846"/>
            <a:ext cx="10429875" cy="1162050"/>
          </a:xfrm>
          <a:prstGeom prst="rect">
            <a:avLst/>
          </a:prstGeom>
          <a:solidFill>
            <a:srgbClr val="EDF5FF"/>
          </a:solidFill>
          <a:ln w="0">
            <a:noFill/>
            <a:prstDash val="solid"/>
          </a:ln>
        </p:spPr>
        <p:txBody>
          <a:bodyPr/>
          <a:lstStyle/>
          <a:p>
            <a:endParaRPr lang="en-US"/>
          </a:p>
        </p:txBody>
      </p:sp>
      <p:sp>
        <p:nvSpPr>
          <p:cNvPr id="16" name="text">
            <a:extLst>
              <a:ext uri="{FF2B5EF4-FFF2-40B4-BE49-F238E27FC236}">
                <a16:creationId xmlns:a16="http://schemas.microsoft.com/office/drawing/2014/main" id="{2B49AC3D-6D56-4801-BF40-D736A040E3FB}"/>
              </a:ext>
            </a:extLst>
          </p:cNvPr>
          <p:cNvSpPr>
            <a:spLocks noGrp="1"/>
          </p:cNvSpPr>
          <p:nvPr/>
        </p:nvSpPr>
        <p:spPr>
          <a:xfrm>
            <a:off x="838200" y="4210050"/>
            <a:ext cx="2190750" cy="333375"/>
          </a:xfrm>
          <a:prstGeom prst="rect">
            <a:avLst/>
          </a:prstGeom>
          <a:noFill/>
          <a:ln w="0">
            <a:noFill/>
            <a:prstDash val="solid"/>
          </a:ln>
        </p:spPr>
        <p:txBody>
          <a:bodyPr anchor="t"/>
          <a:lstStyle/>
          <a:p>
            <a:pPr algn="l">
              <a:defRPr sz="1425" b="1">
                <a:solidFill>
                  <a:srgbClr val="2583FF"/>
                </a:solidFill>
                <a:latin typeface="Arial"/>
                <a:ea typeface="Arial"/>
                <a:cs typeface="Arial"/>
              </a:defRPr>
            </a:pPr>
            <a:r>
              <a:rPr sz="1425" b="1">
                <a:solidFill>
                  <a:srgbClr val="2583FF"/>
                </a:solidFill>
                <a:latin typeface="Arial"/>
                <a:ea typeface="Arial"/>
                <a:cs typeface="Arial"/>
              </a:rPr>
              <a:t>Foundation first</a:t>
            </a:r>
          </a:p>
        </p:txBody>
      </p:sp>
      <p:sp>
        <p:nvSpPr>
          <p:cNvPr id="17" name="text">
            <a:extLst>
              <a:ext uri="{FF2B5EF4-FFF2-40B4-BE49-F238E27FC236}">
                <a16:creationId xmlns:a16="http://schemas.microsoft.com/office/drawing/2014/main" id="{E8476857-308C-48B3-9BDD-99B730BCC2D3}"/>
              </a:ext>
            </a:extLst>
          </p:cNvPr>
          <p:cNvSpPr>
            <a:spLocks noGrp="1"/>
          </p:cNvSpPr>
          <p:nvPr/>
        </p:nvSpPr>
        <p:spPr>
          <a:xfrm>
            <a:off x="838200" y="4572000"/>
            <a:ext cx="9715500" cy="400050"/>
          </a:xfrm>
          <a:prstGeom prst="rect">
            <a:avLst/>
          </a:prstGeom>
          <a:noFill/>
          <a:ln w="0">
            <a:noFill/>
            <a:prstDash val="solid"/>
          </a:ln>
        </p:spPr>
        <p:txBody>
          <a:bodyPr anchor="t"/>
          <a:lstStyle/>
          <a:p>
            <a:pPr algn="l">
              <a:defRPr sz="1875" b="1">
                <a:solidFill>
                  <a:srgbClr val="111318"/>
                </a:solidFill>
                <a:latin typeface="Arial"/>
                <a:ea typeface="Arial"/>
                <a:cs typeface="Arial"/>
              </a:defRPr>
            </a:pPr>
            <a:r>
              <a:rPr sz="1875" b="1">
                <a:solidFill>
                  <a:srgbClr val="111318"/>
                </a:solidFill>
                <a:latin typeface="Arial"/>
                <a:ea typeface="Arial"/>
                <a:cs typeface="Arial"/>
              </a:rPr>
              <a:t>Early planning makes cost, capability, schedule, and risk visible before development accelerates.</a:t>
            </a:r>
          </a:p>
        </p:txBody>
      </p:sp>
    </p:spTree>
    <p:extLst>
      <p:ext uri="{BB962C8B-B14F-4D97-AF65-F5344CB8AC3E}">
        <p14:creationId xmlns:p14="http://schemas.microsoft.com/office/powerpoint/2010/main" val="166883937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54A099FA-1EAB-4081-8E6B-AA131C6150B4}"/>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Planning and Control in the SDLC</a:t>
            </a:r>
          </a:p>
        </p:txBody>
      </p:sp>
      <p:sp>
        <p:nvSpPr>
          <p:cNvPr id="3" name="title-rule">
            <a:extLst>
              <a:ext uri="{FF2B5EF4-FFF2-40B4-BE49-F238E27FC236}">
                <a16:creationId xmlns:a16="http://schemas.microsoft.com/office/drawing/2014/main" id="{875D9D22-6FC4-46B7-A44F-F2713082F06F}"/>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C7F5FD4B-9B8F-479B-98E7-BC5B3144A3F9}"/>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07</a:t>
            </a:r>
          </a:p>
        </p:txBody>
      </p:sp>
      <p:sp>
        <p:nvSpPr>
          <p:cNvPr id="5" name="bullet-1">
            <a:extLst>
              <a:ext uri="{FF2B5EF4-FFF2-40B4-BE49-F238E27FC236}">
                <a16:creationId xmlns:a16="http://schemas.microsoft.com/office/drawing/2014/main" id="{53CE22DB-3BCE-477D-90F0-64A5D51FD5A5}"/>
              </a:ext>
            </a:extLst>
          </p:cNvPr>
          <p:cNvSpPr>
            <a:spLocks noGrp="1"/>
          </p:cNvSpPr>
          <p:nvPr/>
        </p:nvSpPr>
        <p:spPr>
          <a:xfrm>
            <a:off x="666750" y="2076450"/>
            <a:ext cx="95250" cy="95250"/>
          </a:xfrm>
          <a:prstGeom prst="rect">
            <a:avLst/>
          </a:prstGeom>
          <a:solidFill>
            <a:srgbClr val="2583FF"/>
          </a:solidFill>
          <a:ln w="0">
            <a:noFill/>
            <a:prstDash val="solid"/>
          </a:ln>
        </p:spPr>
        <p:txBody>
          <a:bodyPr/>
          <a:lstStyle/>
          <a:p>
            <a:endParaRPr lang="en-US"/>
          </a:p>
        </p:txBody>
      </p:sp>
      <p:sp>
        <p:nvSpPr>
          <p:cNvPr id="6" name="bullet-text-1">
            <a:extLst>
              <a:ext uri="{FF2B5EF4-FFF2-40B4-BE49-F238E27FC236}">
                <a16:creationId xmlns:a16="http://schemas.microsoft.com/office/drawing/2014/main" id="{5B83173D-D956-44C8-9DDF-DF5640E41C6B}"/>
              </a:ext>
            </a:extLst>
          </p:cNvPr>
          <p:cNvSpPr>
            <a:spLocks noGrp="1"/>
          </p:cNvSpPr>
          <p:nvPr/>
        </p:nvSpPr>
        <p:spPr>
          <a:xfrm>
            <a:off x="933450" y="19812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Monitor project progress</a:t>
            </a:r>
          </a:p>
        </p:txBody>
      </p:sp>
      <p:sp>
        <p:nvSpPr>
          <p:cNvPr id="7" name="bullet-2">
            <a:extLst>
              <a:ext uri="{FF2B5EF4-FFF2-40B4-BE49-F238E27FC236}">
                <a16:creationId xmlns:a16="http://schemas.microsoft.com/office/drawing/2014/main" id="{752139A8-8589-43B7-9F9E-4A583A2FB859}"/>
              </a:ext>
            </a:extLst>
          </p:cNvPr>
          <p:cNvSpPr>
            <a:spLocks noGrp="1"/>
          </p:cNvSpPr>
          <p:nvPr/>
        </p:nvSpPr>
        <p:spPr>
          <a:xfrm>
            <a:off x="666750" y="2819400"/>
            <a:ext cx="95250" cy="95250"/>
          </a:xfrm>
          <a:prstGeom prst="rect">
            <a:avLst/>
          </a:prstGeom>
          <a:solidFill>
            <a:srgbClr val="2583FF"/>
          </a:solidFill>
          <a:ln w="0">
            <a:noFill/>
            <a:prstDash val="solid"/>
          </a:ln>
        </p:spPr>
        <p:txBody>
          <a:bodyPr/>
          <a:lstStyle/>
          <a:p>
            <a:endParaRPr lang="en-US"/>
          </a:p>
        </p:txBody>
      </p:sp>
      <p:sp>
        <p:nvSpPr>
          <p:cNvPr id="8" name="bullet-text-2">
            <a:extLst>
              <a:ext uri="{FF2B5EF4-FFF2-40B4-BE49-F238E27FC236}">
                <a16:creationId xmlns:a16="http://schemas.microsoft.com/office/drawing/2014/main" id="{417C5C1E-0C11-4CFD-85EA-2B6AEDD3CA2B}"/>
              </a:ext>
            </a:extLst>
          </p:cNvPr>
          <p:cNvSpPr>
            <a:spLocks noGrp="1"/>
          </p:cNvSpPr>
          <p:nvPr/>
        </p:nvSpPr>
        <p:spPr>
          <a:xfrm>
            <a:off x="933450" y="272415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Manage scope, cost, and schedule</a:t>
            </a:r>
          </a:p>
        </p:txBody>
      </p:sp>
      <p:sp>
        <p:nvSpPr>
          <p:cNvPr id="9" name="bullet-3">
            <a:extLst>
              <a:ext uri="{FF2B5EF4-FFF2-40B4-BE49-F238E27FC236}">
                <a16:creationId xmlns:a16="http://schemas.microsoft.com/office/drawing/2014/main" id="{118D58FF-743A-4B45-8803-752C11609C85}"/>
              </a:ext>
            </a:extLst>
          </p:cNvPr>
          <p:cNvSpPr>
            <a:spLocks noGrp="1"/>
          </p:cNvSpPr>
          <p:nvPr/>
        </p:nvSpPr>
        <p:spPr>
          <a:xfrm>
            <a:off x="666750" y="3562350"/>
            <a:ext cx="95250" cy="95250"/>
          </a:xfrm>
          <a:prstGeom prst="rect">
            <a:avLst/>
          </a:prstGeom>
          <a:solidFill>
            <a:srgbClr val="2583FF"/>
          </a:solidFill>
          <a:ln w="0">
            <a:noFill/>
            <a:prstDash val="solid"/>
          </a:ln>
        </p:spPr>
        <p:txBody>
          <a:bodyPr/>
          <a:lstStyle/>
          <a:p>
            <a:endParaRPr lang="en-US"/>
          </a:p>
        </p:txBody>
      </p:sp>
      <p:sp>
        <p:nvSpPr>
          <p:cNvPr id="10" name="bullet-text-3">
            <a:extLst>
              <a:ext uri="{FF2B5EF4-FFF2-40B4-BE49-F238E27FC236}">
                <a16:creationId xmlns:a16="http://schemas.microsoft.com/office/drawing/2014/main" id="{5C808476-7FC2-439A-9E22-50489687BBDD}"/>
              </a:ext>
            </a:extLst>
          </p:cNvPr>
          <p:cNvSpPr>
            <a:spLocks noGrp="1"/>
          </p:cNvSpPr>
          <p:nvPr/>
        </p:nvSpPr>
        <p:spPr>
          <a:xfrm>
            <a:off x="933450" y="34671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Address risks and changes</a:t>
            </a:r>
          </a:p>
        </p:txBody>
      </p:sp>
      <p:sp>
        <p:nvSpPr>
          <p:cNvPr id="11" name="column-rule">
            <a:extLst>
              <a:ext uri="{FF2B5EF4-FFF2-40B4-BE49-F238E27FC236}">
                <a16:creationId xmlns:a16="http://schemas.microsoft.com/office/drawing/2014/main" id="{C1B989B5-385E-4954-8A87-5DA8DF4DED96}"/>
              </a:ext>
            </a:extLst>
          </p:cNvPr>
          <p:cNvSpPr>
            <a:spLocks noGrp="1"/>
          </p:cNvSpPr>
          <p:nvPr/>
        </p:nvSpPr>
        <p:spPr>
          <a:xfrm>
            <a:off x="6076950" y="1866900"/>
            <a:ext cx="19050" cy="3429000"/>
          </a:xfrm>
          <a:prstGeom prst="rect">
            <a:avLst/>
          </a:prstGeom>
          <a:solidFill>
            <a:srgbClr val="C9CED6"/>
          </a:solidFill>
          <a:ln w="0">
            <a:noFill/>
            <a:prstDash val="solid"/>
          </a:ln>
        </p:spPr>
        <p:txBody>
          <a:bodyPr/>
          <a:lstStyle/>
          <a:p>
            <a:endParaRPr lang="en-US"/>
          </a:p>
        </p:txBody>
      </p:sp>
      <p:sp>
        <p:nvSpPr>
          <p:cNvPr id="12" name="bullet-1">
            <a:extLst>
              <a:ext uri="{FF2B5EF4-FFF2-40B4-BE49-F238E27FC236}">
                <a16:creationId xmlns:a16="http://schemas.microsoft.com/office/drawing/2014/main" id="{02144220-0EFF-4CB3-BB51-AFFBFACCD5D3}"/>
              </a:ext>
            </a:extLst>
          </p:cNvPr>
          <p:cNvSpPr>
            <a:spLocks noGrp="1"/>
          </p:cNvSpPr>
          <p:nvPr/>
        </p:nvSpPr>
        <p:spPr>
          <a:xfrm>
            <a:off x="6591300" y="2076450"/>
            <a:ext cx="95250" cy="95250"/>
          </a:xfrm>
          <a:prstGeom prst="rect">
            <a:avLst/>
          </a:prstGeom>
          <a:solidFill>
            <a:srgbClr val="2583FF"/>
          </a:solidFill>
          <a:ln w="0">
            <a:noFill/>
            <a:prstDash val="solid"/>
          </a:ln>
        </p:spPr>
        <p:txBody>
          <a:bodyPr/>
          <a:lstStyle/>
          <a:p>
            <a:endParaRPr lang="en-US"/>
          </a:p>
        </p:txBody>
      </p:sp>
      <p:sp>
        <p:nvSpPr>
          <p:cNvPr id="13" name="bullet-text-1">
            <a:extLst>
              <a:ext uri="{FF2B5EF4-FFF2-40B4-BE49-F238E27FC236}">
                <a16:creationId xmlns:a16="http://schemas.microsoft.com/office/drawing/2014/main" id="{F74B923C-F954-4A3D-9EF2-B362C04756C7}"/>
              </a:ext>
            </a:extLst>
          </p:cNvPr>
          <p:cNvSpPr>
            <a:spLocks noGrp="1"/>
          </p:cNvSpPr>
          <p:nvPr/>
        </p:nvSpPr>
        <p:spPr>
          <a:xfrm>
            <a:off x="6858000" y="198120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Ensure quality and accountability</a:t>
            </a:r>
          </a:p>
        </p:txBody>
      </p:sp>
      <p:sp>
        <p:nvSpPr>
          <p:cNvPr id="14" name="bullet-2">
            <a:extLst>
              <a:ext uri="{FF2B5EF4-FFF2-40B4-BE49-F238E27FC236}">
                <a16:creationId xmlns:a16="http://schemas.microsoft.com/office/drawing/2014/main" id="{36DE99B3-0DFB-47C2-822A-5DDD46A2B609}"/>
              </a:ext>
            </a:extLst>
          </p:cNvPr>
          <p:cNvSpPr>
            <a:spLocks noGrp="1"/>
          </p:cNvSpPr>
          <p:nvPr/>
        </p:nvSpPr>
        <p:spPr>
          <a:xfrm>
            <a:off x="6591300" y="2819400"/>
            <a:ext cx="95250" cy="95250"/>
          </a:xfrm>
          <a:prstGeom prst="rect">
            <a:avLst/>
          </a:prstGeom>
          <a:solidFill>
            <a:srgbClr val="2583FF"/>
          </a:solidFill>
          <a:ln w="0">
            <a:noFill/>
            <a:prstDash val="solid"/>
          </a:ln>
        </p:spPr>
        <p:txBody>
          <a:bodyPr/>
          <a:lstStyle/>
          <a:p>
            <a:endParaRPr lang="en-US"/>
          </a:p>
        </p:txBody>
      </p:sp>
      <p:sp>
        <p:nvSpPr>
          <p:cNvPr id="15" name="bullet-text-2">
            <a:extLst>
              <a:ext uri="{FF2B5EF4-FFF2-40B4-BE49-F238E27FC236}">
                <a16:creationId xmlns:a16="http://schemas.microsoft.com/office/drawing/2014/main" id="{F5A6D939-B4CD-4F6A-86F5-27F9D7C57641}"/>
              </a:ext>
            </a:extLst>
          </p:cNvPr>
          <p:cNvSpPr>
            <a:spLocks noGrp="1"/>
          </p:cNvSpPr>
          <p:nvPr/>
        </p:nvSpPr>
        <p:spPr>
          <a:xfrm>
            <a:off x="6858000" y="272415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Keep deliverables aligned with goals</a:t>
            </a:r>
          </a:p>
        </p:txBody>
      </p:sp>
    </p:spTree>
    <p:extLst>
      <p:ext uri="{BB962C8B-B14F-4D97-AF65-F5344CB8AC3E}">
        <p14:creationId xmlns:p14="http://schemas.microsoft.com/office/powerpoint/2010/main" val="1966196187"/>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eyebrow">
            <a:extLst>
              <a:ext uri="{FF2B5EF4-FFF2-40B4-BE49-F238E27FC236}">
                <a16:creationId xmlns:a16="http://schemas.microsoft.com/office/drawing/2014/main" id="{F62CB9EA-E4B1-47B8-88EF-538563785D62}"/>
              </a:ext>
            </a:extLst>
          </p:cNvPr>
          <p:cNvSpPr>
            <a:spLocks noGrp="1"/>
          </p:cNvSpPr>
          <p:nvPr/>
        </p:nvSpPr>
        <p:spPr>
          <a:xfrm>
            <a:off x="457200" y="323850"/>
            <a:ext cx="3238500" cy="285750"/>
          </a:xfrm>
          <a:prstGeom prst="rect">
            <a:avLst/>
          </a:prstGeom>
          <a:noFill/>
          <a:ln w="0">
            <a:noFill/>
            <a:prstDash val="solid"/>
          </a:ln>
        </p:spPr>
        <p:txBody>
          <a:bodyPr anchor="t"/>
          <a:lstStyle/>
          <a:p>
            <a:pPr algn="l">
              <a:defRPr sz="1200" b="1">
                <a:solidFill>
                  <a:srgbClr val="2583FF"/>
                </a:solidFill>
                <a:latin typeface="Arial"/>
                <a:ea typeface="Arial"/>
                <a:cs typeface="Arial"/>
              </a:defRPr>
            </a:pPr>
            <a:r>
              <a:rPr sz="1200" b="1">
                <a:solidFill>
                  <a:srgbClr val="2583FF"/>
                </a:solidFill>
                <a:latin typeface="Arial"/>
                <a:ea typeface="Arial"/>
                <a:cs typeface="Arial"/>
              </a:rPr>
              <a:t>WHAT THE SYSTEM SHOULD DO</a:t>
            </a:r>
          </a:p>
        </p:txBody>
      </p:sp>
      <p:sp>
        <p:nvSpPr>
          <p:cNvPr id="2" name="slide-title">
            <a:extLst>
              <a:ext uri="{FF2B5EF4-FFF2-40B4-BE49-F238E27FC236}">
                <a16:creationId xmlns:a16="http://schemas.microsoft.com/office/drawing/2014/main" id="{8E35C7AF-3DE3-4E73-85D7-7F7416F263C6}"/>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Functional Specifications</a:t>
            </a:r>
          </a:p>
        </p:txBody>
      </p:sp>
      <p:sp>
        <p:nvSpPr>
          <p:cNvPr id="3" name="title-rule">
            <a:extLst>
              <a:ext uri="{FF2B5EF4-FFF2-40B4-BE49-F238E27FC236}">
                <a16:creationId xmlns:a16="http://schemas.microsoft.com/office/drawing/2014/main" id="{1CEA4B9F-294F-4388-B9F9-0472C1BB6EC7}"/>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FE7C898B-94C7-407E-BF47-6E906C884DA7}"/>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08</a:t>
            </a:r>
          </a:p>
        </p:txBody>
      </p:sp>
      <p:sp>
        <p:nvSpPr>
          <p:cNvPr id="5" name="bullet-1">
            <a:extLst>
              <a:ext uri="{FF2B5EF4-FFF2-40B4-BE49-F238E27FC236}">
                <a16:creationId xmlns:a16="http://schemas.microsoft.com/office/drawing/2014/main" id="{2EF509E2-384A-4E12-B273-DFCF9019C3D6}"/>
              </a:ext>
            </a:extLst>
          </p:cNvPr>
          <p:cNvSpPr>
            <a:spLocks noGrp="1"/>
          </p:cNvSpPr>
          <p:nvPr/>
        </p:nvSpPr>
        <p:spPr>
          <a:xfrm>
            <a:off x="666750" y="2076450"/>
            <a:ext cx="95250" cy="95250"/>
          </a:xfrm>
          <a:prstGeom prst="rect">
            <a:avLst/>
          </a:prstGeom>
          <a:solidFill>
            <a:srgbClr val="2583FF"/>
          </a:solidFill>
          <a:ln w="0">
            <a:noFill/>
            <a:prstDash val="solid"/>
          </a:ln>
        </p:spPr>
        <p:txBody>
          <a:bodyPr/>
          <a:lstStyle/>
          <a:p>
            <a:endParaRPr lang="en-US"/>
          </a:p>
        </p:txBody>
      </p:sp>
      <p:sp>
        <p:nvSpPr>
          <p:cNvPr id="6" name="bullet-text-1">
            <a:extLst>
              <a:ext uri="{FF2B5EF4-FFF2-40B4-BE49-F238E27FC236}">
                <a16:creationId xmlns:a16="http://schemas.microsoft.com/office/drawing/2014/main" id="{6C50AF2A-056F-47C1-BE5B-98A8200A15DE}"/>
              </a:ext>
            </a:extLst>
          </p:cNvPr>
          <p:cNvSpPr>
            <a:spLocks noGrp="1"/>
          </p:cNvSpPr>
          <p:nvPr/>
        </p:nvSpPr>
        <p:spPr>
          <a:xfrm>
            <a:off x="933450" y="19812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User registration and login</a:t>
            </a:r>
          </a:p>
        </p:txBody>
      </p:sp>
      <p:sp>
        <p:nvSpPr>
          <p:cNvPr id="7" name="bullet-2">
            <a:extLst>
              <a:ext uri="{FF2B5EF4-FFF2-40B4-BE49-F238E27FC236}">
                <a16:creationId xmlns:a16="http://schemas.microsoft.com/office/drawing/2014/main" id="{DBF4BC27-79BF-4F75-8AA0-51F3D694BD80}"/>
              </a:ext>
            </a:extLst>
          </p:cNvPr>
          <p:cNvSpPr>
            <a:spLocks noGrp="1"/>
          </p:cNvSpPr>
          <p:nvPr/>
        </p:nvSpPr>
        <p:spPr>
          <a:xfrm>
            <a:off x="666750" y="2819400"/>
            <a:ext cx="95250" cy="95250"/>
          </a:xfrm>
          <a:prstGeom prst="rect">
            <a:avLst/>
          </a:prstGeom>
          <a:solidFill>
            <a:srgbClr val="2583FF"/>
          </a:solidFill>
          <a:ln w="0">
            <a:noFill/>
            <a:prstDash val="solid"/>
          </a:ln>
        </p:spPr>
        <p:txBody>
          <a:bodyPr/>
          <a:lstStyle/>
          <a:p>
            <a:endParaRPr lang="en-US"/>
          </a:p>
        </p:txBody>
      </p:sp>
      <p:sp>
        <p:nvSpPr>
          <p:cNvPr id="8" name="bullet-text-2">
            <a:extLst>
              <a:ext uri="{FF2B5EF4-FFF2-40B4-BE49-F238E27FC236}">
                <a16:creationId xmlns:a16="http://schemas.microsoft.com/office/drawing/2014/main" id="{2ACE9C0A-9565-4A80-BEC9-B54C83FDF7EF}"/>
              </a:ext>
            </a:extLst>
          </p:cNvPr>
          <p:cNvSpPr>
            <a:spLocks noGrp="1"/>
          </p:cNvSpPr>
          <p:nvPr/>
        </p:nvSpPr>
        <p:spPr>
          <a:xfrm>
            <a:off x="933450" y="272415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Product search and browsing</a:t>
            </a:r>
          </a:p>
        </p:txBody>
      </p:sp>
      <p:sp>
        <p:nvSpPr>
          <p:cNvPr id="9" name="bullet-3">
            <a:extLst>
              <a:ext uri="{FF2B5EF4-FFF2-40B4-BE49-F238E27FC236}">
                <a16:creationId xmlns:a16="http://schemas.microsoft.com/office/drawing/2014/main" id="{60558DFD-7240-4D5D-9C15-6F794EFB499B}"/>
              </a:ext>
            </a:extLst>
          </p:cNvPr>
          <p:cNvSpPr>
            <a:spLocks noGrp="1"/>
          </p:cNvSpPr>
          <p:nvPr/>
        </p:nvSpPr>
        <p:spPr>
          <a:xfrm>
            <a:off x="666750" y="3562350"/>
            <a:ext cx="95250" cy="95250"/>
          </a:xfrm>
          <a:prstGeom prst="rect">
            <a:avLst/>
          </a:prstGeom>
          <a:solidFill>
            <a:srgbClr val="2583FF"/>
          </a:solidFill>
          <a:ln w="0">
            <a:noFill/>
            <a:prstDash val="solid"/>
          </a:ln>
        </p:spPr>
        <p:txBody>
          <a:bodyPr/>
          <a:lstStyle/>
          <a:p>
            <a:endParaRPr lang="en-US"/>
          </a:p>
        </p:txBody>
      </p:sp>
      <p:sp>
        <p:nvSpPr>
          <p:cNvPr id="10" name="bullet-text-3">
            <a:extLst>
              <a:ext uri="{FF2B5EF4-FFF2-40B4-BE49-F238E27FC236}">
                <a16:creationId xmlns:a16="http://schemas.microsoft.com/office/drawing/2014/main" id="{8D1301A1-0634-4E62-B10E-0CA73CCB1DFE}"/>
              </a:ext>
            </a:extLst>
          </p:cNvPr>
          <p:cNvSpPr>
            <a:spLocks noGrp="1"/>
          </p:cNvSpPr>
          <p:nvPr/>
        </p:nvSpPr>
        <p:spPr>
          <a:xfrm>
            <a:off x="933450" y="34671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Shopping cart and checkout</a:t>
            </a:r>
          </a:p>
        </p:txBody>
      </p:sp>
      <p:sp>
        <p:nvSpPr>
          <p:cNvPr id="11" name="column-rule">
            <a:extLst>
              <a:ext uri="{FF2B5EF4-FFF2-40B4-BE49-F238E27FC236}">
                <a16:creationId xmlns:a16="http://schemas.microsoft.com/office/drawing/2014/main" id="{A49F2155-41AB-4047-9010-0A83D9DBEE09}"/>
              </a:ext>
            </a:extLst>
          </p:cNvPr>
          <p:cNvSpPr>
            <a:spLocks noGrp="1"/>
          </p:cNvSpPr>
          <p:nvPr/>
        </p:nvSpPr>
        <p:spPr>
          <a:xfrm>
            <a:off x="6076950" y="1866900"/>
            <a:ext cx="19050" cy="3429000"/>
          </a:xfrm>
          <a:prstGeom prst="rect">
            <a:avLst/>
          </a:prstGeom>
          <a:solidFill>
            <a:srgbClr val="C9CED6"/>
          </a:solidFill>
          <a:ln w="0">
            <a:noFill/>
            <a:prstDash val="solid"/>
          </a:ln>
        </p:spPr>
        <p:txBody>
          <a:bodyPr/>
          <a:lstStyle/>
          <a:p>
            <a:endParaRPr lang="en-US"/>
          </a:p>
        </p:txBody>
      </p:sp>
      <p:sp>
        <p:nvSpPr>
          <p:cNvPr id="12" name="bullet-1">
            <a:extLst>
              <a:ext uri="{FF2B5EF4-FFF2-40B4-BE49-F238E27FC236}">
                <a16:creationId xmlns:a16="http://schemas.microsoft.com/office/drawing/2014/main" id="{2A71C0A0-5B9B-42F5-9CEA-A8B846BC3BB9}"/>
              </a:ext>
            </a:extLst>
          </p:cNvPr>
          <p:cNvSpPr>
            <a:spLocks noGrp="1"/>
          </p:cNvSpPr>
          <p:nvPr/>
        </p:nvSpPr>
        <p:spPr>
          <a:xfrm>
            <a:off x="6591300" y="2076450"/>
            <a:ext cx="95250" cy="95250"/>
          </a:xfrm>
          <a:prstGeom prst="rect">
            <a:avLst/>
          </a:prstGeom>
          <a:solidFill>
            <a:srgbClr val="2583FF"/>
          </a:solidFill>
          <a:ln w="0">
            <a:noFill/>
            <a:prstDash val="solid"/>
          </a:ln>
        </p:spPr>
        <p:txBody>
          <a:bodyPr/>
          <a:lstStyle/>
          <a:p>
            <a:endParaRPr lang="en-US"/>
          </a:p>
        </p:txBody>
      </p:sp>
      <p:sp>
        <p:nvSpPr>
          <p:cNvPr id="13" name="bullet-text-1">
            <a:extLst>
              <a:ext uri="{FF2B5EF4-FFF2-40B4-BE49-F238E27FC236}">
                <a16:creationId xmlns:a16="http://schemas.microsoft.com/office/drawing/2014/main" id="{316968CD-0F41-47FA-A04C-C6D78BF6DC61}"/>
              </a:ext>
            </a:extLst>
          </p:cNvPr>
          <p:cNvSpPr>
            <a:spLocks noGrp="1"/>
          </p:cNvSpPr>
          <p:nvPr/>
        </p:nvSpPr>
        <p:spPr>
          <a:xfrm>
            <a:off x="6858000" y="198120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Order tracking and account management</a:t>
            </a:r>
          </a:p>
        </p:txBody>
      </p:sp>
      <p:sp>
        <p:nvSpPr>
          <p:cNvPr id="14" name="bullet-2">
            <a:extLst>
              <a:ext uri="{FF2B5EF4-FFF2-40B4-BE49-F238E27FC236}">
                <a16:creationId xmlns:a16="http://schemas.microsoft.com/office/drawing/2014/main" id="{48D9189F-C327-48A3-B871-98A2ED72EE66}"/>
              </a:ext>
            </a:extLst>
          </p:cNvPr>
          <p:cNvSpPr>
            <a:spLocks noGrp="1"/>
          </p:cNvSpPr>
          <p:nvPr/>
        </p:nvSpPr>
        <p:spPr>
          <a:xfrm>
            <a:off x="6591300" y="2819400"/>
            <a:ext cx="95250" cy="95250"/>
          </a:xfrm>
          <a:prstGeom prst="rect">
            <a:avLst/>
          </a:prstGeom>
          <a:solidFill>
            <a:srgbClr val="2583FF"/>
          </a:solidFill>
          <a:ln w="0">
            <a:noFill/>
            <a:prstDash val="solid"/>
          </a:ln>
        </p:spPr>
        <p:txBody>
          <a:bodyPr/>
          <a:lstStyle/>
          <a:p>
            <a:endParaRPr lang="en-US"/>
          </a:p>
        </p:txBody>
      </p:sp>
      <p:sp>
        <p:nvSpPr>
          <p:cNvPr id="15" name="bullet-text-2">
            <a:extLst>
              <a:ext uri="{FF2B5EF4-FFF2-40B4-BE49-F238E27FC236}">
                <a16:creationId xmlns:a16="http://schemas.microsoft.com/office/drawing/2014/main" id="{0261ABC8-9D46-4124-A5BC-B35E02935F31}"/>
              </a:ext>
            </a:extLst>
          </p:cNvPr>
          <p:cNvSpPr>
            <a:spLocks noGrp="1"/>
          </p:cNvSpPr>
          <p:nvPr/>
        </p:nvSpPr>
        <p:spPr>
          <a:xfrm>
            <a:off x="6858000" y="272415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Admin product and inventory management</a:t>
            </a:r>
          </a:p>
        </p:txBody>
      </p:sp>
      <p:sp>
        <p:nvSpPr>
          <p:cNvPr id="16" name="functional-rule">
            <a:extLst>
              <a:ext uri="{FF2B5EF4-FFF2-40B4-BE49-F238E27FC236}">
                <a16:creationId xmlns:a16="http://schemas.microsoft.com/office/drawing/2014/main" id="{624FA9BF-C13D-4F39-ADD9-26646211FEF3}"/>
              </a:ext>
            </a:extLst>
          </p:cNvPr>
          <p:cNvSpPr>
            <a:spLocks noGrp="1"/>
          </p:cNvSpPr>
          <p:nvPr/>
        </p:nvSpPr>
        <p:spPr>
          <a:xfrm>
            <a:off x="666750" y="5562600"/>
            <a:ext cx="10668000" cy="19050"/>
          </a:xfrm>
          <a:prstGeom prst="rect">
            <a:avLst/>
          </a:prstGeom>
          <a:solidFill>
            <a:srgbClr val="C9CED6"/>
          </a:solidFill>
          <a:ln w="0">
            <a:noFill/>
            <a:prstDash val="solid"/>
          </a:ln>
        </p:spPr>
        <p:txBody>
          <a:bodyPr/>
          <a:lstStyle/>
          <a:p>
            <a:endParaRPr lang="en-US"/>
          </a:p>
        </p:txBody>
      </p:sp>
      <p:sp>
        <p:nvSpPr>
          <p:cNvPr id="17" name="text">
            <a:extLst>
              <a:ext uri="{FF2B5EF4-FFF2-40B4-BE49-F238E27FC236}">
                <a16:creationId xmlns:a16="http://schemas.microsoft.com/office/drawing/2014/main" id="{B53A1CD2-CF8E-4191-9F37-0C271AB586C4}"/>
              </a:ext>
            </a:extLst>
          </p:cNvPr>
          <p:cNvSpPr>
            <a:spLocks noGrp="1"/>
          </p:cNvSpPr>
          <p:nvPr/>
        </p:nvSpPr>
        <p:spPr>
          <a:xfrm>
            <a:off x="666750" y="5762625"/>
            <a:ext cx="10096500" cy="342900"/>
          </a:xfrm>
          <a:prstGeom prst="rect">
            <a:avLst/>
          </a:prstGeom>
          <a:noFill/>
          <a:ln w="0">
            <a:noFill/>
            <a:prstDash val="solid"/>
          </a:ln>
        </p:spPr>
        <p:txBody>
          <a:bodyPr anchor="t"/>
          <a:lstStyle/>
          <a:p>
            <a:pPr algn="l">
              <a:defRPr sz="1650" b="1">
                <a:solidFill>
                  <a:srgbClr val="626A75"/>
                </a:solidFill>
                <a:latin typeface="Arial"/>
                <a:ea typeface="Arial"/>
                <a:cs typeface="Arial"/>
              </a:defRPr>
            </a:pPr>
            <a:r>
              <a:rPr sz="1650" b="1">
                <a:solidFill>
                  <a:srgbClr val="626A75"/>
                </a:solidFill>
                <a:latin typeface="Arial"/>
                <a:ea typeface="Arial"/>
                <a:cs typeface="Arial"/>
              </a:rPr>
              <a:t>Functional requirements translate customer and business needs into observable system behaviors.</a:t>
            </a:r>
          </a:p>
        </p:txBody>
      </p:sp>
    </p:spTree>
    <p:extLst>
      <p:ext uri="{BB962C8B-B14F-4D97-AF65-F5344CB8AC3E}">
        <p14:creationId xmlns:p14="http://schemas.microsoft.com/office/powerpoint/2010/main" val="8829546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eyebrow">
            <a:extLst>
              <a:ext uri="{FF2B5EF4-FFF2-40B4-BE49-F238E27FC236}">
                <a16:creationId xmlns:a16="http://schemas.microsoft.com/office/drawing/2014/main" id="{177375E7-89F8-4FB3-8386-1B9A500AFA66}"/>
              </a:ext>
            </a:extLst>
          </p:cNvPr>
          <p:cNvSpPr>
            <a:spLocks noGrp="1"/>
          </p:cNvSpPr>
          <p:nvPr/>
        </p:nvSpPr>
        <p:spPr>
          <a:xfrm>
            <a:off x="457200" y="323850"/>
            <a:ext cx="3238500" cy="285750"/>
          </a:xfrm>
          <a:prstGeom prst="rect">
            <a:avLst/>
          </a:prstGeom>
          <a:noFill/>
          <a:ln w="0">
            <a:noFill/>
            <a:prstDash val="solid"/>
          </a:ln>
        </p:spPr>
        <p:txBody>
          <a:bodyPr anchor="t"/>
          <a:lstStyle/>
          <a:p>
            <a:pPr algn="l">
              <a:defRPr sz="1200" b="1">
                <a:solidFill>
                  <a:srgbClr val="2583FF"/>
                </a:solidFill>
                <a:latin typeface="Arial"/>
                <a:ea typeface="Arial"/>
                <a:cs typeface="Arial"/>
              </a:defRPr>
            </a:pPr>
            <a:r>
              <a:rPr sz="1200" b="1">
                <a:solidFill>
                  <a:srgbClr val="2583FF"/>
                </a:solidFill>
                <a:latin typeface="Arial"/>
                <a:ea typeface="Arial"/>
                <a:cs typeface="Arial"/>
              </a:rPr>
              <a:t>HOW THE SYSTEM WILL BE BUILT</a:t>
            </a:r>
          </a:p>
        </p:txBody>
      </p:sp>
      <p:sp>
        <p:nvSpPr>
          <p:cNvPr id="2" name="slide-title">
            <a:extLst>
              <a:ext uri="{FF2B5EF4-FFF2-40B4-BE49-F238E27FC236}">
                <a16:creationId xmlns:a16="http://schemas.microsoft.com/office/drawing/2014/main" id="{61C1A9C2-2C9F-4090-8E61-E16FE3E1A394}"/>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Technical Specifications</a:t>
            </a:r>
          </a:p>
        </p:txBody>
      </p:sp>
      <p:sp>
        <p:nvSpPr>
          <p:cNvPr id="3" name="title-rule">
            <a:extLst>
              <a:ext uri="{FF2B5EF4-FFF2-40B4-BE49-F238E27FC236}">
                <a16:creationId xmlns:a16="http://schemas.microsoft.com/office/drawing/2014/main" id="{D1276988-D697-4AAB-AC06-D36E3709EE83}"/>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C8DE51A1-9E6E-4E42-A270-1C50435BBE2A}"/>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09</a:t>
            </a:r>
          </a:p>
        </p:txBody>
      </p:sp>
      <p:sp>
        <p:nvSpPr>
          <p:cNvPr id="5" name="bullet-1">
            <a:extLst>
              <a:ext uri="{FF2B5EF4-FFF2-40B4-BE49-F238E27FC236}">
                <a16:creationId xmlns:a16="http://schemas.microsoft.com/office/drawing/2014/main" id="{D712CF46-3186-4392-8647-EA7C6BECFF28}"/>
              </a:ext>
            </a:extLst>
          </p:cNvPr>
          <p:cNvSpPr>
            <a:spLocks noGrp="1"/>
          </p:cNvSpPr>
          <p:nvPr/>
        </p:nvSpPr>
        <p:spPr>
          <a:xfrm>
            <a:off x="666750" y="2076450"/>
            <a:ext cx="95250" cy="95250"/>
          </a:xfrm>
          <a:prstGeom prst="rect">
            <a:avLst/>
          </a:prstGeom>
          <a:solidFill>
            <a:srgbClr val="2583FF"/>
          </a:solidFill>
          <a:ln w="0">
            <a:noFill/>
            <a:prstDash val="solid"/>
          </a:ln>
        </p:spPr>
        <p:txBody>
          <a:bodyPr/>
          <a:lstStyle/>
          <a:p>
            <a:endParaRPr lang="en-US"/>
          </a:p>
        </p:txBody>
      </p:sp>
      <p:sp>
        <p:nvSpPr>
          <p:cNvPr id="6" name="bullet-text-1">
            <a:extLst>
              <a:ext uri="{FF2B5EF4-FFF2-40B4-BE49-F238E27FC236}">
                <a16:creationId xmlns:a16="http://schemas.microsoft.com/office/drawing/2014/main" id="{D65EA480-111F-405C-8954-77D1449CAC15}"/>
              </a:ext>
            </a:extLst>
          </p:cNvPr>
          <p:cNvSpPr>
            <a:spLocks noGrp="1"/>
          </p:cNvSpPr>
          <p:nvPr/>
        </p:nvSpPr>
        <p:spPr>
          <a:xfrm>
            <a:off x="933450" y="19812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System architecture and database design</a:t>
            </a:r>
          </a:p>
        </p:txBody>
      </p:sp>
      <p:sp>
        <p:nvSpPr>
          <p:cNvPr id="7" name="bullet-2">
            <a:extLst>
              <a:ext uri="{FF2B5EF4-FFF2-40B4-BE49-F238E27FC236}">
                <a16:creationId xmlns:a16="http://schemas.microsoft.com/office/drawing/2014/main" id="{57846A49-707B-43C1-9095-A0D778F8878C}"/>
              </a:ext>
            </a:extLst>
          </p:cNvPr>
          <p:cNvSpPr>
            <a:spLocks noGrp="1"/>
          </p:cNvSpPr>
          <p:nvPr/>
        </p:nvSpPr>
        <p:spPr>
          <a:xfrm>
            <a:off x="666750" y="2819400"/>
            <a:ext cx="95250" cy="95250"/>
          </a:xfrm>
          <a:prstGeom prst="rect">
            <a:avLst/>
          </a:prstGeom>
          <a:solidFill>
            <a:srgbClr val="2583FF"/>
          </a:solidFill>
          <a:ln w="0">
            <a:noFill/>
            <a:prstDash val="solid"/>
          </a:ln>
        </p:spPr>
        <p:txBody>
          <a:bodyPr/>
          <a:lstStyle/>
          <a:p>
            <a:endParaRPr lang="en-US"/>
          </a:p>
        </p:txBody>
      </p:sp>
      <p:sp>
        <p:nvSpPr>
          <p:cNvPr id="8" name="bullet-text-2">
            <a:extLst>
              <a:ext uri="{FF2B5EF4-FFF2-40B4-BE49-F238E27FC236}">
                <a16:creationId xmlns:a16="http://schemas.microsoft.com/office/drawing/2014/main" id="{69FC8766-2BD3-4CD1-ACEB-DFB23ACF4E18}"/>
              </a:ext>
            </a:extLst>
          </p:cNvPr>
          <p:cNvSpPr>
            <a:spLocks noGrp="1"/>
          </p:cNvSpPr>
          <p:nvPr/>
        </p:nvSpPr>
        <p:spPr>
          <a:xfrm>
            <a:off x="933450" y="272415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APIs and backend integration</a:t>
            </a:r>
          </a:p>
        </p:txBody>
      </p:sp>
      <p:sp>
        <p:nvSpPr>
          <p:cNvPr id="9" name="bullet-3">
            <a:extLst>
              <a:ext uri="{FF2B5EF4-FFF2-40B4-BE49-F238E27FC236}">
                <a16:creationId xmlns:a16="http://schemas.microsoft.com/office/drawing/2014/main" id="{5C51CEB3-C705-4E77-BF26-FC292E31A460}"/>
              </a:ext>
            </a:extLst>
          </p:cNvPr>
          <p:cNvSpPr>
            <a:spLocks noGrp="1"/>
          </p:cNvSpPr>
          <p:nvPr/>
        </p:nvSpPr>
        <p:spPr>
          <a:xfrm>
            <a:off x="666750" y="3562350"/>
            <a:ext cx="95250" cy="95250"/>
          </a:xfrm>
          <a:prstGeom prst="rect">
            <a:avLst/>
          </a:prstGeom>
          <a:solidFill>
            <a:srgbClr val="2583FF"/>
          </a:solidFill>
          <a:ln w="0">
            <a:noFill/>
            <a:prstDash val="solid"/>
          </a:ln>
        </p:spPr>
        <p:txBody>
          <a:bodyPr/>
          <a:lstStyle/>
          <a:p>
            <a:endParaRPr lang="en-US"/>
          </a:p>
        </p:txBody>
      </p:sp>
      <p:sp>
        <p:nvSpPr>
          <p:cNvPr id="10" name="bullet-text-3">
            <a:extLst>
              <a:ext uri="{FF2B5EF4-FFF2-40B4-BE49-F238E27FC236}">
                <a16:creationId xmlns:a16="http://schemas.microsoft.com/office/drawing/2014/main" id="{EAFA3041-5E55-4248-B001-910EB96C767B}"/>
              </a:ext>
            </a:extLst>
          </p:cNvPr>
          <p:cNvSpPr>
            <a:spLocks noGrp="1"/>
          </p:cNvSpPr>
          <p:nvPr/>
        </p:nvSpPr>
        <p:spPr>
          <a:xfrm>
            <a:off x="933450" y="34671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Security controls and authentication</a:t>
            </a:r>
          </a:p>
        </p:txBody>
      </p:sp>
      <p:sp>
        <p:nvSpPr>
          <p:cNvPr id="11" name="column-rule">
            <a:extLst>
              <a:ext uri="{FF2B5EF4-FFF2-40B4-BE49-F238E27FC236}">
                <a16:creationId xmlns:a16="http://schemas.microsoft.com/office/drawing/2014/main" id="{825470C2-4BE9-4239-B967-FD5ED2B964A8}"/>
              </a:ext>
            </a:extLst>
          </p:cNvPr>
          <p:cNvSpPr>
            <a:spLocks noGrp="1"/>
          </p:cNvSpPr>
          <p:nvPr/>
        </p:nvSpPr>
        <p:spPr>
          <a:xfrm>
            <a:off x="6076950" y="1866900"/>
            <a:ext cx="19050" cy="3429000"/>
          </a:xfrm>
          <a:prstGeom prst="rect">
            <a:avLst/>
          </a:prstGeom>
          <a:solidFill>
            <a:srgbClr val="C9CED6"/>
          </a:solidFill>
          <a:ln w="0">
            <a:noFill/>
            <a:prstDash val="solid"/>
          </a:ln>
        </p:spPr>
        <p:txBody>
          <a:bodyPr/>
          <a:lstStyle/>
          <a:p>
            <a:endParaRPr lang="en-US"/>
          </a:p>
        </p:txBody>
      </p:sp>
      <p:sp>
        <p:nvSpPr>
          <p:cNvPr id="12" name="bullet-1">
            <a:extLst>
              <a:ext uri="{FF2B5EF4-FFF2-40B4-BE49-F238E27FC236}">
                <a16:creationId xmlns:a16="http://schemas.microsoft.com/office/drawing/2014/main" id="{63C9AC1E-D457-4B86-A06D-2BE8BD3026FC}"/>
              </a:ext>
            </a:extLst>
          </p:cNvPr>
          <p:cNvSpPr>
            <a:spLocks noGrp="1"/>
          </p:cNvSpPr>
          <p:nvPr/>
        </p:nvSpPr>
        <p:spPr>
          <a:xfrm>
            <a:off x="6591300" y="2076450"/>
            <a:ext cx="95250" cy="95250"/>
          </a:xfrm>
          <a:prstGeom prst="rect">
            <a:avLst/>
          </a:prstGeom>
          <a:solidFill>
            <a:srgbClr val="2583FF"/>
          </a:solidFill>
          <a:ln w="0">
            <a:noFill/>
            <a:prstDash val="solid"/>
          </a:ln>
        </p:spPr>
        <p:txBody>
          <a:bodyPr/>
          <a:lstStyle/>
          <a:p>
            <a:endParaRPr lang="en-US"/>
          </a:p>
        </p:txBody>
      </p:sp>
      <p:sp>
        <p:nvSpPr>
          <p:cNvPr id="13" name="bullet-text-1">
            <a:extLst>
              <a:ext uri="{FF2B5EF4-FFF2-40B4-BE49-F238E27FC236}">
                <a16:creationId xmlns:a16="http://schemas.microsoft.com/office/drawing/2014/main" id="{1B120AC9-0764-4EE9-8596-DDDF820A493C}"/>
              </a:ext>
            </a:extLst>
          </p:cNvPr>
          <p:cNvSpPr>
            <a:spLocks noGrp="1"/>
          </p:cNvSpPr>
          <p:nvPr/>
        </p:nvSpPr>
        <p:spPr>
          <a:xfrm>
            <a:off x="6858000" y="198120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Performance and scalability requirements</a:t>
            </a:r>
          </a:p>
        </p:txBody>
      </p:sp>
      <p:sp>
        <p:nvSpPr>
          <p:cNvPr id="14" name="bullet-2">
            <a:extLst>
              <a:ext uri="{FF2B5EF4-FFF2-40B4-BE49-F238E27FC236}">
                <a16:creationId xmlns:a16="http://schemas.microsoft.com/office/drawing/2014/main" id="{7AB91AFB-8B82-4EEE-95CD-EF7E6339BCC5}"/>
              </a:ext>
            </a:extLst>
          </p:cNvPr>
          <p:cNvSpPr>
            <a:spLocks noGrp="1"/>
          </p:cNvSpPr>
          <p:nvPr/>
        </p:nvSpPr>
        <p:spPr>
          <a:xfrm>
            <a:off x="6591300" y="2819400"/>
            <a:ext cx="95250" cy="95250"/>
          </a:xfrm>
          <a:prstGeom prst="rect">
            <a:avLst/>
          </a:prstGeom>
          <a:solidFill>
            <a:srgbClr val="2583FF"/>
          </a:solidFill>
          <a:ln w="0">
            <a:noFill/>
            <a:prstDash val="solid"/>
          </a:ln>
        </p:spPr>
        <p:txBody>
          <a:bodyPr/>
          <a:lstStyle/>
          <a:p>
            <a:endParaRPr lang="en-US"/>
          </a:p>
        </p:txBody>
      </p:sp>
      <p:sp>
        <p:nvSpPr>
          <p:cNvPr id="15" name="bullet-text-2">
            <a:extLst>
              <a:ext uri="{FF2B5EF4-FFF2-40B4-BE49-F238E27FC236}">
                <a16:creationId xmlns:a16="http://schemas.microsoft.com/office/drawing/2014/main" id="{D3D3A640-9819-4697-A3A2-6C5DEED287B5}"/>
              </a:ext>
            </a:extLst>
          </p:cNvPr>
          <p:cNvSpPr>
            <a:spLocks noGrp="1"/>
          </p:cNvSpPr>
          <p:nvPr/>
        </p:nvSpPr>
        <p:spPr>
          <a:xfrm>
            <a:off x="6858000" y="272415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Hosting and deployment considerations</a:t>
            </a:r>
          </a:p>
        </p:txBody>
      </p:sp>
      <p:sp>
        <p:nvSpPr>
          <p:cNvPr id="16" name="technical-rule">
            <a:extLst>
              <a:ext uri="{FF2B5EF4-FFF2-40B4-BE49-F238E27FC236}">
                <a16:creationId xmlns:a16="http://schemas.microsoft.com/office/drawing/2014/main" id="{654513AE-CB71-4BB7-ACE7-6C5FBBDD58D9}"/>
              </a:ext>
            </a:extLst>
          </p:cNvPr>
          <p:cNvSpPr>
            <a:spLocks noGrp="1"/>
          </p:cNvSpPr>
          <p:nvPr/>
        </p:nvSpPr>
        <p:spPr>
          <a:xfrm>
            <a:off x="666750" y="5562600"/>
            <a:ext cx="10668000" cy="19050"/>
          </a:xfrm>
          <a:prstGeom prst="rect">
            <a:avLst/>
          </a:prstGeom>
          <a:solidFill>
            <a:srgbClr val="C9CED6"/>
          </a:solidFill>
          <a:ln w="0">
            <a:noFill/>
            <a:prstDash val="solid"/>
          </a:ln>
        </p:spPr>
        <p:txBody>
          <a:bodyPr/>
          <a:lstStyle/>
          <a:p>
            <a:endParaRPr lang="en-US"/>
          </a:p>
        </p:txBody>
      </p:sp>
      <p:sp>
        <p:nvSpPr>
          <p:cNvPr id="17" name="text">
            <a:extLst>
              <a:ext uri="{FF2B5EF4-FFF2-40B4-BE49-F238E27FC236}">
                <a16:creationId xmlns:a16="http://schemas.microsoft.com/office/drawing/2014/main" id="{3242952A-7A21-451B-BA82-C9C6C1B703AA}"/>
              </a:ext>
            </a:extLst>
          </p:cNvPr>
          <p:cNvSpPr>
            <a:spLocks noGrp="1"/>
          </p:cNvSpPr>
          <p:nvPr/>
        </p:nvSpPr>
        <p:spPr>
          <a:xfrm>
            <a:off x="666750" y="5762625"/>
            <a:ext cx="10287000" cy="361950"/>
          </a:xfrm>
          <a:prstGeom prst="rect">
            <a:avLst/>
          </a:prstGeom>
          <a:noFill/>
          <a:ln w="0">
            <a:noFill/>
            <a:prstDash val="solid"/>
          </a:ln>
        </p:spPr>
        <p:txBody>
          <a:bodyPr anchor="t"/>
          <a:lstStyle/>
          <a:p>
            <a:pPr algn="l">
              <a:defRPr sz="1650" b="1">
                <a:solidFill>
                  <a:srgbClr val="626A75"/>
                </a:solidFill>
                <a:latin typeface="Arial"/>
                <a:ea typeface="Arial"/>
                <a:cs typeface="Arial"/>
              </a:defRPr>
            </a:pPr>
            <a:r>
              <a:rPr sz="1650" b="1">
                <a:solidFill>
                  <a:srgbClr val="626A75"/>
                </a:solidFill>
                <a:latin typeface="Arial"/>
                <a:ea typeface="Arial"/>
                <a:cs typeface="Arial"/>
              </a:rPr>
              <a:t>Technical specifications give developers the blueprint for a reliable, scalable, and secure implementation.</a:t>
            </a:r>
          </a:p>
        </p:txBody>
      </p:sp>
    </p:spTree>
    <p:extLst>
      <p:ext uri="{BB962C8B-B14F-4D97-AF65-F5344CB8AC3E}">
        <p14:creationId xmlns:p14="http://schemas.microsoft.com/office/powerpoint/2010/main" val="20769259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5F55EFBB-273B-4DFA-95AA-B8C020494A72}"/>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System Analysis</a:t>
            </a:r>
          </a:p>
        </p:txBody>
      </p:sp>
      <p:sp>
        <p:nvSpPr>
          <p:cNvPr id="3" name="title-rule">
            <a:extLst>
              <a:ext uri="{FF2B5EF4-FFF2-40B4-BE49-F238E27FC236}">
                <a16:creationId xmlns:a16="http://schemas.microsoft.com/office/drawing/2014/main" id="{290FF304-DA61-4D14-BC85-9A9B0342396D}"/>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50E6F503-B187-43EC-B557-BCD41739194B}"/>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10</a:t>
            </a:r>
          </a:p>
        </p:txBody>
      </p:sp>
      <p:sp>
        <p:nvSpPr>
          <p:cNvPr id="5" name="metric-1">
            <a:extLst>
              <a:ext uri="{FF2B5EF4-FFF2-40B4-BE49-F238E27FC236}">
                <a16:creationId xmlns:a16="http://schemas.microsoft.com/office/drawing/2014/main" id="{F23D2790-675D-48C7-A929-D198EEEA0580}"/>
              </a:ext>
            </a:extLst>
          </p:cNvPr>
          <p:cNvSpPr>
            <a:spLocks noGrp="1"/>
          </p:cNvSpPr>
          <p:nvPr/>
        </p:nvSpPr>
        <p:spPr>
          <a:xfrm>
            <a:off x="6096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01</a:t>
            </a:r>
          </a:p>
        </p:txBody>
      </p:sp>
      <p:sp>
        <p:nvSpPr>
          <p:cNvPr id="6" name="metric-label-1">
            <a:extLst>
              <a:ext uri="{FF2B5EF4-FFF2-40B4-BE49-F238E27FC236}">
                <a16:creationId xmlns:a16="http://schemas.microsoft.com/office/drawing/2014/main" id="{FC6094CC-63EE-4C02-B9F1-E8CEB6EDF6A4}"/>
              </a:ext>
            </a:extLst>
          </p:cNvPr>
          <p:cNvSpPr>
            <a:spLocks noGrp="1"/>
          </p:cNvSpPr>
          <p:nvPr/>
        </p:nvSpPr>
        <p:spPr>
          <a:xfrm>
            <a:off x="6096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Business needs</a:t>
            </a:r>
          </a:p>
        </p:txBody>
      </p:sp>
      <p:sp>
        <p:nvSpPr>
          <p:cNvPr id="7" name="metric-2">
            <a:extLst>
              <a:ext uri="{FF2B5EF4-FFF2-40B4-BE49-F238E27FC236}">
                <a16:creationId xmlns:a16="http://schemas.microsoft.com/office/drawing/2014/main" id="{822A832A-D9B0-4F62-9200-222D1FE8661C}"/>
              </a:ext>
            </a:extLst>
          </p:cNvPr>
          <p:cNvSpPr>
            <a:spLocks noGrp="1"/>
          </p:cNvSpPr>
          <p:nvPr/>
        </p:nvSpPr>
        <p:spPr>
          <a:xfrm>
            <a:off x="27432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02</a:t>
            </a:r>
          </a:p>
        </p:txBody>
      </p:sp>
      <p:sp>
        <p:nvSpPr>
          <p:cNvPr id="8" name="metric-label-2">
            <a:extLst>
              <a:ext uri="{FF2B5EF4-FFF2-40B4-BE49-F238E27FC236}">
                <a16:creationId xmlns:a16="http://schemas.microsoft.com/office/drawing/2014/main" id="{481FAB4C-C03A-45B4-97BE-EA26BEE80E5D}"/>
              </a:ext>
            </a:extLst>
          </p:cNvPr>
          <p:cNvSpPr>
            <a:spLocks noGrp="1"/>
          </p:cNvSpPr>
          <p:nvPr/>
        </p:nvSpPr>
        <p:spPr>
          <a:xfrm>
            <a:off x="27432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Inputs, outputs &amp; workflows</a:t>
            </a:r>
          </a:p>
        </p:txBody>
      </p:sp>
      <p:sp>
        <p:nvSpPr>
          <p:cNvPr id="9" name="metric-3">
            <a:extLst>
              <a:ext uri="{FF2B5EF4-FFF2-40B4-BE49-F238E27FC236}">
                <a16:creationId xmlns:a16="http://schemas.microsoft.com/office/drawing/2014/main" id="{13AB3337-681C-486D-BCB5-3561054341A6}"/>
              </a:ext>
            </a:extLst>
          </p:cNvPr>
          <p:cNvSpPr>
            <a:spLocks noGrp="1"/>
          </p:cNvSpPr>
          <p:nvPr/>
        </p:nvSpPr>
        <p:spPr>
          <a:xfrm>
            <a:off x="48768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03</a:t>
            </a:r>
          </a:p>
        </p:txBody>
      </p:sp>
      <p:sp>
        <p:nvSpPr>
          <p:cNvPr id="10" name="metric-label-3">
            <a:extLst>
              <a:ext uri="{FF2B5EF4-FFF2-40B4-BE49-F238E27FC236}">
                <a16:creationId xmlns:a16="http://schemas.microsoft.com/office/drawing/2014/main" id="{4CB79C36-46C0-4345-8469-41B712CB8431}"/>
              </a:ext>
            </a:extLst>
          </p:cNvPr>
          <p:cNvSpPr>
            <a:spLocks noGrp="1"/>
          </p:cNvSpPr>
          <p:nvPr/>
        </p:nvSpPr>
        <p:spPr>
          <a:xfrm>
            <a:off x="48768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User interactions</a:t>
            </a:r>
          </a:p>
        </p:txBody>
      </p:sp>
      <p:sp>
        <p:nvSpPr>
          <p:cNvPr id="11" name="metric-4">
            <a:extLst>
              <a:ext uri="{FF2B5EF4-FFF2-40B4-BE49-F238E27FC236}">
                <a16:creationId xmlns:a16="http://schemas.microsoft.com/office/drawing/2014/main" id="{C91A2E5A-D088-411C-A566-095B8395095A}"/>
              </a:ext>
            </a:extLst>
          </p:cNvPr>
          <p:cNvSpPr>
            <a:spLocks noGrp="1"/>
          </p:cNvSpPr>
          <p:nvPr/>
        </p:nvSpPr>
        <p:spPr>
          <a:xfrm>
            <a:off x="70104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04</a:t>
            </a:r>
          </a:p>
        </p:txBody>
      </p:sp>
      <p:sp>
        <p:nvSpPr>
          <p:cNvPr id="12" name="metric-label-4">
            <a:extLst>
              <a:ext uri="{FF2B5EF4-FFF2-40B4-BE49-F238E27FC236}">
                <a16:creationId xmlns:a16="http://schemas.microsoft.com/office/drawing/2014/main" id="{BAD099E4-F594-4691-8473-2E23797476B1}"/>
              </a:ext>
            </a:extLst>
          </p:cNvPr>
          <p:cNvSpPr>
            <a:spLocks noGrp="1"/>
          </p:cNvSpPr>
          <p:nvPr/>
        </p:nvSpPr>
        <p:spPr>
          <a:xfrm>
            <a:off x="70104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Constraints &amp; risks</a:t>
            </a:r>
          </a:p>
        </p:txBody>
      </p:sp>
      <p:sp>
        <p:nvSpPr>
          <p:cNvPr id="13" name="metric-5">
            <a:extLst>
              <a:ext uri="{FF2B5EF4-FFF2-40B4-BE49-F238E27FC236}">
                <a16:creationId xmlns:a16="http://schemas.microsoft.com/office/drawing/2014/main" id="{5A5EDD17-356B-420F-88FD-3575737232A2}"/>
              </a:ext>
            </a:extLst>
          </p:cNvPr>
          <p:cNvSpPr>
            <a:spLocks noGrp="1"/>
          </p:cNvSpPr>
          <p:nvPr/>
        </p:nvSpPr>
        <p:spPr>
          <a:xfrm>
            <a:off x="9144000" y="1962150"/>
            <a:ext cx="666750" cy="533400"/>
          </a:xfrm>
          <a:prstGeom prst="rect">
            <a:avLst/>
          </a:prstGeom>
          <a:noFill/>
          <a:ln w="0">
            <a:noFill/>
            <a:prstDash val="solid"/>
          </a:ln>
        </p:spPr>
        <p:txBody>
          <a:bodyPr anchor="t"/>
          <a:lstStyle/>
          <a:p>
            <a:pPr algn="l">
              <a:defRPr sz="2550" b="1">
                <a:solidFill>
                  <a:srgbClr val="2583FF"/>
                </a:solidFill>
                <a:latin typeface="Arial"/>
                <a:ea typeface="Arial"/>
                <a:cs typeface="Arial"/>
              </a:defRPr>
            </a:pPr>
            <a:r>
              <a:rPr sz="2550" b="1">
                <a:solidFill>
                  <a:srgbClr val="2583FF"/>
                </a:solidFill>
                <a:latin typeface="Arial"/>
                <a:ea typeface="Arial"/>
                <a:cs typeface="Arial"/>
              </a:rPr>
              <a:t>05</a:t>
            </a:r>
          </a:p>
        </p:txBody>
      </p:sp>
      <p:sp>
        <p:nvSpPr>
          <p:cNvPr id="14" name="metric-label-5">
            <a:extLst>
              <a:ext uri="{FF2B5EF4-FFF2-40B4-BE49-F238E27FC236}">
                <a16:creationId xmlns:a16="http://schemas.microsoft.com/office/drawing/2014/main" id="{55A7943A-AD8C-4C8E-88A0-4011394995FA}"/>
              </a:ext>
            </a:extLst>
          </p:cNvPr>
          <p:cNvSpPr>
            <a:spLocks noGrp="1"/>
          </p:cNvSpPr>
          <p:nvPr/>
        </p:nvSpPr>
        <p:spPr>
          <a:xfrm>
            <a:off x="9144000" y="2590800"/>
            <a:ext cx="1885950" cy="904875"/>
          </a:xfrm>
          <a:prstGeom prst="rect">
            <a:avLst/>
          </a:prstGeom>
          <a:noFill/>
          <a:ln w="0">
            <a:noFill/>
            <a:prstDash val="solid"/>
          </a:ln>
        </p:spPr>
        <p:txBody>
          <a:bodyPr anchor="t"/>
          <a:lstStyle/>
          <a:p>
            <a:pPr algn="l">
              <a:defRPr sz="1725" b="1">
                <a:solidFill>
                  <a:srgbClr val="111318"/>
                </a:solidFill>
                <a:latin typeface="Arial"/>
                <a:ea typeface="Arial"/>
                <a:cs typeface="Arial"/>
              </a:defRPr>
            </a:pPr>
            <a:r>
              <a:rPr sz="1725" b="1">
                <a:solidFill>
                  <a:srgbClr val="111318"/>
                </a:solidFill>
                <a:latin typeface="Arial"/>
                <a:ea typeface="Arial"/>
                <a:cs typeface="Arial"/>
              </a:rPr>
              <a:t>Requirements vs. objectives</a:t>
            </a:r>
          </a:p>
        </p:txBody>
      </p:sp>
      <p:sp>
        <p:nvSpPr>
          <p:cNvPr id="15" name="text">
            <a:extLst>
              <a:ext uri="{FF2B5EF4-FFF2-40B4-BE49-F238E27FC236}">
                <a16:creationId xmlns:a16="http://schemas.microsoft.com/office/drawing/2014/main" id="{26CC10CF-E551-4CF7-800A-6D351867C461}"/>
              </a:ext>
            </a:extLst>
          </p:cNvPr>
          <p:cNvSpPr>
            <a:spLocks noGrp="1"/>
          </p:cNvSpPr>
          <p:nvPr/>
        </p:nvSpPr>
        <p:spPr>
          <a:xfrm>
            <a:off x="609600" y="4533900"/>
            <a:ext cx="10287000" cy="838200"/>
          </a:xfrm>
          <a:prstGeom prst="rect">
            <a:avLst/>
          </a:prstGeom>
          <a:noFill/>
          <a:ln w="0">
            <a:noFill/>
            <a:prstDash val="solid"/>
          </a:ln>
        </p:spPr>
        <p:txBody>
          <a:bodyPr anchor="t"/>
          <a:lstStyle/>
          <a:p>
            <a:pPr algn="l">
              <a:defRPr sz="2250" b="1">
                <a:solidFill>
                  <a:srgbClr val="111318"/>
                </a:solidFill>
                <a:latin typeface="Arial"/>
                <a:ea typeface="Arial"/>
                <a:cs typeface="Arial"/>
              </a:defRPr>
            </a:pPr>
            <a:r>
              <a:rPr sz="2250" b="1">
                <a:solidFill>
                  <a:srgbClr val="111318"/>
                </a:solidFill>
                <a:latin typeface="Arial"/>
                <a:ea typeface="Arial"/>
                <a:cs typeface="Arial"/>
              </a:rPr>
              <a:t>Analysis asks whether the proposed system solves the right problem before design commits to a solution.</a:t>
            </a:r>
          </a:p>
        </p:txBody>
      </p:sp>
    </p:spTree>
    <p:extLst>
      <p:ext uri="{BB962C8B-B14F-4D97-AF65-F5344CB8AC3E}">
        <p14:creationId xmlns:p14="http://schemas.microsoft.com/office/powerpoint/2010/main" val="141937185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CA22DCCB-6D8A-4AA1-A6FE-62F891727F28}"/>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System Design</a:t>
            </a:r>
          </a:p>
        </p:txBody>
      </p:sp>
      <p:sp>
        <p:nvSpPr>
          <p:cNvPr id="3" name="title-rule">
            <a:extLst>
              <a:ext uri="{FF2B5EF4-FFF2-40B4-BE49-F238E27FC236}">
                <a16:creationId xmlns:a16="http://schemas.microsoft.com/office/drawing/2014/main" id="{9F401924-31D7-4A1D-A0AB-EAE7C148E028}"/>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9A159C0C-78AF-445A-A250-F9573D2D0901}"/>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11</a:t>
            </a:r>
          </a:p>
        </p:txBody>
      </p:sp>
      <p:sp>
        <p:nvSpPr>
          <p:cNvPr id="5" name="bullet-1">
            <a:extLst>
              <a:ext uri="{FF2B5EF4-FFF2-40B4-BE49-F238E27FC236}">
                <a16:creationId xmlns:a16="http://schemas.microsoft.com/office/drawing/2014/main" id="{3BE89A83-8A0E-4D8E-96E4-38DC1BAC9E5C}"/>
              </a:ext>
            </a:extLst>
          </p:cNvPr>
          <p:cNvSpPr>
            <a:spLocks noGrp="1"/>
          </p:cNvSpPr>
          <p:nvPr/>
        </p:nvSpPr>
        <p:spPr>
          <a:xfrm>
            <a:off x="666750" y="2076450"/>
            <a:ext cx="95250" cy="95250"/>
          </a:xfrm>
          <a:prstGeom prst="rect">
            <a:avLst/>
          </a:prstGeom>
          <a:solidFill>
            <a:srgbClr val="2583FF"/>
          </a:solidFill>
          <a:ln w="0">
            <a:noFill/>
            <a:prstDash val="solid"/>
          </a:ln>
        </p:spPr>
        <p:txBody>
          <a:bodyPr/>
          <a:lstStyle/>
          <a:p>
            <a:endParaRPr lang="en-US"/>
          </a:p>
        </p:txBody>
      </p:sp>
      <p:sp>
        <p:nvSpPr>
          <p:cNvPr id="6" name="bullet-text-1">
            <a:extLst>
              <a:ext uri="{FF2B5EF4-FFF2-40B4-BE49-F238E27FC236}">
                <a16:creationId xmlns:a16="http://schemas.microsoft.com/office/drawing/2014/main" id="{2A692968-C62B-499B-A60C-A1180654FA89}"/>
              </a:ext>
            </a:extLst>
          </p:cNvPr>
          <p:cNvSpPr>
            <a:spLocks noGrp="1"/>
          </p:cNvSpPr>
          <p:nvPr/>
        </p:nvSpPr>
        <p:spPr>
          <a:xfrm>
            <a:off x="933450" y="19812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Design system components and workflows</a:t>
            </a:r>
          </a:p>
        </p:txBody>
      </p:sp>
      <p:sp>
        <p:nvSpPr>
          <p:cNvPr id="7" name="bullet-2">
            <a:extLst>
              <a:ext uri="{FF2B5EF4-FFF2-40B4-BE49-F238E27FC236}">
                <a16:creationId xmlns:a16="http://schemas.microsoft.com/office/drawing/2014/main" id="{E043CCA4-F0C2-426D-88DE-622DF719725F}"/>
              </a:ext>
            </a:extLst>
          </p:cNvPr>
          <p:cNvSpPr>
            <a:spLocks noGrp="1"/>
          </p:cNvSpPr>
          <p:nvPr/>
        </p:nvSpPr>
        <p:spPr>
          <a:xfrm>
            <a:off x="666750" y="2819400"/>
            <a:ext cx="95250" cy="95250"/>
          </a:xfrm>
          <a:prstGeom prst="rect">
            <a:avLst/>
          </a:prstGeom>
          <a:solidFill>
            <a:srgbClr val="2583FF"/>
          </a:solidFill>
          <a:ln w="0">
            <a:noFill/>
            <a:prstDash val="solid"/>
          </a:ln>
        </p:spPr>
        <p:txBody>
          <a:bodyPr/>
          <a:lstStyle/>
          <a:p>
            <a:endParaRPr lang="en-US"/>
          </a:p>
        </p:txBody>
      </p:sp>
      <p:sp>
        <p:nvSpPr>
          <p:cNvPr id="8" name="bullet-text-2">
            <a:extLst>
              <a:ext uri="{FF2B5EF4-FFF2-40B4-BE49-F238E27FC236}">
                <a16:creationId xmlns:a16="http://schemas.microsoft.com/office/drawing/2014/main" id="{8AB1D8E5-37E1-4553-AC88-40047612916F}"/>
              </a:ext>
            </a:extLst>
          </p:cNvPr>
          <p:cNvSpPr>
            <a:spLocks noGrp="1"/>
          </p:cNvSpPr>
          <p:nvPr/>
        </p:nvSpPr>
        <p:spPr>
          <a:xfrm>
            <a:off x="933450" y="272415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Plan user interface and navigation</a:t>
            </a:r>
          </a:p>
        </p:txBody>
      </p:sp>
      <p:sp>
        <p:nvSpPr>
          <p:cNvPr id="9" name="bullet-3">
            <a:extLst>
              <a:ext uri="{FF2B5EF4-FFF2-40B4-BE49-F238E27FC236}">
                <a16:creationId xmlns:a16="http://schemas.microsoft.com/office/drawing/2014/main" id="{23D8EED4-B21C-4977-8176-DACA75144575}"/>
              </a:ext>
            </a:extLst>
          </p:cNvPr>
          <p:cNvSpPr>
            <a:spLocks noGrp="1"/>
          </p:cNvSpPr>
          <p:nvPr/>
        </p:nvSpPr>
        <p:spPr>
          <a:xfrm>
            <a:off x="666750" y="3562350"/>
            <a:ext cx="95250" cy="95250"/>
          </a:xfrm>
          <a:prstGeom prst="rect">
            <a:avLst/>
          </a:prstGeom>
          <a:solidFill>
            <a:srgbClr val="2583FF"/>
          </a:solidFill>
          <a:ln w="0">
            <a:noFill/>
            <a:prstDash val="solid"/>
          </a:ln>
        </p:spPr>
        <p:txBody>
          <a:bodyPr/>
          <a:lstStyle/>
          <a:p>
            <a:endParaRPr lang="en-US"/>
          </a:p>
        </p:txBody>
      </p:sp>
      <p:sp>
        <p:nvSpPr>
          <p:cNvPr id="10" name="bullet-text-3">
            <a:extLst>
              <a:ext uri="{FF2B5EF4-FFF2-40B4-BE49-F238E27FC236}">
                <a16:creationId xmlns:a16="http://schemas.microsoft.com/office/drawing/2014/main" id="{553A4838-A4E4-43C9-8B83-DEDD06563E0E}"/>
              </a:ext>
            </a:extLst>
          </p:cNvPr>
          <p:cNvSpPr>
            <a:spLocks noGrp="1"/>
          </p:cNvSpPr>
          <p:nvPr/>
        </p:nvSpPr>
        <p:spPr>
          <a:xfrm>
            <a:off x="933450" y="3467100"/>
            <a:ext cx="459105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Structure database and information flow</a:t>
            </a:r>
          </a:p>
        </p:txBody>
      </p:sp>
      <p:sp>
        <p:nvSpPr>
          <p:cNvPr id="11" name="column-rule">
            <a:extLst>
              <a:ext uri="{FF2B5EF4-FFF2-40B4-BE49-F238E27FC236}">
                <a16:creationId xmlns:a16="http://schemas.microsoft.com/office/drawing/2014/main" id="{EB05CF7E-3837-4355-B012-B1B44E37B7C8}"/>
              </a:ext>
            </a:extLst>
          </p:cNvPr>
          <p:cNvSpPr>
            <a:spLocks noGrp="1"/>
          </p:cNvSpPr>
          <p:nvPr/>
        </p:nvSpPr>
        <p:spPr>
          <a:xfrm>
            <a:off x="6076950" y="1866900"/>
            <a:ext cx="19050" cy="3429000"/>
          </a:xfrm>
          <a:prstGeom prst="rect">
            <a:avLst/>
          </a:prstGeom>
          <a:solidFill>
            <a:srgbClr val="C9CED6"/>
          </a:solidFill>
          <a:ln w="0">
            <a:noFill/>
            <a:prstDash val="solid"/>
          </a:ln>
        </p:spPr>
        <p:txBody>
          <a:bodyPr/>
          <a:lstStyle/>
          <a:p>
            <a:endParaRPr lang="en-US"/>
          </a:p>
        </p:txBody>
      </p:sp>
      <p:sp>
        <p:nvSpPr>
          <p:cNvPr id="12" name="bullet-1">
            <a:extLst>
              <a:ext uri="{FF2B5EF4-FFF2-40B4-BE49-F238E27FC236}">
                <a16:creationId xmlns:a16="http://schemas.microsoft.com/office/drawing/2014/main" id="{653FA3B8-AB2C-4043-9B94-426BCE157878}"/>
              </a:ext>
            </a:extLst>
          </p:cNvPr>
          <p:cNvSpPr>
            <a:spLocks noGrp="1"/>
          </p:cNvSpPr>
          <p:nvPr/>
        </p:nvSpPr>
        <p:spPr>
          <a:xfrm>
            <a:off x="6591300" y="2076450"/>
            <a:ext cx="95250" cy="95250"/>
          </a:xfrm>
          <a:prstGeom prst="rect">
            <a:avLst/>
          </a:prstGeom>
          <a:solidFill>
            <a:srgbClr val="2583FF"/>
          </a:solidFill>
          <a:ln w="0">
            <a:noFill/>
            <a:prstDash val="solid"/>
          </a:ln>
        </p:spPr>
        <p:txBody>
          <a:bodyPr/>
          <a:lstStyle/>
          <a:p>
            <a:endParaRPr lang="en-US"/>
          </a:p>
        </p:txBody>
      </p:sp>
      <p:sp>
        <p:nvSpPr>
          <p:cNvPr id="13" name="bullet-text-1">
            <a:extLst>
              <a:ext uri="{FF2B5EF4-FFF2-40B4-BE49-F238E27FC236}">
                <a16:creationId xmlns:a16="http://schemas.microsoft.com/office/drawing/2014/main" id="{1C200023-7BCC-402B-A5D2-BFDD73E102CE}"/>
              </a:ext>
            </a:extLst>
          </p:cNvPr>
          <p:cNvSpPr>
            <a:spLocks noGrp="1"/>
          </p:cNvSpPr>
          <p:nvPr/>
        </p:nvSpPr>
        <p:spPr>
          <a:xfrm>
            <a:off x="6858000" y="198120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Address performance and usability</a:t>
            </a:r>
          </a:p>
        </p:txBody>
      </p:sp>
      <p:sp>
        <p:nvSpPr>
          <p:cNvPr id="14" name="bullet-2">
            <a:extLst>
              <a:ext uri="{FF2B5EF4-FFF2-40B4-BE49-F238E27FC236}">
                <a16:creationId xmlns:a16="http://schemas.microsoft.com/office/drawing/2014/main" id="{A3ABEE23-D345-4547-9BBA-7EB876D344EA}"/>
              </a:ext>
            </a:extLst>
          </p:cNvPr>
          <p:cNvSpPr>
            <a:spLocks noGrp="1"/>
          </p:cNvSpPr>
          <p:nvPr/>
        </p:nvSpPr>
        <p:spPr>
          <a:xfrm>
            <a:off x="6591300" y="2819400"/>
            <a:ext cx="95250" cy="95250"/>
          </a:xfrm>
          <a:prstGeom prst="rect">
            <a:avLst/>
          </a:prstGeom>
          <a:solidFill>
            <a:srgbClr val="2583FF"/>
          </a:solidFill>
          <a:ln w="0">
            <a:noFill/>
            <a:prstDash val="solid"/>
          </a:ln>
        </p:spPr>
        <p:txBody>
          <a:bodyPr/>
          <a:lstStyle/>
          <a:p>
            <a:endParaRPr lang="en-US"/>
          </a:p>
        </p:txBody>
      </p:sp>
      <p:sp>
        <p:nvSpPr>
          <p:cNvPr id="15" name="bullet-text-2">
            <a:extLst>
              <a:ext uri="{FF2B5EF4-FFF2-40B4-BE49-F238E27FC236}">
                <a16:creationId xmlns:a16="http://schemas.microsoft.com/office/drawing/2014/main" id="{13FC9F70-E4D2-409E-B0A0-15E73AF0BE31}"/>
              </a:ext>
            </a:extLst>
          </p:cNvPr>
          <p:cNvSpPr>
            <a:spLocks noGrp="1"/>
          </p:cNvSpPr>
          <p:nvPr/>
        </p:nvSpPr>
        <p:spPr>
          <a:xfrm>
            <a:off x="6858000" y="2724150"/>
            <a:ext cx="4495800" cy="7048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Prepare for implementation</a:t>
            </a:r>
          </a:p>
        </p:txBody>
      </p:sp>
    </p:spTree>
    <p:extLst>
      <p:ext uri="{BB962C8B-B14F-4D97-AF65-F5344CB8AC3E}">
        <p14:creationId xmlns:p14="http://schemas.microsoft.com/office/powerpoint/2010/main" val="35180299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3E3A16D1-B3A9-4AD9-9D8A-5F6FA63B3E53}"/>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Development Management</a:t>
            </a:r>
          </a:p>
        </p:txBody>
      </p:sp>
      <p:sp>
        <p:nvSpPr>
          <p:cNvPr id="3" name="title-rule">
            <a:extLst>
              <a:ext uri="{FF2B5EF4-FFF2-40B4-BE49-F238E27FC236}">
                <a16:creationId xmlns:a16="http://schemas.microsoft.com/office/drawing/2014/main" id="{A8807567-C930-4B8D-AAC1-3B918E8BC310}"/>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EB987C97-320B-4E7C-A9F1-21A24FAD3B91}"/>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12</a:t>
            </a:r>
          </a:p>
        </p:txBody>
      </p:sp>
      <p:sp>
        <p:nvSpPr>
          <p:cNvPr id="5" name="text">
            <a:extLst>
              <a:ext uri="{FF2B5EF4-FFF2-40B4-BE49-F238E27FC236}">
                <a16:creationId xmlns:a16="http://schemas.microsoft.com/office/drawing/2014/main" id="{38B39924-CB69-44E8-9EBB-446DAA9158C6}"/>
              </a:ext>
            </a:extLst>
          </p:cNvPr>
          <p:cNvSpPr>
            <a:spLocks noGrp="1"/>
          </p:cNvSpPr>
          <p:nvPr/>
        </p:nvSpPr>
        <p:spPr>
          <a:xfrm>
            <a:off x="609600" y="1924050"/>
            <a:ext cx="1714500" cy="28575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BALANCE</a:t>
            </a:r>
          </a:p>
        </p:txBody>
      </p:sp>
      <p:sp>
        <p:nvSpPr>
          <p:cNvPr id="6" name="text">
            <a:extLst>
              <a:ext uri="{FF2B5EF4-FFF2-40B4-BE49-F238E27FC236}">
                <a16:creationId xmlns:a16="http://schemas.microsoft.com/office/drawing/2014/main" id="{75A312B3-6916-45FF-8610-C2045B443B4C}"/>
              </a:ext>
            </a:extLst>
          </p:cNvPr>
          <p:cNvSpPr>
            <a:spLocks noGrp="1"/>
          </p:cNvSpPr>
          <p:nvPr/>
        </p:nvSpPr>
        <p:spPr>
          <a:xfrm>
            <a:off x="609600" y="2343150"/>
            <a:ext cx="2476500" cy="457200"/>
          </a:xfrm>
          <a:prstGeom prst="rect">
            <a:avLst/>
          </a:prstGeom>
          <a:noFill/>
          <a:ln w="0">
            <a:noFill/>
            <a:prstDash val="solid"/>
          </a:ln>
        </p:spPr>
        <p:txBody>
          <a:bodyPr anchor="t"/>
          <a:lstStyle/>
          <a:p>
            <a:pPr algn="l">
              <a:defRPr sz="2400" b="1">
                <a:solidFill>
                  <a:srgbClr val="111318"/>
                </a:solidFill>
                <a:latin typeface="Arial"/>
                <a:ea typeface="Arial"/>
                <a:cs typeface="Arial"/>
              </a:defRPr>
            </a:pPr>
            <a:r>
              <a:rPr sz="2400" b="1">
                <a:solidFill>
                  <a:srgbClr val="111318"/>
                </a:solidFill>
                <a:latin typeface="Arial"/>
                <a:ea typeface="Arial"/>
                <a:cs typeface="Arial"/>
              </a:rPr>
              <a:t>Quality</a:t>
            </a:r>
          </a:p>
        </p:txBody>
      </p:sp>
      <p:sp>
        <p:nvSpPr>
          <p:cNvPr id="7" name="text">
            <a:extLst>
              <a:ext uri="{FF2B5EF4-FFF2-40B4-BE49-F238E27FC236}">
                <a16:creationId xmlns:a16="http://schemas.microsoft.com/office/drawing/2014/main" id="{ADE1051A-AD92-4944-8BB3-0FF48853B422}"/>
              </a:ext>
            </a:extLst>
          </p:cNvPr>
          <p:cNvSpPr>
            <a:spLocks noGrp="1"/>
          </p:cNvSpPr>
          <p:nvPr/>
        </p:nvSpPr>
        <p:spPr>
          <a:xfrm>
            <a:off x="609600" y="3000375"/>
            <a:ext cx="2476500" cy="457200"/>
          </a:xfrm>
          <a:prstGeom prst="rect">
            <a:avLst/>
          </a:prstGeom>
          <a:noFill/>
          <a:ln w="0">
            <a:noFill/>
            <a:prstDash val="solid"/>
          </a:ln>
        </p:spPr>
        <p:txBody>
          <a:bodyPr anchor="t"/>
          <a:lstStyle/>
          <a:p>
            <a:pPr algn="l">
              <a:defRPr sz="2400" b="1">
                <a:solidFill>
                  <a:srgbClr val="111318"/>
                </a:solidFill>
                <a:latin typeface="Arial"/>
                <a:ea typeface="Arial"/>
                <a:cs typeface="Arial"/>
              </a:defRPr>
            </a:pPr>
            <a:r>
              <a:rPr sz="2400" b="1">
                <a:solidFill>
                  <a:srgbClr val="111318"/>
                </a:solidFill>
                <a:latin typeface="Arial"/>
                <a:ea typeface="Arial"/>
                <a:cs typeface="Arial"/>
              </a:rPr>
              <a:t>Cost</a:t>
            </a:r>
          </a:p>
        </p:txBody>
      </p:sp>
      <p:sp>
        <p:nvSpPr>
          <p:cNvPr id="8" name="text">
            <a:extLst>
              <a:ext uri="{FF2B5EF4-FFF2-40B4-BE49-F238E27FC236}">
                <a16:creationId xmlns:a16="http://schemas.microsoft.com/office/drawing/2014/main" id="{3EA94E12-2082-471F-86F1-598FB31C502A}"/>
              </a:ext>
            </a:extLst>
          </p:cNvPr>
          <p:cNvSpPr>
            <a:spLocks noGrp="1"/>
          </p:cNvSpPr>
          <p:nvPr/>
        </p:nvSpPr>
        <p:spPr>
          <a:xfrm>
            <a:off x="609600" y="3657600"/>
            <a:ext cx="2476500" cy="457200"/>
          </a:xfrm>
          <a:prstGeom prst="rect">
            <a:avLst/>
          </a:prstGeom>
          <a:noFill/>
          <a:ln w="0">
            <a:noFill/>
            <a:prstDash val="solid"/>
          </a:ln>
        </p:spPr>
        <p:txBody>
          <a:bodyPr anchor="t"/>
          <a:lstStyle/>
          <a:p>
            <a:pPr algn="l">
              <a:defRPr sz="2400" b="1">
                <a:solidFill>
                  <a:srgbClr val="111318"/>
                </a:solidFill>
                <a:latin typeface="Arial"/>
                <a:ea typeface="Arial"/>
                <a:cs typeface="Arial"/>
              </a:defRPr>
            </a:pPr>
            <a:r>
              <a:rPr sz="2400" b="1">
                <a:solidFill>
                  <a:srgbClr val="111318"/>
                </a:solidFill>
                <a:latin typeface="Arial"/>
                <a:ea typeface="Arial"/>
                <a:cs typeface="Arial"/>
              </a:rPr>
              <a:t>Time</a:t>
            </a:r>
          </a:p>
        </p:txBody>
      </p:sp>
      <p:sp>
        <p:nvSpPr>
          <p:cNvPr id="9" name="manage-rule">
            <a:extLst>
              <a:ext uri="{FF2B5EF4-FFF2-40B4-BE49-F238E27FC236}">
                <a16:creationId xmlns:a16="http://schemas.microsoft.com/office/drawing/2014/main" id="{1165C12A-48F5-4076-9D38-4D0D62150E56}"/>
              </a:ext>
            </a:extLst>
          </p:cNvPr>
          <p:cNvSpPr>
            <a:spLocks noGrp="1"/>
          </p:cNvSpPr>
          <p:nvPr/>
        </p:nvSpPr>
        <p:spPr>
          <a:xfrm>
            <a:off x="3333750" y="1924050"/>
            <a:ext cx="19050" cy="2857500"/>
          </a:xfrm>
          <a:prstGeom prst="rect">
            <a:avLst/>
          </a:prstGeom>
          <a:solidFill>
            <a:srgbClr val="C9CED6"/>
          </a:solidFill>
          <a:ln w="0">
            <a:noFill/>
            <a:prstDash val="solid"/>
          </a:ln>
        </p:spPr>
        <p:txBody>
          <a:bodyPr/>
          <a:lstStyle/>
          <a:p>
            <a:endParaRPr lang="en-US"/>
          </a:p>
        </p:txBody>
      </p:sp>
      <p:sp>
        <p:nvSpPr>
          <p:cNvPr id="10" name="bullet-1">
            <a:extLst>
              <a:ext uri="{FF2B5EF4-FFF2-40B4-BE49-F238E27FC236}">
                <a16:creationId xmlns:a16="http://schemas.microsoft.com/office/drawing/2014/main" id="{9EA6EE2E-DF31-4F9F-9E21-2B48EE686772}"/>
              </a:ext>
            </a:extLst>
          </p:cNvPr>
          <p:cNvSpPr>
            <a:spLocks noGrp="1"/>
          </p:cNvSpPr>
          <p:nvPr/>
        </p:nvSpPr>
        <p:spPr>
          <a:xfrm>
            <a:off x="3905250" y="2190750"/>
            <a:ext cx="95250" cy="95250"/>
          </a:xfrm>
          <a:prstGeom prst="rect">
            <a:avLst/>
          </a:prstGeom>
          <a:solidFill>
            <a:srgbClr val="2583FF"/>
          </a:solidFill>
          <a:ln w="0">
            <a:noFill/>
            <a:prstDash val="solid"/>
          </a:ln>
        </p:spPr>
        <p:txBody>
          <a:bodyPr/>
          <a:lstStyle/>
          <a:p>
            <a:endParaRPr lang="en-US"/>
          </a:p>
        </p:txBody>
      </p:sp>
      <p:sp>
        <p:nvSpPr>
          <p:cNvPr id="11" name="bullet-text-1">
            <a:extLst>
              <a:ext uri="{FF2B5EF4-FFF2-40B4-BE49-F238E27FC236}">
                <a16:creationId xmlns:a16="http://schemas.microsoft.com/office/drawing/2014/main" id="{57B0FA56-D153-4C11-A496-01C1FC042298}"/>
              </a:ext>
            </a:extLst>
          </p:cNvPr>
          <p:cNvSpPr>
            <a:spLocks noGrp="1"/>
          </p:cNvSpPr>
          <p:nvPr/>
        </p:nvSpPr>
        <p:spPr>
          <a:xfrm>
            <a:off x="4171950" y="2095500"/>
            <a:ext cx="6591300" cy="676275"/>
          </a:xfrm>
          <a:prstGeom prst="rect">
            <a:avLst/>
          </a:prstGeom>
          <a:noFill/>
          <a:ln w="0">
            <a:noFill/>
            <a:prstDash val="solid"/>
          </a:ln>
        </p:spPr>
        <p:txBody>
          <a:bodyPr anchor="t"/>
          <a:lstStyle/>
          <a:p>
            <a:pPr algn="l">
              <a:defRPr sz="1875" b="0">
                <a:solidFill>
                  <a:srgbClr val="111318"/>
                </a:solidFill>
                <a:latin typeface="Arial"/>
                <a:ea typeface="Arial"/>
                <a:cs typeface="Arial"/>
              </a:defRPr>
            </a:pPr>
            <a:r>
              <a:rPr sz="1875" b="0">
                <a:solidFill>
                  <a:srgbClr val="111318"/>
                </a:solidFill>
                <a:latin typeface="Arial"/>
                <a:ea typeface="Arial"/>
                <a:cs typeface="Arial"/>
              </a:rPr>
              <a:t>Coordinate tasks across SDLC stages</a:t>
            </a:r>
          </a:p>
        </p:txBody>
      </p:sp>
      <p:sp>
        <p:nvSpPr>
          <p:cNvPr id="12" name="bullet-2">
            <a:extLst>
              <a:ext uri="{FF2B5EF4-FFF2-40B4-BE49-F238E27FC236}">
                <a16:creationId xmlns:a16="http://schemas.microsoft.com/office/drawing/2014/main" id="{9347DC81-8D89-4E95-A9FC-076D0ED62DCF}"/>
              </a:ext>
            </a:extLst>
          </p:cNvPr>
          <p:cNvSpPr>
            <a:spLocks noGrp="1"/>
          </p:cNvSpPr>
          <p:nvPr/>
        </p:nvSpPr>
        <p:spPr>
          <a:xfrm>
            <a:off x="3905250" y="2905125"/>
            <a:ext cx="95250" cy="95250"/>
          </a:xfrm>
          <a:prstGeom prst="rect">
            <a:avLst/>
          </a:prstGeom>
          <a:solidFill>
            <a:srgbClr val="2583FF"/>
          </a:solidFill>
          <a:ln w="0">
            <a:noFill/>
            <a:prstDash val="solid"/>
          </a:ln>
        </p:spPr>
        <p:txBody>
          <a:bodyPr/>
          <a:lstStyle/>
          <a:p>
            <a:endParaRPr lang="en-US"/>
          </a:p>
        </p:txBody>
      </p:sp>
      <p:sp>
        <p:nvSpPr>
          <p:cNvPr id="13" name="bullet-text-2">
            <a:extLst>
              <a:ext uri="{FF2B5EF4-FFF2-40B4-BE49-F238E27FC236}">
                <a16:creationId xmlns:a16="http://schemas.microsoft.com/office/drawing/2014/main" id="{F590C620-E37D-4B1D-92B2-D2E7A53E922B}"/>
              </a:ext>
            </a:extLst>
          </p:cNvPr>
          <p:cNvSpPr>
            <a:spLocks noGrp="1"/>
          </p:cNvSpPr>
          <p:nvPr/>
        </p:nvSpPr>
        <p:spPr>
          <a:xfrm>
            <a:off x="4171950" y="2809875"/>
            <a:ext cx="6591300" cy="676275"/>
          </a:xfrm>
          <a:prstGeom prst="rect">
            <a:avLst/>
          </a:prstGeom>
          <a:noFill/>
          <a:ln w="0">
            <a:noFill/>
            <a:prstDash val="solid"/>
          </a:ln>
        </p:spPr>
        <p:txBody>
          <a:bodyPr anchor="t"/>
          <a:lstStyle/>
          <a:p>
            <a:pPr algn="l">
              <a:defRPr sz="1875" b="0">
                <a:solidFill>
                  <a:srgbClr val="111318"/>
                </a:solidFill>
                <a:latin typeface="Arial"/>
                <a:ea typeface="Arial"/>
                <a:cs typeface="Arial"/>
              </a:defRPr>
            </a:pPr>
            <a:r>
              <a:rPr sz="1875" b="0">
                <a:solidFill>
                  <a:srgbClr val="111318"/>
                </a:solidFill>
                <a:latin typeface="Arial"/>
                <a:ea typeface="Arial"/>
                <a:cs typeface="Arial"/>
              </a:rPr>
              <a:t>Use milestones to measure progress</a:t>
            </a:r>
          </a:p>
        </p:txBody>
      </p:sp>
      <p:sp>
        <p:nvSpPr>
          <p:cNvPr id="14" name="bullet-3">
            <a:extLst>
              <a:ext uri="{FF2B5EF4-FFF2-40B4-BE49-F238E27FC236}">
                <a16:creationId xmlns:a16="http://schemas.microsoft.com/office/drawing/2014/main" id="{5F201D68-C42F-48F9-A15F-53273A2AD07D}"/>
              </a:ext>
            </a:extLst>
          </p:cNvPr>
          <p:cNvSpPr>
            <a:spLocks noGrp="1"/>
          </p:cNvSpPr>
          <p:nvPr/>
        </p:nvSpPr>
        <p:spPr>
          <a:xfrm>
            <a:off x="3905250" y="3619500"/>
            <a:ext cx="95250" cy="95250"/>
          </a:xfrm>
          <a:prstGeom prst="rect">
            <a:avLst/>
          </a:prstGeom>
          <a:solidFill>
            <a:srgbClr val="2583FF"/>
          </a:solidFill>
          <a:ln w="0">
            <a:noFill/>
            <a:prstDash val="solid"/>
          </a:ln>
        </p:spPr>
        <p:txBody>
          <a:bodyPr/>
          <a:lstStyle/>
          <a:p>
            <a:endParaRPr lang="en-US"/>
          </a:p>
        </p:txBody>
      </p:sp>
      <p:sp>
        <p:nvSpPr>
          <p:cNvPr id="15" name="bullet-text-3">
            <a:extLst>
              <a:ext uri="{FF2B5EF4-FFF2-40B4-BE49-F238E27FC236}">
                <a16:creationId xmlns:a16="http://schemas.microsoft.com/office/drawing/2014/main" id="{396D3DA9-CA27-46E2-B08D-38B3728A6072}"/>
              </a:ext>
            </a:extLst>
          </p:cNvPr>
          <p:cNvSpPr>
            <a:spLocks noGrp="1"/>
          </p:cNvSpPr>
          <p:nvPr/>
        </p:nvSpPr>
        <p:spPr>
          <a:xfrm>
            <a:off x="4171950" y="3524250"/>
            <a:ext cx="6591300" cy="676275"/>
          </a:xfrm>
          <a:prstGeom prst="rect">
            <a:avLst/>
          </a:prstGeom>
          <a:noFill/>
          <a:ln w="0">
            <a:noFill/>
            <a:prstDash val="solid"/>
          </a:ln>
        </p:spPr>
        <p:txBody>
          <a:bodyPr anchor="t"/>
          <a:lstStyle/>
          <a:p>
            <a:pPr algn="l">
              <a:defRPr sz="1875" b="0">
                <a:solidFill>
                  <a:srgbClr val="111318"/>
                </a:solidFill>
                <a:latin typeface="Arial"/>
                <a:ea typeface="Arial"/>
                <a:cs typeface="Arial"/>
              </a:defRPr>
            </a:pPr>
            <a:r>
              <a:rPr sz="1875" b="0">
                <a:solidFill>
                  <a:srgbClr val="111318"/>
                </a:solidFill>
                <a:latin typeface="Arial"/>
                <a:ea typeface="Arial"/>
                <a:cs typeface="Arial"/>
              </a:rPr>
              <a:t>Keep stakeholders informed</a:t>
            </a:r>
          </a:p>
        </p:txBody>
      </p:sp>
      <p:sp>
        <p:nvSpPr>
          <p:cNvPr id="16" name="bullet-4">
            <a:extLst>
              <a:ext uri="{FF2B5EF4-FFF2-40B4-BE49-F238E27FC236}">
                <a16:creationId xmlns:a16="http://schemas.microsoft.com/office/drawing/2014/main" id="{33F68EBE-ACF5-4CC6-8420-7C87E443935A}"/>
              </a:ext>
            </a:extLst>
          </p:cNvPr>
          <p:cNvSpPr>
            <a:spLocks noGrp="1"/>
          </p:cNvSpPr>
          <p:nvPr/>
        </p:nvSpPr>
        <p:spPr>
          <a:xfrm>
            <a:off x="3905250" y="4333875"/>
            <a:ext cx="95250" cy="95250"/>
          </a:xfrm>
          <a:prstGeom prst="rect">
            <a:avLst/>
          </a:prstGeom>
          <a:solidFill>
            <a:srgbClr val="2583FF"/>
          </a:solidFill>
          <a:ln w="0">
            <a:noFill/>
            <a:prstDash val="solid"/>
          </a:ln>
        </p:spPr>
        <p:txBody>
          <a:bodyPr/>
          <a:lstStyle/>
          <a:p>
            <a:endParaRPr lang="en-US"/>
          </a:p>
        </p:txBody>
      </p:sp>
      <p:sp>
        <p:nvSpPr>
          <p:cNvPr id="17" name="bullet-text-4">
            <a:extLst>
              <a:ext uri="{FF2B5EF4-FFF2-40B4-BE49-F238E27FC236}">
                <a16:creationId xmlns:a16="http://schemas.microsoft.com/office/drawing/2014/main" id="{EBED79D2-036F-45FE-ADD2-E57806BB9BBF}"/>
              </a:ext>
            </a:extLst>
          </p:cNvPr>
          <p:cNvSpPr>
            <a:spLocks noGrp="1"/>
          </p:cNvSpPr>
          <p:nvPr/>
        </p:nvSpPr>
        <p:spPr>
          <a:xfrm>
            <a:off x="4171950" y="4238625"/>
            <a:ext cx="6591300" cy="676275"/>
          </a:xfrm>
          <a:prstGeom prst="rect">
            <a:avLst/>
          </a:prstGeom>
          <a:noFill/>
          <a:ln w="0">
            <a:noFill/>
            <a:prstDash val="solid"/>
          </a:ln>
        </p:spPr>
        <p:txBody>
          <a:bodyPr anchor="t"/>
          <a:lstStyle/>
          <a:p>
            <a:pPr algn="l">
              <a:defRPr sz="1875" b="0">
                <a:solidFill>
                  <a:srgbClr val="111318"/>
                </a:solidFill>
                <a:latin typeface="Arial"/>
                <a:ea typeface="Arial"/>
                <a:cs typeface="Arial"/>
              </a:defRPr>
            </a:pPr>
            <a:r>
              <a:rPr sz="1875" b="0">
                <a:solidFill>
                  <a:srgbClr val="111318"/>
                </a:solidFill>
                <a:latin typeface="Arial"/>
                <a:ea typeface="Arial"/>
                <a:cs typeface="Arial"/>
              </a:rPr>
              <a:t>Support continuous improvement</a:t>
            </a:r>
          </a:p>
        </p:txBody>
      </p:sp>
    </p:spTree>
    <p:extLst>
      <p:ext uri="{BB962C8B-B14F-4D97-AF65-F5344CB8AC3E}">
        <p14:creationId xmlns:p14="http://schemas.microsoft.com/office/powerpoint/2010/main" val="59578848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CDDFE78E-F0B6-4052-B8F4-21C52B8AE55A}"/>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SDLC Techniques and Practices</a:t>
            </a:r>
          </a:p>
        </p:txBody>
      </p:sp>
      <p:sp>
        <p:nvSpPr>
          <p:cNvPr id="3" name="title-rule">
            <a:extLst>
              <a:ext uri="{FF2B5EF4-FFF2-40B4-BE49-F238E27FC236}">
                <a16:creationId xmlns:a16="http://schemas.microsoft.com/office/drawing/2014/main" id="{AB2DB087-E16B-479F-A82B-694654127E16}"/>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E7807ADD-BA78-48E7-9081-6F7645A5BBCC}"/>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13</a:t>
            </a:r>
          </a:p>
        </p:txBody>
      </p:sp>
      <p:sp>
        <p:nvSpPr>
          <p:cNvPr id="5" name="text">
            <a:extLst>
              <a:ext uri="{FF2B5EF4-FFF2-40B4-BE49-F238E27FC236}">
                <a16:creationId xmlns:a16="http://schemas.microsoft.com/office/drawing/2014/main" id="{555A11EF-D56A-471A-9000-4C408B41362B}"/>
              </a:ext>
            </a:extLst>
          </p:cNvPr>
          <p:cNvSpPr>
            <a:spLocks noGrp="1"/>
          </p:cNvSpPr>
          <p:nvPr/>
        </p:nvSpPr>
        <p:spPr>
          <a:xfrm>
            <a:off x="609600" y="1924050"/>
            <a:ext cx="2857500" cy="742950"/>
          </a:xfrm>
          <a:prstGeom prst="rect">
            <a:avLst/>
          </a:prstGeom>
          <a:noFill/>
          <a:ln w="0">
            <a:noFill/>
            <a:prstDash val="solid"/>
          </a:ln>
        </p:spPr>
        <p:txBody>
          <a:bodyPr anchor="t"/>
          <a:lstStyle/>
          <a:p>
            <a:pPr algn="l">
              <a:defRPr sz="3600" b="1">
                <a:solidFill>
                  <a:srgbClr val="2583FF"/>
                </a:solidFill>
                <a:latin typeface="Arial"/>
                <a:ea typeface="Arial"/>
                <a:cs typeface="Arial"/>
              </a:defRPr>
            </a:pPr>
            <a:r>
              <a:rPr sz="3600" b="1">
                <a:solidFill>
                  <a:srgbClr val="2583FF"/>
                </a:solidFill>
                <a:latin typeface="Arial"/>
                <a:ea typeface="Arial"/>
                <a:cs typeface="Arial"/>
              </a:rPr>
              <a:t>AGILE</a:t>
            </a:r>
          </a:p>
        </p:txBody>
      </p:sp>
      <p:sp>
        <p:nvSpPr>
          <p:cNvPr id="6" name="text">
            <a:extLst>
              <a:ext uri="{FF2B5EF4-FFF2-40B4-BE49-F238E27FC236}">
                <a16:creationId xmlns:a16="http://schemas.microsoft.com/office/drawing/2014/main" id="{3C75B53D-B48A-4ABC-BF43-E4A225B0F37B}"/>
              </a:ext>
            </a:extLst>
          </p:cNvPr>
          <p:cNvSpPr>
            <a:spLocks noGrp="1"/>
          </p:cNvSpPr>
          <p:nvPr/>
        </p:nvSpPr>
        <p:spPr>
          <a:xfrm>
            <a:off x="609600" y="2724150"/>
            <a:ext cx="4000500" cy="1143000"/>
          </a:xfrm>
          <a:prstGeom prst="rect">
            <a:avLst/>
          </a:prstGeom>
          <a:noFill/>
          <a:ln w="0">
            <a:noFill/>
            <a:prstDash val="solid"/>
          </a:ln>
        </p:spPr>
        <p:txBody>
          <a:bodyPr anchor="t"/>
          <a:lstStyle/>
          <a:p>
            <a:pPr algn="l">
              <a:defRPr sz="2100" b="1">
                <a:solidFill>
                  <a:srgbClr val="111318"/>
                </a:solidFill>
                <a:latin typeface="Arial"/>
                <a:ea typeface="Arial"/>
                <a:cs typeface="Arial"/>
              </a:defRPr>
            </a:pPr>
            <a:r>
              <a:rPr sz="2100" b="1">
                <a:solidFill>
                  <a:srgbClr val="111318"/>
                </a:solidFill>
                <a:latin typeface="Arial"/>
                <a:ea typeface="Arial"/>
                <a:cs typeface="Arial"/>
              </a:rPr>
              <a:t>Iterative development with incremental delivery and regular validation.</a:t>
            </a:r>
          </a:p>
        </p:txBody>
      </p:sp>
      <p:sp>
        <p:nvSpPr>
          <p:cNvPr id="7" name="agile-rule">
            <a:extLst>
              <a:ext uri="{FF2B5EF4-FFF2-40B4-BE49-F238E27FC236}">
                <a16:creationId xmlns:a16="http://schemas.microsoft.com/office/drawing/2014/main" id="{2C8C8A51-75E0-4FEF-A4E6-F0079195436C}"/>
              </a:ext>
            </a:extLst>
          </p:cNvPr>
          <p:cNvSpPr>
            <a:spLocks noGrp="1"/>
          </p:cNvSpPr>
          <p:nvPr/>
        </p:nvSpPr>
        <p:spPr>
          <a:xfrm>
            <a:off x="5143500" y="1866900"/>
            <a:ext cx="19050" cy="3333750"/>
          </a:xfrm>
          <a:prstGeom prst="rect">
            <a:avLst/>
          </a:prstGeom>
          <a:solidFill>
            <a:srgbClr val="C9CED6"/>
          </a:solidFill>
          <a:ln w="0">
            <a:noFill/>
            <a:prstDash val="solid"/>
          </a:ln>
        </p:spPr>
        <p:txBody>
          <a:bodyPr/>
          <a:lstStyle/>
          <a:p>
            <a:endParaRPr lang="en-US"/>
          </a:p>
        </p:txBody>
      </p:sp>
      <p:sp>
        <p:nvSpPr>
          <p:cNvPr id="8" name="bullet-1">
            <a:extLst>
              <a:ext uri="{FF2B5EF4-FFF2-40B4-BE49-F238E27FC236}">
                <a16:creationId xmlns:a16="http://schemas.microsoft.com/office/drawing/2014/main" id="{2BDF4B35-3C6C-4016-A672-BA84079381C8}"/>
              </a:ext>
            </a:extLst>
          </p:cNvPr>
          <p:cNvSpPr>
            <a:spLocks noGrp="1"/>
          </p:cNvSpPr>
          <p:nvPr/>
        </p:nvSpPr>
        <p:spPr>
          <a:xfrm>
            <a:off x="5753100" y="2133600"/>
            <a:ext cx="95250" cy="95250"/>
          </a:xfrm>
          <a:prstGeom prst="rect">
            <a:avLst/>
          </a:prstGeom>
          <a:solidFill>
            <a:srgbClr val="2583FF"/>
          </a:solidFill>
          <a:ln w="0">
            <a:noFill/>
            <a:prstDash val="solid"/>
          </a:ln>
        </p:spPr>
        <p:txBody>
          <a:bodyPr/>
          <a:lstStyle/>
          <a:p>
            <a:endParaRPr lang="en-US"/>
          </a:p>
        </p:txBody>
      </p:sp>
      <p:sp>
        <p:nvSpPr>
          <p:cNvPr id="9" name="bullet-text-1">
            <a:extLst>
              <a:ext uri="{FF2B5EF4-FFF2-40B4-BE49-F238E27FC236}">
                <a16:creationId xmlns:a16="http://schemas.microsoft.com/office/drawing/2014/main" id="{76E70C2E-72C4-4E78-BD2E-588FA17D1D36}"/>
              </a:ext>
            </a:extLst>
          </p:cNvPr>
          <p:cNvSpPr>
            <a:spLocks noGrp="1"/>
          </p:cNvSpPr>
          <p:nvPr/>
        </p:nvSpPr>
        <p:spPr>
          <a:xfrm>
            <a:off x="6019800" y="2038350"/>
            <a:ext cx="5067300" cy="68580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Incremental delivery of features</a:t>
            </a:r>
          </a:p>
        </p:txBody>
      </p:sp>
      <p:sp>
        <p:nvSpPr>
          <p:cNvPr id="10" name="bullet-2">
            <a:extLst>
              <a:ext uri="{FF2B5EF4-FFF2-40B4-BE49-F238E27FC236}">
                <a16:creationId xmlns:a16="http://schemas.microsoft.com/office/drawing/2014/main" id="{323B33C4-1002-40FB-A450-31B6BFCFD561}"/>
              </a:ext>
            </a:extLst>
          </p:cNvPr>
          <p:cNvSpPr>
            <a:spLocks noGrp="1"/>
          </p:cNvSpPr>
          <p:nvPr/>
        </p:nvSpPr>
        <p:spPr>
          <a:xfrm>
            <a:off x="5753100" y="2857500"/>
            <a:ext cx="95250" cy="95250"/>
          </a:xfrm>
          <a:prstGeom prst="rect">
            <a:avLst/>
          </a:prstGeom>
          <a:solidFill>
            <a:srgbClr val="2583FF"/>
          </a:solidFill>
          <a:ln w="0">
            <a:noFill/>
            <a:prstDash val="solid"/>
          </a:ln>
        </p:spPr>
        <p:txBody>
          <a:bodyPr/>
          <a:lstStyle/>
          <a:p>
            <a:endParaRPr lang="en-US"/>
          </a:p>
        </p:txBody>
      </p:sp>
      <p:sp>
        <p:nvSpPr>
          <p:cNvPr id="11" name="bullet-text-2">
            <a:extLst>
              <a:ext uri="{FF2B5EF4-FFF2-40B4-BE49-F238E27FC236}">
                <a16:creationId xmlns:a16="http://schemas.microsoft.com/office/drawing/2014/main" id="{31C92346-10A2-4FE3-8B15-F9486086989C}"/>
              </a:ext>
            </a:extLst>
          </p:cNvPr>
          <p:cNvSpPr>
            <a:spLocks noGrp="1"/>
          </p:cNvSpPr>
          <p:nvPr/>
        </p:nvSpPr>
        <p:spPr>
          <a:xfrm>
            <a:off x="6019800" y="2762250"/>
            <a:ext cx="5067300" cy="68580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User story and requirement validation</a:t>
            </a:r>
          </a:p>
        </p:txBody>
      </p:sp>
      <p:sp>
        <p:nvSpPr>
          <p:cNvPr id="12" name="bullet-3">
            <a:extLst>
              <a:ext uri="{FF2B5EF4-FFF2-40B4-BE49-F238E27FC236}">
                <a16:creationId xmlns:a16="http://schemas.microsoft.com/office/drawing/2014/main" id="{B48F4F6E-89E8-4316-83AA-678DE37EE420}"/>
              </a:ext>
            </a:extLst>
          </p:cNvPr>
          <p:cNvSpPr>
            <a:spLocks noGrp="1"/>
          </p:cNvSpPr>
          <p:nvPr/>
        </p:nvSpPr>
        <p:spPr>
          <a:xfrm>
            <a:off x="5753100" y="3581400"/>
            <a:ext cx="95250" cy="95250"/>
          </a:xfrm>
          <a:prstGeom prst="rect">
            <a:avLst/>
          </a:prstGeom>
          <a:solidFill>
            <a:srgbClr val="2583FF"/>
          </a:solidFill>
          <a:ln w="0">
            <a:noFill/>
            <a:prstDash val="solid"/>
          </a:ln>
        </p:spPr>
        <p:txBody>
          <a:bodyPr/>
          <a:lstStyle/>
          <a:p>
            <a:endParaRPr lang="en-US"/>
          </a:p>
        </p:txBody>
      </p:sp>
      <p:sp>
        <p:nvSpPr>
          <p:cNvPr id="13" name="bullet-text-3">
            <a:extLst>
              <a:ext uri="{FF2B5EF4-FFF2-40B4-BE49-F238E27FC236}">
                <a16:creationId xmlns:a16="http://schemas.microsoft.com/office/drawing/2014/main" id="{34A02813-9993-4797-83E7-056060B5F29A}"/>
              </a:ext>
            </a:extLst>
          </p:cNvPr>
          <p:cNvSpPr>
            <a:spLocks noGrp="1"/>
          </p:cNvSpPr>
          <p:nvPr/>
        </p:nvSpPr>
        <p:spPr>
          <a:xfrm>
            <a:off x="6019800" y="3486150"/>
            <a:ext cx="5067300" cy="68580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Continuous feedback and review</a:t>
            </a:r>
          </a:p>
        </p:txBody>
      </p:sp>
      <p:sp>
        <p:nvSpPr>
          <p:cNvPr id="14" name="bullet-4">
            <a:extLst>
              <a:ext uri="{FF2B5EF4-FFF2-40B4-BE49-F238E27FC236}">
                <a16:creationId xmlns:a16="http://schemas.microsoft.com/office/drawing/2014/main" id="{6DE8F934-E748-442E-B3D5-E3120B167528}"/>
              </a:ext>
            </a:extLst>
          </p:cNvPr>
          <p:cNvSpPr>
            <a:spLocks noGrp="1"/>
          </p:cNvSpPr>
          <p:nvPr/>
        </p:nvSpPr>
        <p:spPr>
          <a:xfrm>
            <a:off x="5753100" y="4305300"/>
            <a:ext cx="95250" cy="95250"/>
          </a:xfrm>
          <a:prstGeom prst="rect">
            <a:avLst/>
          </a:prstGeom>
          <a:solidFill>
            <a:srgbClr val="2583FF"/>
          </a:solidFill>
          <a:ln w="0">
            <a:noFill/>
            <a:prstDash val="solid"/>
          </a:ln>
        </p:spPr>
        <p:txBody>
          <a:bodyPr/>
          <a:lstStyle/>
          <a:p>
            <a:endParaRPr lang="en-US"/>
          </a:p>
        </p:txBody>
      </p:sp>
      <p:sp>
        <p:nvSpPr>
          <p:cNvPr id="15" name="bullet-text-4">
            <a:extLst>
              <a:ext uri="{FF2B5EF4-FFF2-40B4-BE49-F238E27FC236}">
                <a16:creationId xmlns:a16="http://schemas.microsoft.com/office/drawing/2014/main" id="{9E36AE8E-F85E-41B2-9032-0E2333BDD04E}"/>
              </a:ext>
            </a:extLst>
          </p:cNvPr>
          <p:cNvSpPr>
            <a:spLocks noGrp="1"/>
          </p:cNvSpPr>
          <p:nvPr/>
        </p:nvSpPr>
        <p:spPr>
          <a:xfrm>
            <a:off x="6019800" y="4210050"/>
            <a:ext cx="5067300" cy="68580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Documentation-driven development</a:t>
            </a:r>
          </a:p>
        </p:txBody>
      </p:sp>
    </p:spTree>
    <p:extLst>
      <p:ext uri="{BB962C8B-B14F-4D97-AF65-F5344CB8AC3E}">
        <p14:creationId xmlns:p14="http://schemas.microsoft.com/office/powerpoint/2010/main" val="1933955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98085645-9BFC-446F-9750-42D1716ECAF3}"/>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Testing Models, Processes, and Practices</a:t>
            </a:r>
          </a:p>
        </p:txBody>
      </p:sp>
      <p:sp>
        <p:nvSpPr>
          <p:cNvPr id="3" name="title-rule">
            <a:extLst>
              <a:ext uri="{FF2B5EF4-FFF2-40B4-BE49-F238E27FC236}">
                <a16:creationId xmlns:a16="http://schemas.microsoft.com/office/drawing/2014/main" id="{EC4EB21A-202C-434C-A72B-1ED9C5ED7E4B}"/>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968B7211-7481-46A0-9719-476519A75A65}"/>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14</a:t>
            </a:r>
          </a:p>
        </p:txBody>
      </p:sp>
      <p:sp>
        <p:nvSpPr>
          <p:cNvPr id="5" name="text">
            <a:extLst>
              <a:ext uri="{FF2B5EF4-FFF2-40B4-BE49-F238E27FC236}">
                <a16:creationId xmlns:a16="http://schemas.microsoft.com/office/drawing/2014/main" id="{D103F181-FFCA-48A5-9222-48CE7A557FE9}"/>
              </a:ext>
            </a:extLst>
          </p:cNvPr>
          <p:cNvSpPr>
            <a:spLocks noGrp="1"/>
          </p:cNvSpPr>
          <p:nvPr/>
        </p:nvSpPr>
        <p:spPr>
          <a:xfrm>
            <a:off x="609600" y="1847850"/>
            <a:ext cx="523875" cy="34290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01</a:t>
            </a:r>
          </a:p>
        </p:txBody>
      </p:sp>
      <p:sp>
        <p:nvSpPr>
          <p:cNvPr id="6" name="text">
            <a:extLst>
              <a:ext uri="{FF2B5EF4-FFF2-40B4-BE49-F238E27FC236}">
                <a16:creationId xmlns:a16="http://schemas.microsoft.com/office/drawing/2014/main" id="{FE9114B2-211B-4656-A8FE-24652B779E36}"/>
              </a:ext>
            </a:extLst>
          </p:cNvPr>
          <p:cNvSpPr>
            <a:spLocks noGrp="1"/>
          </p:cNvSpPr>
          <p:nvPr/>
        </p:nvSpPr>
        <p:spPr>
          <a:xfrm>
            <a:off x="1381125" y="1819275"/>
            <a:ext cx="2857500" cy="381000"/>
          </a:xfrm>
          <a:prstGeom prst="rect">
            <a:avLst/>
          </a:prstGeom>
          <a:noFill/>
          <a:ln w="0">
            <a:noFill/>
            <a:prstDash val="solid"/>
          </a:ln>
        </p:spPr>
        <p:txBody>
          <a:bodyPr anchor="t"/>
          <a:lstStyle/>
          <a:p>
            <a:pPr algn="l">
              <a:defRPr sz="1875" b="1">
                <a:solidFill>
                  <a:srgbClr val="111318"/>
                </a:solidFill>
                <a:latin typeface="Arial"/>
                <a:ea typeface="Arial"/>
                <a:cs typeface="Arial"/>
              </a:defRPr>
            </a:pPr>
            <a:r>
              <a:rPr sz="1875" b="1">
                <a:solidFill>
                  <a:srgbClr val="111318"/>
                </a:solidFill>
                <a:latin typeface="Arial"/>
                <a:ea typeface="Arial"/>
                <a:cs typeface="Arial"/>
              </a:rPr>
              <a:t>Unit</a:t>
            </a:r>
          </a:p>
        </p:txBody>
      </p:sp>
      <p:sp>
        <p:nvSpPr>
          <p:cNvPr id="7" name="text">
            <a:extLst>
              <a:ext uri="{FF2B5EF4-FFF2-40B4-BE49-F238E27FC236}">
                <a16:creationId xmlns:a16="http://schemas.microsoft.com/office/drawing/2014/main" id="{724536A0-081E-4C7D-98C9-E22845DBAEFA}"/>
              </a:ext>
            </a:extLst>
          </p:cNvPr>
          <p:cNvSpPr>
            <a:spLocks noGrp="1"/>
          </p:cNvSpPr>
          <p:nvPr/>
        </p:nvSpPr>
        <p:spPr>
          <a:xfrm>
            <a:off x="4857750" y="1838325"/>
            <a:ext cx="5715000" cy="381000"/>
          </a:xfrm>
          <a:prstGeom prst="rect">
            <a:avLst/>
          </a:prstGeom>
          <a:noFill/>
          <a:ln w="0">
            <a:noFill/>
            <a:prstDash val="solid"/>
          </a:ln>
        </p:spPr>
        <p:txBody>
          <a:bodyPr anchor="t"/>
          <a:lstStyle/>
          <a:p>
            <a:pPr algn="l">
              <a:defRPr sz="1725" b="0">
                <a:solidFill>
                  <a:srgbClr val="626A75"/>
                </a:solidFill>
                <a:latin typeface="Arial"/>
                <a:ea typeface="Arial"/>
                <a:cs typeface="Arial"/>
              </a:defRPr>
            </a:pPr>
            <a:r>
              <a:rPr sz="1725" b="0">
                <a:solidFill>
                  <a:srgbClr val="626A75"/>
                </a:solidFill>
                <a:latin typeface="Arial"/>
                <a:ea typeface="Arial"/>
                <a:cs typeface="Arial"/>
              </a:rPr>
              <a:t>Individual components</a:t>
            </a:r>
          </a:p>
        </p:txBody>
      </p:sp>
      <p:sp>
        <p:nvSpPr>
          <p:cNvPr id="8" name="test-rule-0">
            <a:extLst>
              <a:ext uri="{FF2B5EF4-FFF2-40B4-BE49-F238E27FC236}">
                <a16:creationId xmlns:a16="http://schemas.microsoft.com/office/drawing/2014/main" id="{09BCB808-EACE-4F77-931D-4909FB164909}"/>
              </a:ext>
            </a:extLst>
          </p:cNvPr>
          <p:cNvSpPr>
            <a:spLocks noGrp="1"/>
          </p:cNvSpPr>
          <p:nvPr/>
        </p:nvSpPr>
        <p:spPr>
          <a:xfrm>
            <a:off x="609600" y="2362200"/>
            <a:ext cx="10287000" cy="9525"/>
          </a:xfrm>
          <a:prstGeom prst="rect">
            <a:avLst/>
          </a:prstGeom>
          <a:solidFill>
            <a:srgbClr val="C9CED6"/>
          </a:solidFill>
          <a:ln w="0">
            <a:noFill/>
            <a:prstDash val="solid"/>
          </a:ln>
        </p:spPr>
        <p:txBody>
          <a:bodyPr/>
          <a:lstStyle/>
          <a:p>
            <a:endParaRPr lang="en-US"/>
          </a:p>
        </p:txBody>
      </p:sp>
      <p:sp>
        <p:nvSpPr>
          <p:cNvPr id="9" name="text">
            <a:extLst>
              <a:ext uri="{FF2B5EF4-FFF2-40B4-BE49-F238E27FC236}">
                <a16:creationId xmlns:a16="http://schemas.microsoft.com/office/drawing/2014/main" id="{6A66A1D6-57F5-492F-96C6-3D11C1BC2461}"/>
              </a:ext>
            </a:extLst>
          </p:cNvPr>
          <p:cNvSpPr>
            <a:spLocks noGrp="1"/>
          </p:cNvSpPr>
          <p:nvPr/>
        </p:nvSpPr>
        <p:spPr>
          <a:xfrm>
            <a:off x="609600" y="2628900"/>
            <a:ext cx="523875" cy="34290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02</a:t>
            </a:r>
          </a:p>
        </p:txBody>
      </p:sp>
      <p:sp>
        <p:nvSpPr>
          <p:cNvPr id="10" name="text">
            <a:extLst>
              <a:ext uri="{FF2B5EF4-FFF2-40B4-BE49-F238E27FC236}">
                <a16:creationId xmlns:a16="http://schemas.microsoft.com/office/drawing/2014/main" id="{0BBEA45C-1CA1-4768-BF4B-CAEA443AFAEC}"/>
              </a:ext>
            </a:extLst>
          </p:cNvPr>
          <p:cNvSpPr>
            <a:spLocks noGrp="1"/>
          </p:cNvSpPr>
          <p:nvPr/>
        </p:nvSpPr>
        <p:spPr>
          <a:xfrm>
            <a:off x="1381125" y="2600325"/>
            <a:ext cx="2857500" cy="381000"/>
          </a:xfrm>
          <a:prstGeom prst="rect">
            <a:avLst/>
          </a:prstGeom>
          <a:noFill/>
          <a:ln w="0">
            <a:noFill/>
            <a:prstDash val="solid"/>
          </a:ln>
        </p:spPr>
        <p:txBody>
          <a:bodyPr anchor="t"/>
          <a:lstStyle/>
          <a:p>
            <a:pPr algn="l">
              <a:defRPr sz="1875" b="1">
                <a:solidFill>
                  <a:srgbClr val="111318"/>
                </a:solidFill>
                <a:latin typeface="Arial"/>
                <a:ea typeface="Arial"/>
                <a:cs typeface="Arial"/>
              </a:defRPr>
            </a:pPr>
            <a:r>
              <a:rPr sz="1875" b="1">
                <a:solidFill>
                  <a:srgbClr val="111318"/>
                </a:solidFill>
                <a:latin typeface="Arial"/>
                <a:ea typeface="Arial"/>
                <a:cs typeface="Arial"/>
              </a:rPr>
              <a:t>Integration</a:t>
            </a:r>
          </a:p>
        </p:txBody>
      </p:sp>
      <p:sp>
        <p:nvSpPr>
          <p:cNvPr id="11" name="text">
            <a:extLst>
              <a:ext uri="{FF2B5EF4-FFF2-40B4-BE49-F238E27FC236}">
                <a16:creationId xmlns:a16="http://schemas.microsoft.com/office/drawing/2014/main" id="{BF564B37-934E-4E8F-9B5E-3B78E1761C26}"/>
              </a:ext>
            </a:extLst>
          </p:cNvPr>
          <p:cNvSpPr>
            <a:spLocks noGrp="1"/>
          </p:cNvSpPr>
          <p:nvPr/>
        </p:nvSpPr>
        <p:spPr>
          <a:xfrm>
            <a:off x="4857750" y="2619375"/>
            <a:ext cx="5715000" cy="381000"/>
          </a:xfrm>
          <a:prstGeom prst="rect">
            <a:avLst/>
          </a:prstGeom>
          <a:noFill/>
          <a:ln w="0">
            <a:noFill/>
            <a:prstDash val="solid"/>
          </a:ln>
        </p:spPr>
        <p:txBody>
          <a:bodyPr anchor="t"/>
          <a:lstStyle/>
          <a:p>
            <a:pPr algn="l">
              <a:defRPr sz="1725" b="0">
                <a:solidFill>
                  <a:srgbClr val="626A75"/>
                </a:solidFill>
                <a:latin typeface="Arial"/>
                <a:ea typeface="Arial"/>
                <a:cs typeface="Arial"/>
              </a:defRPr>
            </a:pPr>
            <a:r>
              <a:rPr sz="1725" b="0">
                <a:solidFill>
                  <a:srgbClr val="626A75"/>
                </a:solidFill>
                <a:latin typeface="Arial"/>
                <a:ea typeface="Arial"/>
                <a:cs typeface="Arial"/>
              </a:rPr>
              <a:t>Connected modules</a:t>
            </a:r>
          </a:p>
        </p:txBody>
      </p:sp>
      <p:sp>
        <p:nvSpPr>
          <p:cNvPr id="12" name="test-rule-1">
            <a:extLst>
              <a:ext uri="{FF2B5EF4-FFF2-40B4-BE49-F238E27FC236}">
                <a16:creationId xmlns:a16="http://schemas.microsoft.com/office/drawing/2014/main" id="{8196CDC9-11CB-48D1-894D-EDF3F5CD0F06}"/>
              </a:ext>
            </a:extLst>
          </p:cNvPr>
          <p:cNvSpPr>
            <a:spLocks noGrp="1"/>
          </p:cNvSpPr>
          <p:nvPr/>
        </p:nvSpPr>
        <p:spPr>
          <a:xfrm>
            <a:off x="609600" y="3143250"/>
            <a:ext cx="10287000" cy="9525"/>
          </a:xfrm>
          <a:prstGeom prst="rect">
            <a:avLst/>
          </a:prstGeom>
          <a:solidFill>
            <a:srgbClr val="C9CED6"/>
          </a:solidFill>
          <a:ln w="0">
            <a:noFill/>
            <a:prstDash val="solid"/>
          </a:ln>
        </p:spPr>
        <p:txBody>
          <a:bodyPr/>
          <a:lstStyle/>
          <a:p>
            <a:endParaRPr lang="en-US"/>
          </a:p>
        </p:txBody>
      </p:sp>
      <p:sp>
        <p:nvSpPr>
          <p:cNvPr id="13" name="text">
            <a:extLst>
              <a:ext uri="{FF2B5EF4-FFF2-40B4-BE49-F238E27FC236}">
                <a16:creationId xmlns:a16="http://schemas.microsoft.com/office/drawing/2014/main" id="{EE1BA62C-86C9-4012-870D-353FC98A4FF3}"/>
              </a:ext>
            </a:extLst>
          </p:cNvPr>
          <p:cNvSpPr>
            <a:spLocks noGrp="1"/>
          </p:cNvSpPr>
          <p:nvPr/>
        </p:nvSpPr>
        <p:spPr>
          <a:xfrm>
            <a:off x="609600" y="3409950"/>
            <a:ext cx="523875" cy="34290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03</a:t>
            </a:r>
          </a:p>
        </p:txBody>
      </p:sp>
      <p:sp>
        <p:nvSpPr>
          <p:cNvPr id="14" name="text">
            <a:extLst>
              <a:ext uri="{FF2B5EF4-FFF2-40B4-BE49-F238E27FC236}">
                <a16:creationId xmlns:a16="http://schemas.microsoft.com/office/drawing/2014/main" id="{82262BBC-BD96-40D3-87B3-1FB84A79BDF9}"/>
              </a:ext>
            </a:extLst>
          </p:cNvPr>
          <p:cNvSpPr>
            <a:spLocks noGrp="1"/>
          </p:cNvSpPr>
          <p:nvPr/>
        </p:nvSpPr>
        <p:spPr>
          <a:xfrm>
            <a:off x="1381125" y="3381375"/>
            <a:ext cx="2857500" cy="381000"/>
          </a:xfrm>
          <a:prstGeom prst="rect">
            <a:avLst/>
          </a:prstGeom>
          <a:noFill/>
          <a:ln w="0">
            <a:noFill/>
            <a:prstDash val="solid"/>
          </a:ln>
        </p:spPr>
        <p:txBody>
          <a:bodyPr anchor="t"/>
          <a:lstStyle/>
          <a:p>
            <a:pPr algn="l">
              <a:defRPr sz="1875" b="1">
                <a:solidFill>
                  <a:srgbClr val="111318"/>
                </a:solidFill>
                <a:latin typeface="Arial"/>
                <a:ea typeface="Arial"/>
                <a:cs typeface="Arial"/>
              </a:defRPr>
            </a:pPr>
            <a:r>
              <a:rPr sz="1875" b="1">
                <a:solidFill>
                  <a:srgbClr val="111318"/>
                </a:solidFill>
                <a:latin typeface="Arial"/>
                <a:ea typeface="Arial"/>
                <a:cs typeface="Arial"/>
              </a:rPr>
              <a:t>System</a:t>
            </a:r>
          </a:p>
        </p:txBody>
      </p:sp>
      <p:sp>
        <p:nvSpPr>
          <p:cNvPr id="15" name="text">
            <a:extLst>
              <a:ext uri="{FF2B5EF4-FFF2-40B4-BE49-F238E27FC236}">
                <a16:creationId xmlns:a16="http://schemas.microsoft.com/office/drawing/2014/main" id="{F66AC648-4D8A-4DDD-8FEE-F5CACDF84F1A}"/>
              </a:ext>
            </a:extLst>
          </p:cNvPr>
          <p:cNvSpPr>
            <a:spLocks noGrp="1"/>
          </p:cNvSpPr>
          <p:nvPr/>
        </p:nvSpPr>
        <p:spPr>
          <a:xfrm>
            <a:off x="4857750" y="3400425"/>
            <a:ext cx="5715000" cy="381000"/>
          </a:xfrm>
          <a:prstGeom prst="rect">
            <a:avLst/>
          </a:prstGeom>
          <a:noFill/>
          <a:ln w="0">
            <a:noFill/>
            <a:prstDash val="solid"/>
          </a:ln>
        </p:spPr>
        <p:txBody>
          <a:bodyPr anchor="t"/>
          <a:lstStyle/>
          <a:p>
            <a:pPr algn="l">
              <a:defRPr sz="1725" b="0">
                <a:solidFill>
                  <a:srgbClr val="626A75"/>
                </a:solidFill>
                <a:latin typeface="Arial"/>
                <a:ea typeface="Arial"/>
                <a:cs typeface="Arial"/>
              </a:defRPr>
            </a:pPr>
            <a:r>
              <a:rPr sz="1725" b="0">
                <a:solidFill>
                  <a:srgbClr val="626A75"/>
                </a:solidFill>
                <a:latin typeface="Arial"/>
                <a:ea typeface="Arial"/>
                <a:cs typeface="Arial"/>
              </a:rPr>
              <a:t>Full application</a:t>
            </a:r>
          </a:p>
        </p:txBody>
      </p:sp>
      <p:sp>
        <p:nvSpPr>
          <p:cNvPr id="16" name="test-rule-2">
            <a:extLst>
              <a:ext uri="{FF2B5EF4-FFF2-40B4-BE49-F238E27FC236}">
                <a16:creationId xmlns:a16="http://schemas.microsoft.com/office/drawing/2014/main" id="{96D38A2B-00AE-41B3-BB5D-AF6450E83076}"/>
              </a:ext>
            </a:extLst>
          </p:cNvPr>
          <p:cNvSpPr>
            <a:spLocks noGrp="1"/>
          </p:cNvSpPr>
          <p:nvPr/>
        </p:nvSpPr>
        <p:spPr>
          <a:xfrm>
            <a:off x="609600" y="3924300"/>
            <a:ext cx="10287000" cy="9525"/>
          </a:xfrm>
          <a:prstGeom prst="rect">
            <a:avLst/>
          </a:prstGeom>
          <a:solidFill>
            <a:srgbClr val="C9CED6"/>
          </a:solidFill>
          <a:ln w="0">
            <a:noFill/>
            <a:prstDash val="solid"/>
          </a:ln>
        </p:spPr>
        <p:txBody>
          <a:bodyPr/>
          <a:lstStyle/>
          <a:p>
            <a:endParaRPr lang="en-US"/>
          </a:p>
        </p:txBody>
      </p:sp>
      <p:sp>
        <p:nvSpPr>
          <p:cNvPr id="17" name="text">
            <a:extLst>
              <a:ext uri="{FF2B5EF4-FFF2-40B4-BE49-F238E27FC236}">
                <a16:creationId xmlns:a16="http://schemas.microsoft.com/office/drawing/2014/main" id="{803E1B3B-0A1E-4E52-A23D-6F80742BC78B}"/>
              </a:ext>
            </a:extLst>
          </p:cNvPr>
          <p:cNvSpPr>
            <a:spLocks noGrp="1"/>
          </p:cNvSpPr>
          <p:nvPr/>
        </p:nvSpPr>
        <p:spPr>
          <a:xfrm>
            <a:off x="609600" y="4191000"/>
            <a:ext cx="523875" cy="34290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04</a:t>
            </a:r>
          </a:p>
        </p:txBody>
      </p:sp>
      <p:sp>
        <p:nvSpPr>
          <p:cNvPr id="18" name="text">
            <a:extLst>
              <a:ext uri="{FF2B5EF4-FFF2-40B4-BE49-F238E27FC236}">
                <a16:creationId xmlns:a16="http://schemas.microsoft.com/office/drawing/2014/main" id="{3AAC08AA-DB18-4A24-828B-FDB1C2B9774D}"/>
              </a:ext>
            </a:extLst>
          </p:cNvPr>
          <p:cNvSpPr>
            <a:spLocks noGrp="1"/>
          </p:cNvSpPr>
          <p:nvPr/>
        </p:nvSpPr>
        <p:spPr>
          <a:xfrm>
            <a:off x="1381125" y="4162425"/>
            <a:ext cx="2857500" cy="381000"/>
          </a:xfrm>
          <a:prstGeom prst="rect">
            <a:avLst/>
          </a:prstGeom>
          <a:noFill/>
          <a:ln w="0">
            <a:noFill/>
            <a:prstDash val="solid"/>
          </a:ln>
        </p:spPr>
        <p:txBody>
          <a:bodyPr anchor="t"/>
          <a:lstStyle/>
          <a:p>
            <a:pPr algn="l">
              <a:defRPr sz="1875" b="1">
                <a:solidFill>
                  <a:srgbClr val="111318"/>
                </a:solidFill>
                <a:latin typeface="Arial"/>
                <a:ea typeface="Arial"/>
                <a:cs typeface="Arial"/>
              </a:defRPr>
            </a:pPr>
            <a:r>
              <a:rPr sz="1875" b="1">
                <a:solidFill>
                  <a:srgbClr val="111318"/>
                </a:solidFill>
                <a:latin typeface="Arial"/>
                <a:ea typeface="Arial"/>
                <a:cs typeface="Arial"/>
              </a:rPr>
              <a:t>Acceptance</a:t>
            </a:r>
          </a:p>
        </p:txBody>
      </p:sp>
      <p:sp>
        <p:nvSpPr>
          <p:cNvPr id="19" name="text">
            <a:extLst>
              <a:ext uri="{FF2B5EF4-FFF2-40B4-BE49-F238E27FC236}">
                <a16:creationId xmlns:a16="http://schemas.microsoft.com/office/drawing/2014/main" id="{8D3344CE-9B15-4FAE-B597-FC7A36825C6D}"/>
              </a:ext>
            </a:extLst>
          </p:cNvPr>
          <p:cNvSpPr>
            <a:spLocks noGrp="1"/>
          </p:cNvSpPr>
          <p:nvPr/>
        </p:nvSpPr>
        <p:spPr>
          <a:xfrm>
            <a:off x="4857750" y="4181475"/>
            <a:ext cx="5715000" cy="381000"/>
          </a:xfrm>
          <a:prstGeom prst="rect">
            <a:avLst/>
          </a:prstGeom>
          <a:noFill/>
          <a:ln w="0">
            <a:noFill/>
            <a:prstDash val="solid"/>
          </a:ln>
        </p:spPr>
        <p:txBody>
          <a:bodyPr anchor="t"/>
          <a:lstStyle/>
          <a:p>
            <a:pPr algn="l">
              <a:defRPr sz="1725" b="0">
                <a:solidFill>
                  <a:srgbClr val="626A75"/>
                </a:solidFill>
                <a:latin typeface="Arial"/>
                <a:ea typeface="Arial"/>
                <a:cs typeface="Arial"/>
              </a:defRPr>
            </a:pPr>
            <a:r>
              <a:rPr sz="1725" b="0">
                <a:solidFill>
                  <a:srgbClr val="626A75"/>
                </a:solidFill>
                <a:latin typeface="Arial"/>
                <a:ea typeface="Arial"/>
                <a:cs typeface="Arial"/>
              </a:rPr>
              <a:t>Business &amp; user needs</a:t>
            </a:r>
          </a:p>
        </p:txBody>
      </p:sp>
      <p:sp>
        <p:nvSpPr>
          <p:cNvPr id="20" name="test-rule-3">
            <a:extLst>
              <a:ext uri="{FF2B5EF4-FFF2-40B4-BE49-F238E27FC236}">
                <a16:creationId xmlns:a16="http://schemas.microsoft.com/office/drawing/2014/main" id="{7E50ADC1-FEDF-4A60-87B9-DB99F7B45F68}"/>
              </a:ext>
            </a:extLst>
          </p:cNvPr>
          <p:cNvSpPr>
            <a:spLocks noGrp="1"/>
          </p:cNvSpPr>
          <p:nvPr/>
        </p:nvSpPr>
        <p:spPr>
          <a:xfrm>
            <a:off x="609600" y="4705350"/>
            <a:ext cx="10287000" cy="9525"/>
          </a:xfrm>
          <a:prstGeom prst="rect">
            <a:avLst/>
          </a:prstGeom>
          <a:solidFill>
            <a:srgbClr val="C9CED6"/>
          </a:solidFill>
          <a:ln w="0">
            <a:noFill/>
            <a:prstDash val="solid"/>
          </a:ln>
        </p:spPr>
        <p:txBody>
          <a:bodyPr/>
          <a:lstStyle/>
          <a:p>
            <a:endParaRPr lang="en-US"/>
          </a:p>
        </p:txBody>
      </p:sp>
      <p:sp>
        <p:nvSpPr>
          <p:cNvPr id="21" name="text">
            <a:extLst>
              <a:ext uri="{FF2B5EF4-FFF2-40B4-BE49-F238E27FC236}">
                <a16:creationId xmlns:a16="http://schemas.microsoft.com/office/drawing/2014/main" id="{65406451-D030-499F-A22C-7D201E2AC615}"/>
              </a:ext>
            </a:extLst>
          </p:cNvPr>
          <p:cNvSpPr>
            <a:spLocks noGrp="1"/>
          </p:cNvSpPr>
          <p:nvPr/>
        </p:nvSpPr>
        <p:spPr>
          <a:xfrm>
            <a:off x="609600" y="4972050"/>
            <a:ext cx="523875" cy="342900"/>
          </a:xfrm>
          <a:prstGeom prst="rect">
            <a:avLst/>
          </a:prstGeom>
          <a:noFill/>
          <a:ln w="0">
            <a:noFill/>
            <a:prstDash val="solid"/>
          </a:ln>
        </p:spPr>
        <p:txBody>
          <a:bodyPr anchor="t"/>
          <a:lstStyle/>
          <a:p>
            <a:pPr algn="l">
              <a:defRPr sz="1350" b="1">
                <a:solidFill>
                  <a:srgbClr val="2583FF"/>
                </a:solidFill>
                <a:latin typeface="Arial"/>
                <a:ea typeface="Arial"/>
                <a:cs typeface="Arial"/>
              </a:defRPr>
            </a:pPr>
            <a:r>
              <a:rPr sz="1350" b="1">
                <a:solidFill>
                  <a:srgbClr val="2583FF"/>
                </a:solidFill>
                <a:latin typeface="Arial"/>
                <a:ea typeface="Arial"/>
                <a:cs typeface="Arial"/>
              </a:rPr>
              <a:t>05</a:t>
            </a:r>
          </a:p>
        </p:txBody>
      </p:sp>
      <p:sp>
        <p:nvSpPr>
          <p:cNvPr id="22" name="text">
            <a:extLst>
              <a:ext uri="{FF2B5EF4-FFF2-40B4-BE49-F238E27FC236}">
                <a16:creationId xmlns:a16="http://schemas.microsoft.com/office/drawing/2014/main" id="{43804279-BE2B-4952-8376-CA71B8ABD4B0}"/>
              </a:ext>
            </a:extLst>
          </p:cNvPr>
          <p:cNvSpPr>
            <a:spLocks noGrp="1"/>
          </p:cNvSpPr>
          <p:nvPr/>
        </p:nvSpPr>
        <p:spPr>
          <a:xfrm>
            <a:off x="1381125" y="4943475"/>
            <a:ext cx="2857500" cy="381000"/>
          </a:xfrm>
          <a:prstGeom prst="rect">
            <a:avLst/>
          </a:prstGeom>
          <a:noFill/>
          <a:ln w="0">
            <a:noFill/>
            <a:prstDash val="solid"/>
          </a:ln>
        </p:spPr>
        <p:txBody>
          <a:bodyPr anchor="t"/>
          <a:lstStyle/>
          <a:p>
            <a:pPr algn="l">
              <a:defRPr sz="1875" b="1">
                <a:solidFill>
                  <a:srgbClr val="111318"/>
                </a:solidFill>
                <a:latin typeface="Arial"/>
                <a:ea typeface="Arial"/>
                <a:cs typeface="Arial"/>
              </a:defRPr>
            </a:pPr>
            <a:r>
              <a:rPr sz="1875" b="1">
                <a:solidFill>
                  <a:srgbClr val="111318"/>
                </a:solidFill>
                <a:latin typeface="Arial"/>
                <a:ea typeface="Arial"/>
                <a:cs typeface="Arial"/>
              </a:rPr>
              <a:t>Security + performance</a:t>
            </a:r>
          </a:p>
        </p:txBody>
      </p:sp>
      <p:sp>
        <p:nvSpPr>
          <p:cNvPr id="23" name="text">
            <a:extLst>
              <a:ext uri="{FF2B5EF4-FFF2-40B4-BE49-F238E27FC236}">
                <a16:creationId xmlns:a16="http://schemas.microsoft.com/office/drawing/2014/main" id="{0811CE05-8BFE-4F01-BFFC-4B0D18C7F99A}"/>
              </a:ext>
            </a:extLst>
          </p:cNvPr>
          <p:cNvSpPr>
            <a:spLocks noGrp="1"/>
          </p:cNvSpPr>
          <p:nvPr/>
        </p:nvSpPr>
        <p:spPr>
          <a:xfrm>
            <a:off x="4857750" y="4962525"/>
            <a:ext cx="5715000" cy="381000"/>
          </a:xfrm>
          <a:prstGeom prst="rect">
            <a:avLst/>
          </a:prstGeom>
          <a:noFill/>
          <a:ln w="0">
            <a:noFill/>
            <a:prstDash val="solid"/>
          </a:ln>
        </p:spPr>
        <p:txBody>
          <a:bodyPr anchor="t"/>
          <a:lstStyle/>
          <a:p>
            <a:pPr algn="l">
              <a:defRPr sz="1725" b="0">
                <a:solidFill>
                  <a:srgbClr val="626A75"/>
                </a:solidFill>
                <a:latin typeface="Arial"/>
                <a:ea typeface="Arial"/>
                <a:cs typeface="Arial"/>
              </a:defRPr>
            </a:pPr>
            <a:r>
              <a:rPr sz="1725" b="0">
                <a:solidFill>
                  <a:srgbClr val="626A75"/>
                </a:solidFill>
                <a:latin typeface="Arial"/>
                <a:ea typeface="Arial"/>
                <a:cs typeface="Arial"/>
              </a:rPr>
              <a:t>Protection &amp; smooth operation</a:t>
            </a:r>
          </a:p>
        </p:txBody>
      </p:sp>
    </p:spTree>
    <p:extLst>
      <p:ext uri="{BB962C8B-B14F-4D97-AF65-F5344CB8AC3E}">
        <p14:creationId xmlns:p14="http://schemas.microsoft.com/office/powerpoint/2010/main" val="139460427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4C43FB57-5627-46DE-A5DF-75F1E0068CC5}"/>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Conclusion</a:t>
            </a:r>
          </a:p>
        </p:txBody>
      </p:sp>
      <p:sp>
        <p:nvSpPr>
          <p:cNvPr id="3" name="title-rule">
            <a:extLst>
              <a:ext uri="{FF2B5EF4-FFF2-40B4-BE49-F238E27FC236}">
                <a16:creationId xmlns:a16="http://schemas.microsoft.com/office/drawing/2014/main" id="{BDB7FCDB-7F95-4075-B76A-0D014A757524}"/>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6B083EC4-C997-49D9-A84E-68DA541CFA84}"/>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15</a:t>
            </a:r>
          </a:p>
        </p:txBody>
      </p:sp>
      <p:sp>
        <p:nvSpPr>
          <p:cNvPr id="5" name="text">
            <a:extLst>
              <a:ext uri="{FF2B5EF4-FFF2-40B4-BE49-F238E27FC236}">
                <a16:creationId xmlns:a16="http://schemas.microsoft.com/office/drawing/2014/main" id="{1F3333EB-3AF1-405E-840E-C00204C8A1DF}"/>
              </a:ext>
            </a:extLst>
          </p:cNvPr>
          <p:cNvSpPr>
            <a:spLocks noGrp="1"/>
          </p:cNvSpPr>
          <p:nvPr/>
        </p:nvSpPr>
        <p:spPr>
          <a:xfrm>
            <a:off x="609600" y="1828800"/>
            <a:ext cx="10287000" cy="952500"/>
          </a:xfrm>
          <a:prstGeom prst="rect">
            <a:avLst/>
          </a:prstGeom>
          <a:noFill/>
          <a:ln w="0">
            <a:noFill/>
            <a:prstDash val="solid"/>
          </a:ln>
        </p:spPr>
        <p:txBody>
          <a:bodyPr anchor="t"/>
          <a:lstStyle/>
          <a:p>
            <a:pPr algn="l">
              <a:defRPr sz="2400" b="1">
                <a:solidFill>
                  <a:srgbClr val="111318"/>
                </a:solidFill>
                <a:latin typeface="Arial"/>
                <a:ea typeface="Arial"/>
                <a:cs typeface="Arial"/>
              </a:defRPr>
            </a:pPr>
            <a:r>
              <a:rPr sz="2400" b="1">
                <a:solidFill>
                  <a:srgbClr val="111318"/>
                </a:solidFill>
                <a:latin typeface="Arial"/>
                <a:ea typeface="Arial"/>
                <a:cs typeface="Arial"/>
              </a:rPr>
              <a:t>A structured SDLC turns the Byte Bazaar concept into a controlled path to a secure, reliable e-commerce solution.</a:t>
            </a:r>
          </a:p>
        </p:txBody>
      </p:sp>
      <p:sp>
        <p:nvSpPr>
          <p:cNvPr id="6" name="bullet-1">
            <a:extLst>
              <a:ext uri="{FF2B5EF4-FFF2-40B4-BE49-F238E27FC236}">
                <a16:creationId xmlns:a16="http://schemas.microsoft.com/office/drawing/2014/main" id="{9C227E24-9099-43B2-81D2-7C8C315C2823}"/>
              </a:ext>
            </a:extLst>
          </p:cNvPr>
          <p:cNvSpPr>
            <a:spLocks noGrp="1"/>
          </p:cNvSpPr>
          <p:nvPr/>
        </p:nvSpPr>
        <p:spPr>
          <a:xfrm>
            <a:off x="609600" y="3352800"/>
            <a:ext cx="95250" cy="95250"/>
          </a:xfrm>
          <a:prstGeom prst="rect">
            <a:avLst/>
          </a:prstGeom>
          <a:solidFill>
            <a:srgbClr val="2583FF"/>
          </a:solidFill>
          <a:ln w="0">
            <a:noFill/>
            <a:prstDash val="solid"/>
          </a:ln>
        </p:spPr>
        <p:txBody>
          <a:bodyPr/>
          <a:lstStyle/>
          <a:p>
            <a:endParaRPr lang="en-US"/>
          </a:p>
        </p:txBody>
      </p:sp>
      <p:sp>
        <p:nvSpPr>
          <p:cNvPr id="7" name="bullet-text-1">
            <a:extLst>
              <a:ext uri="{FF2B5EF4-FFF2-40B4-BE49-F238E27FC236}">
                <a16:creationId xmlns:a16="http://schemas.microsoft.com/office/drawing/2014/main" id="{C05ECF23-99E7-4D26-8BCC-DFCA4CEB4F41}"/>
              </a:ext>
            </a:extLst>
          </p:cNvPr>
          <p:cNvSpPr>
            <a:spLocks noGrp="1"/>
          </p:cNvSpPr>
          <p:nvPr/>
        </p:nvSpPr>
        <p:spPr>
          <a:xfrm>
            <a:off x="876300" y="3257550"/>
            <a:ext cx="9734550" cy="5524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Planning and control provide direction</a:t>
            </a:r>
          </a:p>
        </p:txBody>
      </p:sp>
      <p:sp>
        <p:nvSpPr>
          <p:cNvPr id="8" name="bullet-2">
            <a:extLst>
              <a:ext uri="{FF2B5EF4-FFF2-40B4-BE49-F238E27FC236}">
                <a16:creationId xmlns:a16="http://schemas.microsoft.com/office/drawing/2014/main" id="{049B4492-2E5B-4342-AABB-2ED2CBFD1E40}"/>
              </a:ext>
            </a:extLst>
          </p:cNvPr>
          <p:cNvSpPr>
            <a:spLocks noGrp="1"/>
          </p:cNvSpPr>
          <p:nvPr/>
        </p:nvSpPr>
        <p:spPr>
          <a:xfrm>
            <a:off x="609600" y="3943350"/>
            <a:ext cx="95250" cy="95250"/>
          </a:xfrm>
          <a:prstGeom prst="rect">
            <a:avLst/>
          </a:prstGeom>
          <a:solidFill>
            <a:srgbClr val="2583FF"/>
          </a:solidFill>
          <a:ln w="0">
            <a:noFill/>
            <a:prstDash val="solid"/>
          </a:ln>
        </p:spPr>
        <p:txBody>
          <a:bodyPr/>
          <a:lstStyle/>
          <a:p>
            <a:endParaRPr lang="en-US"/>
          </a:p>
        </p:txBody>
      </p:sp>
      <p:sp>
        <p:nvSpPr>
          <p:cNvPr id="9" name="bullet-text-2">
            <a:extLst>
              <a:ext uri="{FF2B5EF4-FFF2-40B4-BE49-F238E27FC236}">
                <a16:creationId xmlns:a16="http://schemas.microsoft.com/office/drawing/2014/main" id="{0FE842D9-5DE7-4D83-A02B-164BFC2FB1A9}"/>
              </a:ext>
            </a:extLst>
          </p:cNvPr>
          <p:cNvSpPr>
            <a:spLocks noGrp="1"/>
          </p:cNvSpPr>
          <p:nvPr/>
        </p:nvSpPr>
        <p:spPr>
          <a:xfrm>
            <a:off x="876300" y="3848100"/>
            <a:ext cx="9734550" cy="5524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Functional and technical specs guide development</a:t>
            </a:r>
          </a:p>
        </p:txBody>
      </p:sp>
      <p:sp>
        <p:nvSpPr>
          <p:cNvPr id="10" name="bullet-3">
            <a:extLst>
              <a:ext uri="{FF2B5EF4-FFF2-40B4-BE49-F238E27FC236}">
                <a16:creationId xmlns:a16="http://schemas.microsoft.com/office/drawing/2014/main" id="{2A1BB0C9-27DB-4C92-BD84-AB0CDC8B778E}"/>
              </a:ext>
            </a:extLst>
          </p:cNvPr>
          <p:cNvSpPr>
            <a:spLocks noGrp="1"/>
          </p:cNvSpPr>
          <p:nvPr/>
        </p:nvSpPr>
        <p:spPr>
          <a:xfrm>
            <a:off x="609600" y="4533900"/>
            <a:ext cx="95250" cy="95250"/>
          </a:xfrm>
          <a:prstGeom prst="rect">
            <a:avLst/>
          </a:prstGeom>
          <a:solidFill>
            <a:srgbClr val="2583FF"/>
          </a:solidFill>
          <a:ln w="0">
            <a:noFill/>
            <a:prstDash val="solid"/>
          </a:ln>
        </p:spPr>
        <p:txBody>
          <a:bodyPr/>
          <a:lstStyle/>
          <a:p>
            <a:endParaRPr lang="en-US"/>
          </a:p>
        </p:txBody>
      </p:sp>
      <p:sp>
        <p:nvSpPr>
          <p:cNvPr id="11" name="bullet-text-3">
            <a:extLst>
              <a:ext uri="{FF2B5EF4-FFF2-40B4-BE49-F238E27FC236}">
                <a16:creationId xmlns:a16="http://schemas.microsoft.com/office/drawing/2014/main" id="{69A41974-BE79-40C1-A898-DAE0344C3165}"/>
              </a:ext>
            </a:extLst>
          </p:cNvPr>
          <p:cNvSpPr>
            <a:spLocks noGrp="1"/>
          </p:cNvSpPr>
          <p:nvPr/>
        </p:nvSpPr>
        <p:spPr>
          <a:xfrm>
            <a:off x="876300" y="4438650"/>
            <a:ext cx="9734550" cy="5524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Analysis and design connect needs to implementation</a:t>
            </a:r>
          </a:p>
        </p:txBody>
      </p:sp>
      <p:sp>
        <p:nvSpPr>
          <p:cNvPr id="12" name="bullet-4">
            <a:extLst>
              <a:ext uri="{FF2B5EF4-FFF2-40B4-BE49-F238E27FC236}">
                <a16:creationId xmlns:a16="http://schemas.microsoft.com/office/drawing/2014/main" id="{1F866163-53C3-4519-B205-7FCB03C7027A}"/>
              </a:ext>
            </a:extLst>
          </p:cNvPr>
          <p:cNvSpPr>
            <a:spLocks noGrp="1"/>
          </p:cNvSpPr>
          <p:nvPr/>
        </p:nvSpPr>
        <p:spPr>
          <a:xfrm>
            <a:off x="609600" y="5124450"/>
            <a:ext cx="95250" cy="95250"/>
          </a:xfrm>
          <a:prstGeom prst="rect">
            <a:avLst/>
          </a:prstGeom>
          <a:solidFill>
            <a:srgbClr val="2583FF"/>
          </a:solidFill>
          <a:ln w="0">
            <a:noFill/>
            <a:prstDash val="solid"/>
          </a:ln>
        </p:spPr>
        <p:txBody>
          <a:bodyPr/>
          <a:lstStyle/>
          <a:p>
            <a:endParaRPr lang="en-US"/>
          </a:p>
        </p:txBody>
      </p:sp>
      <p:sp>
        <p:nvSpPr>
          <p:cNvPr id="13" name="bullet-text-4">
            <a:extLst>
              <a:ext uri="{FF2B5EF4-FFF2-40B4-BE49-F238E27FC236}">
                <a16:creationId xmlns:a16="http://schemas.microsoft.com/office/drawing/2014/main" id="{CC9BB9ED-1F31-488A-978D-7F23A6A1959E}"/>
              </a:ext>
            </a:extLst>
          </p:cNvPr>
          <p:cNvSpPr>
            <a:spLocks noGrp="1"/>
          </p:cNvSpPr>
          <p:nvPr/>
        </p:nvSpPr>
        <p:spPr>
          <a:xfrm>
            <a:off x="876300" y="5029200"/>
            <a:ext cx="9734550" cy="552450"/>
          </a:xfrm>
          <a:prstGeom prst="rect">
            <a:avLst/>
          </a:prstGeom>
          <a:noFill/>
          <a:ln w="0">
            <a:noFill/>
            <a:prstDash val="solid"/>
          </a:ln>
        </p:spPr>
        <p:txBody>
          <a:bodyPr anchor="t"/>
          <a:lstStyle/>
          <a:p>
            <a:pPr algn="l">
              <a:defRPr sz="1800" b="0">
                <a:solidFill>
                  <a:srgbClr val="111318"/>
                </a:solidFill>
                <a:latin typeface="Arial"/>
                <a:ea typeface="Arial"/>
                <a:cs typeface="Arial"/>
              </a:defRPr>
            </a:pPr>
            <a:r>
              <a:rPr sz="1800" b="0">
                <a:solidFill>
                  <a:srgbClr val="111318"/>
                </a:solidFill>
                <a:latin typeface="Arial"/>
                <a:ea typeface="Arial"/>
                <a:cs typeface="Arial"/>
              </a:rPr>
              <a:t>Agile and testing practices support quality</a:t>
            </a:r>
          </a:p>
        </p:txBody>
      </p:sp>
    </p:spTree>
    <p:extLst>
      <p:ext uri="{BB962C8B-B14F-4D97-AF65-F5344CB8AC3E}">
        <p14:creationId xmlns:p14="http://schemas.microsoft.com/office/powerpoint/2010/main" val="14391634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slide-title">
            <a:extLst>
              <a:ext uri="{FF2B5EF4-FFF2-40B4-BE49-F238E27FC236}">
                <a16:creationId xmlns:a16="http://schemas.microsoft.com/office/drawing/2014/main" id="{6A8EAEAF-CAE4-40B2-B6CF-2566B13133A9}"/>
              </a:ext>
            </a:extLst>
          </p:cNvPr>
          <p:cNvSpPr>
            <a:spLocks noGrp="1"/>
          </p:cNvSpPr>
          <p:nvPr/>
        </p:nvSpPr>
        <p:spPr>
          <a:xfrm>
            <a:off x="457200" y="781050"/>
            <a:ext cx="10858500" cy="590550"/>
          </a:xfrm>
          <a:prstGeom prst="rect">
            <a:avLst/>
          </a:prstGeom>
          <a:noFill/>
          <a:ln w="0">
            <a:noFill/>
            <a:prstDash val="solid"/>
          </a:ln>
        </p:spPr>
        <p:txBody>
          <a:bodyPr anchor="t"/>
          <a:lstStyle/>
          <a:p>
            <a:pPr algn="l">
              <a:defRPr sz="3150" b="1">
                <a:solidFill>
                  <a:srgbClr val="111318"/>
                </a:solidFill>
                <a:latin typeface="Arial"/>
                <a:ea typeface="Arial"/>
                <a:cs typeface="Arial"/>
              </a:defRPr>
            </a:pPr>
            <a:r>
              <a:rPr sz="3150" b="1">
                <a:solidFill>
                  <a:srgbClr val="111318"/>
                </a:solidFill>
                <a:latin typeface="Arial"/>
                <a:ea typeface="Arial"/>
                <a:cs typeface="Arial"/>
              </a:rPr>
              <a:t>References</a:t>
            </a:r>
          </a:p>
        </p:txBody>
      </p:sp>
      <p:sp>
        <p:nvSpPr>
          <p:cNvPr id="3" name="title-rule">
            <a:extLst>
              <a:ext uri="{FF2B5EF4-FFF2-40B4-BE49-F238E27FC236}">
                <a16:creationId xmlns:a16="http://schemas.microsoft.com/office/drawing/2014/main" id="{5D26F4C6-F8BA-49ED-B17C-B12FC1EFB8D6}"/>
              </a:ext>
            </a:extLst>
          </p:cNvPr>
          <p:cNvSpPr>
            <a:spLocks noGrp="1"/>
          </p:cNvSpPr>
          <p:nvPr/>
        </p:nvSpPr>
        <p:spPr>
          <a:xfrm>
            <a:off x="457200" y="1466850"/>
            <a:ext cx="11277600" cy="19050"/>
          </a:xfrm>
          <a:prstGeom prst="rect">
            <a:avLst/>
          </a:prstGeom>
          <a:solidFill>
            <a:srgbClr val="C9CED6"/>
          </a:solidFill>
          <a:ln w="0">
            <a:noFill/>
            <a:prstDash val="solid"/>
          </a:ln>
        </p:spPr>
        <p:txBody>
          <a:bodyPr/>
          <a:lstStyle/>
          <a:p>
            <a:endParaRPr lang="en-US"/>
          </a:p>
        </p:txBody>
      </p:sp>
      <p:sp>
        <p:nvSpPr>
          <p:cNvPr id="4" name="slide-number">
            <a:extLst>
              <a:ext uri="{FF2B5EF4-FFF2-40B4-BE49-F238E27FC236}">
                <a16:creationId xmlns:a16="http://schemas.microsoft.com/office/drawing/2014/main" id="{F9542EBE-349A-4275-9B0F-49ABCAD53BB5}"/>
              </a:ext>
            </a:extLst>
          </p:cNvPr>
          <p:cNvSpPr>
            <a:spLocks noGrp="1"/>
          </p:cNvSpPr>
          <p:nvPr/>
        </p:nvSpPr>
        <p:spPr>
          <a:xfrm>
            <a:off x="11106150" y="6362700"/>
            <a:ext cx="628650" cy="209550"/>
          </a:xfrm>
          <a:prstGeom prst="rect">
            <a:avLst/>
          </a:prstGeom>
          <a:noFill/>
          <a:ln w="0">
            <a:noFill/>
            <a:prstDash val="solid"/>
          </a:ln>
        </p:spPr>
        <p:txBody>
          <a:bodyPr anchor="t"/>
          <a:lstStyle/>
          <a:p>
            <a:pPr algn="r">
              <a:defRPr sz="1050" b="0">
                <a:solidFill>
                  <a:srgbClr val="626A75"/>
                </a:solidFill>
                <a:latin typeface="Arial"/>
                <a:ea typeface="Arial"/>
                <a:cs typeface="Arial"/>
              </a:defRPr>
            </a:pPr>
            <a:r>
              <a:rPr sz="1050" b="0">
                <a:solidFill>
                  <a:srgbClr val="626A75"/>
                </a:solidFill>
                <a:latin typeface="Arial"/>
                <a:ea typeface="Arial"/>
                <a:cs typeface="Arial"/>
              </a:rPr>
              <a:t>16</a:t>
            </a:r>
          </a:p>
        </p:txBody>
      </p:sp>
      <p:sp>
        <p:nvSpPr>
          <p:cNvPr id="5" name="text">
            <a:extLst>
              <a:ext uri="{FF2B5EF4-FFF2-40B4-BE49-F238E27FC236}">
                <a16:creationId xmlns:a16="http://schemas.microsoft.com/office/drawing/2014/main" id="{CFEA2170-07B0-4837-A5A8-FAFE1543D715}"/>
              </a:ext>
            </a:extLst>
          </p:cNvPr>
          <p:cNvSpPr>
            <a:spLocks noGrp="1"/>
          </p:cNvSpPr>
          <p:nvPr/>
        </p:nvSpPr>
        <p:spPr>
          <a:xfrm>
            <a:off x="609600" y="1857375"/>
            <a:ext cx="571500" cy="333375"/>
          </a:xfrm>
          <a:prstGeom prst="rect">
            <a:avLst/>
          </a:prstGeom>
          <a:noFill/>
          <a:ln w="0">
            <a:noFill/>
            <a:prstDash val="solid"/>
          </a:ln>
        </p:spPr>
        <p:txBody>
          <a:bodyPr anchor="t"/>
          <a:lstStyle/>
          <a:p>
            <a:pPr algn="l">
              <a:defRPr sz="1275" b="1">
                <a:solidFill>
                  <a:srgbClr val="2583FF"/>
                </a:solidFill>
                <a:latin typeface="Arial"/>
                <a:ea typeface="Arial"/>
                <a:cs typeface="Arial"/>
              </a:defRPr>
            </a:pPr>
            <a:r>
              <a:rPr sz="1275" b="1">
                <a:solidFill>
                  <a:srgbClr val="2583FF"/>
                </a:solidFill>
                <a:latin typeface="Arial"/>
                <a:ea typeface="Arial"/>
                <a:cs typeface="Arial"/>
              </a:rPr>
              <a:t>01</a:t>
            </a:r>
          </a:p>
        </p:txBody>
      </p:sp>
      <p:sp>
        <p:nvSpPr>
          <p:cNvPr id="6" name="reference-1">
            <a:extLst>
              <a:ext uri="{FF2B5EF4-FFF2-40B4-BE49-F238E27FC236}">
                <a16:creationId xmlns:a16="http://schemas.microsoft.com/office/drawing/2014/main" id="{ACA1E859-588E-4ED1-B47F-B9D7C5ED395F}"/>
              </a:ext>
            </a:extLst>
          </p:cNvPr>
          <p:cNvSpPr>
            <a:spLocks noGrp="1"/>
          </p:cNvSpPr>
          <p:nvPr/>
        </p:nvSpPr>
        <p:spPr>
          <a:xfrm>
            <a:off x="1381125" y="1838325"/>
            <a:ext cx="9620250" cy="781050"/>
          </a:xfrm>
          <a:prstGeom prst="rect">
            <a:avLst/>
          </a:prstGeom>
          <a:noFill/>
          <a:ln w="0">
            <a:noFill/>
            <a:prstDash val="solid"/>
          </a:ln>
        </p:spPr>
        <p:txBody>
          <a:bodyPr anchor="t"/>
          <a:lstStyle/>
          <a:p>
            <a:pPr algn="l">
              <a:defRPr sz="1500" b="0">
                <a:solidFill>
                  <a:srgbClr val="111318"/>
                </a:solidFill>
                <a:latin typeface="Arial"/>
                <a:ea typeface="Arial"/>
                <a:cs typeface="Arial"/>
              </a:defRPr>
            </a:pPr>
            <a:r>
              <a:rPr sz="1500" b="0">
                <a:solidFill>
                  <a:srgbClr val="111318"/>
                </a:solidFill>
                <a:latin typeface="Arial"/>
                <a:ea typeface="Arial"/>
                <a:cs typeface="Arial"/>
              </a:rPr>
              <a:t>IBM. (n.d.). What is the Software Development Lifecycle (SDLC)?</a:t>
            </a:r>
          </a:p>
          <a:p>
            <a:pPr algn="l">
              <a:defRPr sz="1500" b="0">
                <a:solidFill>
                  <a:srgbClr val="111318"/>
                </a:solidFill>
                <a:latin typeface="Arial"/>
                <a:ea typeface="Arial"/>
                <a:cs typeface="Arial"/>
              </a:defRPr>
            </a:pPr>
            <a:r>
              <a:rPr sz="1500" b="0">
                <a:solidFill>
                  <a:srgbClr val="111318"/>
                </a:solidFill>
                <a:latin typeface="Arial"/>
                <a:ea typeface="Arial"/>
                <a:cs typeface="Arial"/>
              </a:rPr>
              <a:t>https://www.ibm.com/think/topics/sdlc</a:t>
            </a:r>
          </a:p>
        </p:txBody>
      </p:sp>
      <p:sp>
        <p:nvSpPr>
          <p:cNvPr id="7" name="text">
            <a:extLst>
              <a:ext uri="{FF2B5EF4-FFF2-40B4-BE49-F238E27FC236}">
                <a16:creationId xmlns:a16="http://schemas.microsoft.com/office/drawing/2014/main" id="{CC327894-B32D-42F1-9A66-B3ED234CCC92}"/>
              </a:ext>
            </a:extLst>
          </p:cNvPr>
          <p:cNvSpPr>
            <a:spLocks noGrp="1"/>
          </p:cNvSpPr>
          <p:nvPr/>
        </p:nvSpPr>
        <p:spPr>
          <a:xfrm>
            <a:off x="609600" y="2857500"/>
            <a:ext cx="571500" cy="333375"/>
          </a:xfrm>
          <a:prstGeom prst="rect">
            <a:avLst/>
          </a:prstGeom>
          <a:noFill/>
          <a:ln w="0">
            <a:noFill/>
            <a:prstDash val="solid"/>
          </a:ln>
        </p:spPr>
        <p:txBody>
          <a:bodyPr anchor="t"/>
          <a:lstStyle/>
          <a:p>
            <a:pPr algn="l">
              <a:defRPr sz="1275" b="1">
                <a:solidFill>
                  <a:srgbClr val="2583FF"/>
                </a:solidFill>
                <a:latin typeface="Arial"/>
                <a:ea typeface="Arial"/>
                <a:cs typeface="Arial"/>
              </a:defRPr>
            </a:pPr>
            <a:r>
              <a:rPr sz="1275" b="1">
                <a:solidFill>
                  <a:srgbClr val="2583FF"/>
                </a:solidFill>
                <a:latin typeface="Arial"/>
                <a:ea typeface="Arial"/>
                <a:cs typeface="Arial"/>
              </a:rPr>
              <a:t>02</a:t>
            </a:r>
          </a:p>
        </p:txBody>
      </p:sp>
      <p:sp>
        <p:nvSpPr>
          <p:cNvPr id="8" name="reference-2">
            <a:extLst>
              <a:ext uri="{FF2B5EF4-FFF2-40B4-BE49-F238E27FC236}">
                <a16:creationId xmlns:a16="http://schemas.microsoft.com/office/drawing/2014/main" id="{DE98D942-23C2-497D-B271-65C96169DE5F}"/>
              </a:ext>
            </a:extLst>
          </p:cNvPr>
          <p:cNvSpPr>
            <a:spLocks noGrp="1"/>
          </p:cNvSpPr>
          <p:nvPr/>
        </p:nvSpPr>
        <p:spPr>
          <a:xfrm>
            <a:off x="1381125" y="2838450"/>
            <a:ext cx="9620250" cy="781050"/>
          </a:xfrm>
          <a:prstGeom prst="rect">
            <a:avLst/>
          </a:prstGeom>
          <a:noFill/>
          <a:ln w="0">
            <a:noFill/>
            <a:prstDash val="solid"/>
          </a:ln>
        </p:spPr>
        <p:txBody>
          <a:bodyPr anchor="t"/>
          <a:lstStyle/>
          <a:p>
            <a:pPr algn="l">
              <a:defRPr sz="1500" b="0">
                <a:solidFill>
                  <a:srgbClr val="111318"/>
                </a:solidFill>
                <a:latin typeface="Arial"/>
                <a:ea typeface="Arial"/>
                <a:cs typeface="Arial"/>
              </a:defRPr>
            </a:pPr>
            <a:r>
              <a:rPr sz="1500" b="0">
                <a:solidFill>
                  <a:srgbClr val="111318"/>
                </a:solidFill>
                <a:latin typeface="Arial"/>
                <a:ea typeface="Arial"/>
                <a:cs typeface="Arial"/>
              </a:rPr>
              <a:t>Harness. (2023, December 13). The Seven Phases of the Software Development Life Cycle.</a:t>
            </a:r>
          </a:p>
          <a:p>
            <a:pPr algn="l">
              <a:defRPr sz="1500" b="0">
                <a:solidFill>
                  <a:srgbClr val="111318"/>
                </a:solidFill>
                <a:latin typeface="Arial"/>
                <a:ea typeface="Arial"/>
                <a:cs typeface="Arial"/>
              </a:defRPr>
            </a:pPr>
            <a:r>
              <a:rPr sz="1500" b="0">
                <a:solidFill>
                  <a:srgbClr val="111318"/>
                </a:solidFill>
                <a:latin typeface="Arial"/>
                <a:ea typeface="Arial"/>
                <a:cs typeface="Arial"/>
              </a:rPr>
              <a:t>https://www.harness.io/blog/software-development-life-cycle-phases</a:t>
            </a:r>
          </a:p>
        </p:txBody>
      </p:sp>
      <p:sp>
        <p:nvSpPr>
          <p:cNvPr id="9" name="text">
            <a:extLst>
              <a:ext uri="{FF2B5EF4-FFF2-40B4-BE49-F238E27FC236}">
                <a16:creationId xmlns:a16="http://schemas.microsoft.com/office/drawing/2014/main" id="{B442B297-E762-4A32-BF2F-878703994894}"/>
              </a:ext>
            </a:extLst>
          </p:cNvPr>
          <p:cNvSpPr>
            <a:spLocks noGrp="1"/>
          </p:cNvSpPr>
          <p:nvPr/>
        </p:nvSpPr>
        <p:spPr>
          <a:xfrm>
            <a:off x="609600" y="3857625"/>
            <a:ext cx="571500" cy="333375"/>
          </a:xfrm>
          <a:prstGeom prst="rect">
            <a:avLst/>
          </a:prstGeom>
          <a:noFill/>
          <a:ln w="0">
            <a:noFill/>
            <a:prstDash val="solid"/>
          </a:ln>
        </p:spPr>
        <p:txBody>
          <a:bodyPr anchor="t"/>
          <a:lstStyle/>
          <a:p>
            <a:pPr algn="l">
              <a:defRPr sz="1275" b="1">
                <a:solidFill>
                  <a:srgbClr val="2583FF"/>
                </a:solidFill>
                <a:latin typeface="Arial"/>
                <a:ea typeface="Arial"/>
                <a:cs typeface="Arial"/>
              </a:defRPr>
            </a:pPr>
            <a:r>
              <a:rPr sz="1275" b="1">
                <a:solidFill>
                  <a:srgbClr val="2583FF"/>
                </a:solidFill>
                <a:latin typeface="Arial"/>
                <a:ea typeface="Arial"/>
                <a:cs typeface="Arial"/>
              </a:rPr>
              <a:t>03</a:t>
            </a:r>
          </a:p>
        </p:txBody>
      </p:sp>
      <p:sp>
        <p:nvSpPr>
          <p:cNvPr id="10" name="reference-3">
            <a:extLst>
              <a:ext uri="{FF2B5EF4-FFF2-40B4-BE49-F238E27FC236}">
                <a16:creationId xmlns:a16="http://schemas.microsoft.com/office/drawing/2014/main" id="{07261176-9BA4-4F8C-B508-3A5E864182DE}"/>
              </a:ext>
            </a:extLst>
          </p:cNvPr>
          <p:cNvSpPr>
            <a:spLocks noGrp="1"/>
          </p:cNvSpPr>
          <p:nvPr/>
        </p:nvSpPr>
        <p:spPr>
          <a:xfrm>
            <a:off x="1381125" y="3838575"/>
            <a:ext cx="9620250" cy="781050"/>
          </a:xfrm>
          <a:prstGeom prst="rect">
            <a:avLst/>
          </a:prstGeom>
          <a:noFill/>
          <a:ln w="0">
            <a:noFill/>
            <a:prstDash val="solid"/>
          </a:ln>
        </p:spPr>
        <p:txBody>
          <a:bodyPr anchor="t"/>
          <a:lstStyle/>
          <a:p>
            <a:pPr algn="l">
              <a:defRPr sz="1500" b="0">
                <a:solidFill>
                  <a:srgbClr val="111318"/>
                </a:solidFill>
                <a:latin typeface="Arial"/>
                <a:ea typeface="Arial"/>
                <a:cs typeface="Arial"/>
              </a:defRPr>
            </a:pPr>
            <a:r>
              <a:rPr sz="1500" b="0">
                <a:solidFill>
                  <a:srgbClr val="111318"/>
                </a:solidFill>
                <a:latin typeface="Arial"/>
                <a:ea typeface="Arial"/>
                <a:cs typeface="Arial"/>
              </a:rPr>
              <a:t>Pressman, R. S., &amp; Maxim, B. R. (2020). Software Engineering: A Practitioner’s Approach (9th ed.). McGraw-Hill.</a:t>
            </a:r>
          </a:p>
        </p:txBody>
      </p:sp>
      <p:sp>
        <p:nvSpPr>
          <p:cNvPr id="11" name="text">
            <a:extLst>
              <a:ext uri="{FF2B5EF4-FFF2-40B4-BE49-F238E27FC236}">
                <a16:creationId xmlns:a16="http://schemas.microsoft.com/office/drawing/2014/main" id="{728D665E-EFF0-4F92-860E-2C22B1302A70}"/>
              </a:ext>
            </a:extLst>
          </p:cNvPr>
          <p:cNvSpPr>
            <a:spLocks noGrp="1"/>
          </p:cNvSpPr>
          <p:nvPr/>
        </p:nvSpPr>
        <p:spPr>
          <a:xfrm>
            <a:off x="609600" y="4857750"/>
            <a:ext cx="571500" cy="333375"/>
          </a:xfrm>
          <a:prstGeom prst="rect">
            <a:avLst/>
          </a:prstGeom>
          <a:noFill/>
          <a:ln w="0">
            <a:noFill/>
            <a:prstDash val="solid"/>
          </a:ln>
        </p:spPr>
        <p:txBody>
          <a:bodyPr anchor="t"/>
          <a:lstStyle/>
          <a:p>
            <a:pPr algn="l">
              <a:defRPr sz="1275" b="1">
                <a:solidFill>
                  <a:srgbClr val="2583FF"/>
                </a:solidFill>
                <a:latin typeface="Arial"/>
                <a:ea typeface="Arial"/>
                <a:cs typeface="Arial"/>
              </a:defRPr>
            </a:pPr>
            <a:r>
              <a:rPr sz="1275" b="1">
                <a:solidFill>
                  <a:srgbClr val="2583FF"/>
                </a:solidFill>
                <a:latin typeface="Arial"/>
                <a:ea typeface="Arial"/>
                <a:cs typeface="Arial"/>
              </a:rPr>
              <a:t>04</a:t>
            </a:r>
          </a:p>
        </p:txBody>
      </p:sp>
      <p:sp>
        <p:nvSpPr>
          <p:cNvPr id="12" name="reference-4">
            <a:extLst>
              <a:ext uri="{FF2B5EF4-FFF2-40B4-BE49-F238E27FC236}">
                <a16:creationId xmlns:a16="http://schemas.microsoft.com/office/drawing/2014/main" id="{12DBFB7F-223E-47B2-905C-87D18623D3FF}"/>
              </a:ext>
            </a:extLst>
          </p:cNvPr>
          <p:cNvSpPr>
            <a:spLocks noGrp="1"/>
          </p:cNvSpPr>
          <p:nvPr/>
        </p:nvSpPr>
        <p:spPr>
          <a:xfrm>
            <a:off x="1381125" y="4838700"/>
            <a:ext cx="9620250" cy="781050"/>
          </a:xfrm>
          <a:prstGeom prst="rect">
            <a:avLst/>
          </a:prstGeom>
          <a:noFill/>
          <a:ln w="0">
            <a:noFill/>
            <a:prstDash val="solid"/>
          </a:ln>
        </p:spPr>
        <p:txBody>
          <a:bodyPr anchor="t"/>
          <a:lstStyle/>
          <a:p>
            <a:pPr algn="l">
              <a:defRPr sz="1500" b="0">
                <a:solidFill>
                  <a:srgbClr val="111318"/>
                </a:solidFill>
                <a:latin typeface="Arial"/>
                <a:ea typeface="Arial"/>
                <a:cs typeface="Arial"/>
              </a:defRPr>
            </a:pPr>
            <a:r>
              <a:rPr sz="1500" b="0">
                <a:solidFill>
                  <a:srgbClr val="111318"/>
                </a:solidFill>
                <a:latin typeface="Arial"/>
                <a:ea typeface="Arial"/>
                <a:cs typeface="Arial"/>
              </a:rPr>
              <a:t>Sommerville, I. (2016). Software Engineering (10th ed.). Pearson.</a:t>
            </a:r>
          </a:p>
        </p:txBody>
      </p:sp>
    </p:spTree>
    <p:extLst>
      <p:ext uri="{BB962C8B-B14F-4D97-AF65-F5344CB8AC3E}">
        <p14:creationId xmlns:p14="http://schemas.microsoft.com/office/powerpoint/2010/main" val="134644173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36</TotalTime>
  <Words>1765</Words>
  <Application>Microsoft Office PowerPoint</Application>
  <DocSecurity>0</DocSecurity>
  <PresentationFormat>Widescreen</PresentationFormat>
  <Paragraphs>179</Paragraphs>
  <Slides>16</Slides>
  <Notes>16</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16</vt:i4>
      </vt:variant>
    </vt:vector>
  </HeadingPairs>
  <TitlesOfParts>
    <vt:vector size="19"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r coon</cp:lastModifiedBy>
  <cp:revision>4</cp:revision>
  <dcterms:created xsi:type="dcterms:W3CDTF">2026-08-06T00:39:32Z</dcterms:created>
  <dcterms:modified xsi:type="dcterms:W3CDTF">2026-08-07T01:24:31Z</dcterms:modified>
</cp:coreProperties>
</file>